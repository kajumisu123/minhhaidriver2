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4630400" cy="8229600"/>
  <p:notesSz cx="8229600" cy="14630400"/>
  <p:embeddedFontLst>
    <p:embeddedFont>
      <p:font typeface="Libre Baskerville" panose="02000000000000000000" pitchFamily="2" charset="0"/>
      <p:regular r:id="rId21"/>
    </p:embeddedFont>
    <p:embeddedFont>
      <p:font typeface="Open Sans" panose="020B0606030504020204" pitchFamily="34" charset="0"/>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4BE0"/>
    <a:srgbClr val="FBF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52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7152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AF7CB-EB46-7E2C-431E-1D29EF7FE6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B366C3-E49E-1F5E-90BD-0F2D253D26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78ADDD-71CC-7BB5-CFB3-6DCDC31C7C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B67155-04BD-0DCD-9459-FE40DD9C25B1}"/>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944658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svg"/><Relationship Id="rId3" Type="http://schemas.openxmlformats.org/officeDocument/2006/relationships/image" Target="../media/image15.png"/><Relationship Id="rId7" Type="http://schemas.openxmlformats.org/officeDocument/2006/relationships/image" Target="../media/image19.svg"/><Relationship Id="rId12" Type="http://schemas.openxmlformats.org/officeDocument/2006/relationships/image" Target="../media/image24.svg"/><Relationship Id="rId17" Type="http://schemas.openxmlformats.org/officeDocument/2006/relationships/image" Target="../media/image29.png"/><Relationship Id="rId2" Type="http://schemas.openxmlformats.org/officeDocument/2006/relationships/notesSlide" Target="../notesSlides/notesSlide9.xml"/><Relationship Id="rId16" Type="http://schemas.openxmlformats.org/officeDocument/2006/relationships/image" Target="../media/image28.png"/><Relationship Id="rId1" Type="http://schemas.openxmlformats.org/officeDocument/2006/relationships/slideLayout" Target="../slideLayouts/slideLayout10.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svg"/><Relationship Id="rId15" Type="http://schemas.openxmlformats.org/officeDocument/2006/relationships/image" Target="../media/image27.sv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svg"/><Relationship Id="rId1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3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slides/_rels/slide15.xml.rels><?xml version="1.0" encoding="UTF-8" standalone="yes"?>
<Relationships xmlns="http://schemas.openxmlformats.org/package/2006/relationships"><Relationship Id="rId8" Type="http://schemas.openxmlformats.org/officeDocument/2006/relationships/image" Target="../media/image50.svg"/><Relationship Id="rId13" Type="http://schemas.openxmlformats.org/officeDocument/2006/relationships/image" Target="../media/image55.png"/><Relationship Id="rId3" Type="http://schemas.openxmlformats.org/officeDocument/2006/relationships/image" Target="../media/image45.png"/><Relationship Id="rId7" Type="http://schemas.openxmlformats.org/officeDocument/2006/relationships/image" Target="../media/image49.png"/><Relationship Id="rId12"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48.png"/><Relationship Id="rId11" Type="http://schemas.openxmlformats.org/officeDocument/2006/relationships/image" Target="../media/image53.svg"/><Relationship Id="rId5" Type="http://schemas.openxmlformats.org/officeDocument/2006/relationships/image" Target="../media/image47.sv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 Id="rId14" Type="http://schemas.openxmlformats.org/officeDocument/2006/relationships/image" Target="../media/image56.svg"/></Relationships>
</file>

<file path=ppt/slides/_rels/slide1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61.svg"/><Relationship Id="rId11" Type="http://schemas.openxmlformats.org/officeDocument/2006/relationships/image" Target="../media/image14.png"/><Relationship Id="rId5" Type="http://schemas.openxmlformats.org/officeDocument/2006/relationships/image" Target="../media/image60.png"/><Relationship Id="rId10" Type="http://schemas.openxmlformats.org/officeDocument/2006/relationships/image" Target="../media/image65.svg"/><Relationship Id="rId4" Type="http://schemas.openxmlformats.org/officeDocument/2006/relationships/image" Target="../media/image59.svg"/><Relationship Id="rId9" Type="http://schemas.openxmlformats.org/officeDocument/2006/relationships/image" Target="../media/image64.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345650"/>
            <a:ext cx="7556421" cy="2835116"/>
          </a:xfrm>
          <a:prstGeom prst="rect">
            <a:avLst/>
          </a:prstGeom>
          <a:noFill/>
          <a:ln/>
        </p:spPr>
        <p:txBody>
          <a:bodyPr wrap="square" lIns="0" tIns="0" rIns="0" bIns="0" rtlCol="0" anchor="t"/>
          <a:lstStyle/>
          <a:p>
            <a:pPr marL="0" indent="0" algn="l">
              <a:lnSpc>
                <a:spcPts val="5550"/>
              </a:lnSpc>
              <a:buNone/>
            </a:pPr>
            <a:r>
              <a:rPr lang="en-US" sz="4450" dirty="0">
                <a:solidFill>
                  <a:srgbClr val="403CCF"/>
                </a:solidFill>
                <a:latin typeface="Arial" panose="020B0604020202020204" pitchFamily="34" charset="0"/>
                <a:ea typeface="Libre Baskerville" pitchFamily="34" charset="-122"/>
                <a:cs typeface="Arial" panose="020B0604020202020204" pitchFamily="34" charset="0"/>
              </a:rPr>
              <a:t>TRÁCH NHIỆM HỌC SINH: VỮNG VÀNG GIỮA DÒNG CHẢY THỜI ĐẠI MỚI</a:t>
            </a:r>
            <a:endParaRPr lang="en-US" sz="4450" dirty="0">
              <a:latin typeface="Arial" panose="020B0604020202020204" pitchFamily="34" charset="0"/>
              <a:cs typeface="Arial" panose="020B0604020202020204" pitchFamily="34" charset="0"/>
            </a:endParaRPr>
          </a:p>
        </p:txBody>
      </p:sp>
      <p:sp>
        <p:nvSpPr>
          <p:cNvPr id="4" name="Text 1"/>
          <p:cNvSpPr/>
          <p:nvPr/>
        </p:nvSpPr>
        <p:spPr>
          <a:xfrm>
            <a:off x="793790" y="5520928"/>
            <a:ext cx="7556421" cy="362903"/>
          </a:xfrm>
          <a:prstGeom prst="rect">
            <a:avLst/>
          </a:prstGeom>
          <a:noFill/>
          <a:ln/>
        </p:spPr>
        <p:txBody>
          <a:bodyPr wrap="none" lIns="0" tIns="0" rIns="0" bIns="0" rtlCol="0" anchor="t"/>
          <a:lstStyle/>
          <a:p>
            <a:pPr marL="0" indent="0" algn="l">
              <a:lnSpc>
                <a:spcPts val="2850"/>
              </a:lnSpc>
              <a:buNone/>
            </a:pPr>
            <a:r>
              <a:rPr lang="en-US" sz="1750">
                <a:solidFill>
                  <a:srgbClr val="49495A"/>
                </a:solidFill>
                <a:latin typeface="Arial" panose="020B0604020202020204" pitchFamily="34" charset="0"/>
                <a:ea typeface="Open Sans" pitchFamily="34" charset="-122"/>
                <a:cs typeface="Arial" panose="020B0604020202020204" pitchFamily="34" charset="0"/>
              </a:rPr>
              <a:t>Thực hiện bởi Cô VŨ THỊ HỒNG HÀ</a:t>
            </a:r>
            <a:endParaRPr lang="en-US" sz="1750"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698671"/>
            <a:ext cx="7147084"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Arial" panose="020B0604020202020204" pitchFamily="34" charset="0"/>
                <a:ea typeface="Libre Baskerville" pitchFamily="34" charset="-122"/>
                <a:cs typeface="Arial" panose="020B0604020202020204" pitchFamily="34" charset="0"/>
              </a:rPr>
              <a:t>Mục Đích </a:t>
            </a:r>
            <a:r>
              <a:rPr lang="en-US" sz="4450">
                <a:solidFill>
                  <a:srgbClr val="403CCF"/>
                </a:solidFill>
                <a:latin typeface="Arial" panose="020B0604020202020204" pitchFamily="34" charset="0"/>
                <a:ea typeface="Libre Baskerville" pitchFamily="34" charset="-122"/>
                <a:cs typeface="Arial" panose="020B0604020202020204" pitchFamily="34" charset="0"/>
              </a:rPr>
              <a:t>Buổi Trò Chuyện</a:t>
            </a:r>
            <a:endParaRPr lang="en-US" sz="4450" dirty="0">
              <a:latin typeface="Arial" panose="020B0604020202020204" pitchFamily="34" charset="0"/>
              <a:cs typeface="Arial" panose="020B0604020202020204" pitchFamily="34" charset="0"/>
            </a:endParaRPr>
          </a:p>
        </p:txBody>
      </p:sp>
      <p:sp>
        <p:nvSpPr>
          <p:cNvPr id="3" name="Shape 1"/>
          <p:cNvSpPr/>
          <p:nvPr/>
        </p:nvSpPr>
        <p:spPr>
          <a:xfrm>
            <a:off x="793790" y="3861078"/>
            <a:ext cx="6407944" cy="1669852"/>
          </a:xfrm>
          <a:prstGeom prst="roundRect">
            <a:avLst>
              <a:gd name="adj" fmla="val 2038"/>
            </a:avLst>
          </a:prstGeom>
          <a:solidFill>
            <a:srgbClr val="EAE8F3"/>
          </a:solidFill>
          <a:ln/>
        </p:spPr>
      </p:sp>
      <p:sp>
        <p:nvSpPr>
          <p:cNvPr id="4" name="Text 2"/>
          <p:cNvSpPr/>
          <p:nvPr/>
        </p:nvSpPr>
        <p:spPr>
          <a:xfrm>
            <a:off x="1020604" y="4087892"/>
            <a:ext cx="2918579"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Arial" panose="020B0604020202020204" pitchFamily="34" charset="0"/>
                <a:ea typeface="Libre Baskerville" pitchFamily="34" charset="-122"/>
                <a:cs typeface="Arial" panose="020B0604020202020204" pitchFamily="34" charset="0"/>
              </a:rPr>
              <a:t>Định Hướng Vai Trò</a:t>
            </a:r>
            <a:endParaRPr lang="en-US" sz="2200" dirty="0">
              <a:latin typeface="Arial" panose="020B0604020202020204" pitchFamily="34" charset="0"/>
              <a:cs typeface="Arial" panose="020B0604020202020204" pitchFamily="34" charset="0"/>
            </a:endParaRPr>
          </a:p>
        </p:txBody>
      </p:sp>
      <p:sp>
        <p:nvSpPr>
          <p:cNvPr id="5" name="Text 3"/>
          <p:cNvSpPr/>
          <p:nvPr/>
        </p:nvSpPr>
        <p:spPr>
          <a:xfrm>
            <a:off x="1020604" y="4578310"/>
            <a:ext cx="5954316"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Xác định rõ vai trò và trách nhiệm của học sinh trong bối cảnh công nghệ 4.0 đang thay đổi từng ngày</a:t>
            </a:r>
            <a:endParaRPr lang="en-US" sz="1750" dirty="0">
              <a:latin typeface="Arial" panose="020B0604020202020204" pitchFamily="34" charset="0"/>
              <a:cs typeface="Arial" panose="020B0604020202020204" pitchFamily="34" charset="0"/>
            </a:endParaRPr>
          </a:p>
        </p:txBody>
      </p:sp>
      <p:sp>
        <p:nvSpPr>
          <p:cNvPr id="6" name="Shape 4"/>
          <p:cNvSpPr/>
          <p:nvPr/>
        </p:nvSpPr>
        <p:spPr>
          <a:xfrm>
            <a:off x="7428548" y="3861078"/>
            <a:ext cx="6408063" cy="1669852"/>
          </a:xfrm>
          <a:prstGeom prst="roundRect">
            <a:avLst>
              <a:gd name="adj" fmla="val 2038"/>
            </a:avLst>
          </a:prstGeom>
          <a:solidFill>
            <a:srgbClr val="EAE8F3"/>
          </a:solidFill>
          <a:ln/>
        </p:spPr>
      </p:sp>
      <p:sp>
        <p:nvSpPr>
          <p:cNvPr id="7" name="Text 5"/>
          <p:cNvSpPr/>
          <p:nvPr/>
        </p:nvSpPr>
        <p:spPr>
          <a:xfrm>
            <a:off x="7655362" y="408789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Arial" panose="020B0604020202020204" pitchFamily="34" charset="0"/>
                <a:ea typeface="Libre Baskerville" pitchFamily="34" charset="-122"/>
                <a:cs typeface="Arial" panose="020B0604020202020204" pitchFamily="34" charset="0"/>
              </a:rPr>
              <a:t>Kết Nối &amp; Chia Sẻ</a:t>
            </a:r>
            <a:endParaRPr lang="en-US" sz="2200" dirty="0">
              <a:latin typeface="Arial" panose="020B0604020202020204" pitchFamily="34" charset="0"/>
              <a:cs typeface="Arial" panose="020B0604020202020204" pitchFamily="34" charset="0"/>
            </a:endParaRPr>
          </a:p>
        </p:txBody>
      </p:sp>
      <p:sp>
        <p:nvSpPr>
          <p:cNvPr id="8" name="Text 6"/>
          <p:cNvSpPr/>
          <p:nvPr/>
        </p:nvSpPr>
        <p:spPr>
          <a:xfrm>
            <a:off x="7655362" y="4578310"/>
            <a:ext cx="5954435"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Tạo không gian để các bạn học sinh trao đổi, chia sẻ góc nhìn và kinh nghiệm thực tế với nhau</a:t>
            </a:r>
            <a:endParaRPr lang="en-US" sz="175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80464C3-5C39-B633-DC23-812FF257D04C}"/>
              </a:ext>
            </a:extLst>
          </p:cNvPr>
          <p:cNvSpPr/>
          <p:nvPr/>
        </p:nvSpPr>
        <p:spPr>
          <a:xfrm>
            <a:off x="12649163" y="7798085"/>
            <a:ext cx="1921267" cy="308225"/>
          </a:xfrm>
          <a:prstGeom prst="rect">
            <a:avLst/>
          </a:prstGeom>
          <a:solidFill>
            <a:srgbClr val="FB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920353"/>
            <a:ext cx="7060168"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Bức Tranh Thời Đại Mới</a:t>
            </a:r>
            <a:endParaRPr lang="en-US" sz="4450" dirty="0"/>
          </a:p>
        </p:txBody>
      </p:sp>
      <p:sp>
        <p:nvSpPr>
          <p:cNvPr id="4" name="Text 1"/>
          <p:cNvSpPr/>
          <p:nvPr/>
        </p:nvSpPr>
        <p:spPr>
          <a:xfrm>
            <a:off x="793790" y="2173367"/>
            <a:ext cx="3501509" cy="1814513"/>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Thế giới đang thay đổi với tốc độ chưa từng có. Trí tuệ nhân tạo, Internet vạn vật, và toàn cầu hóa đang định hình lại mọi khía cạnh của cuộc sống.</a:t>
            </a:r>
            <a:endParaRPr lang="en-US" sz="1750" dirty="0"/>
          </a:p>
        </p:txBody>
      </p:sp>
      <p:sp>
        <p:nvSpPr>
          <p:cNvPr id="5" name="Text 2"/>
          <p:cNvSpPr/>
          <p:nvPr/>
        </p:nvSpPr>
        <p:spPr>
          <a:xfrm>
            <a:off x="793790" y="4191953"/>
            <a:ext cx="3501509" cy="1088708"/>
          </a:xfrm>
          <a:prstGeom prst="rect">
            <a:avLst/>
          </a:prstGeom>
          <a:noFill/>
          <a:ln/>
        </p:spPr>
        <p:txBody>
          <a:bodyPr wrap="square" lIns="0" tIns="0" rIns="0" bIns="0" rtlCol="0" anchor="t"/>
          <a:lstStyle/>
          <a:p>
            <a:pPr marL="0" indent="0" algn="l">
              <a:lnSpc>
                <a:spcPts val="2850"/>
              </a:lnSpc>
              <a:buNone/>
            </a:pPr>
            <a:r>
              <a:rPr lang="en-US" sz="1750" b="1" dirty="0">
                <a:solidFill>
                  <a:srgbClr val="49495A"/>
                </a:solidFill>
                <a:latin typeface="Open Sans" pitchFamily="34" charset="0"/>
                <a:ea typeface="Open Sans" pitchFamily="34" charset="-122"/>
                <a:cs typeface="Open Sans" pitchFamily="34" charset="-120"/>
              </a:rPr>
              <a:t>Câu hỏi đặt ra:</a:t>
            </a:r>
            <a:r>
              <a:rPr lang="en-US" sz="1750" dirty="0">
                <a:solidFill>
                  <a:srgbClr val="49495A"/>
                </a:solidFill>
                <a:latin typeface="Open Sans" pitchFamily="34" charset="0"/>
                <a:ea typeface="Open Sans" pitchFamily="34" charset="-122"/>
                <a:cs typeface="Open Sans" pitchFamily="34" charset="-120"/>
              </a:rPr>
              <a:t> Liệu chúng ta có đang đứng yên giữa dòng chảy mạnh mẽ này?</a:t>
            </a:r>
            <a:endParaRPr lang="en-US" sz="1750" dirty="0"/>
          </a:p>
        </p:txBody>
      </p:sp>
      <p:sp>
        <p:nvSpPr>
          <p:cNvPr id="6" name="Shape 3"/>
          <p:cNvSpPr/>
          <p:nvPr/>
        </p:nvSpPr>
        <p:spPr>
          <a:xfrm>
            <a:off x="4856321" y="2224445"/>
            <a:ext cx="3501509" cy="1458635"/>
          </a:xfrm>
          <a:prstGeom prst="roundRect">
            <a:avLst>
              <a:gd name="adj" fmla="val 10030"/>
            </a:avLst>
          </a:prstGeom>
          <a:solidFill>
            <a:srgbClr val="FBFAFF"/>
          </a:solidFill>
          <a:ln w="30480">
            <a:solidFill>
              <a:srgbClr val="D0CED9"/>
            </a:solidFill>
            <a:prstDash val="solid"/>
          </a:ln>
        </p:spPr>
      </p:sp>
      <p:pic>
        <p:nvPicPr>
          <p:cNvPr id="7" name="Image 1" descr="preencoded.png"/>
          <p:cNvPicPr>
            <a:picLocks noChangeAspect="1"/>
          </p:cNvPicPr>
          <p:nvPr/>
        </p:nvPicPr>
        <p:blipFill>
          <a:blip r:embed="rId4"/>
          <a:stretch>
            <a:fillRect/>
          </a:stretch>
        </p:blipFill>
        <p:spPr>
          <a:xfrm>
            <a:off x="4825841" y="2224445"/>
            <a:ext cx="121920" cy="1458635"/>
          </a:xfrm>
          <a:prstGeom prst="rect">
            <a:avLst/>
          </a:prstGeom>
        </p:spPr>
      </p:pic>
      <p:sp>
        <p:nvSpPr>
          <p:cNvPr id="8" name="Text 4"/>
          <p:cNvSpPr/>
          <p:nvPr/>
        </p:nvSpPr>
        <p:spPr>
          <a:xfrm>
            <a:off x="5205055" y="248173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AI &amp; Tự Động Hóa</a:t>
            </a:r>
            <a:endParaRPr lang="en-US" sz="2200" dirty="0"/>
          </a:p>
        </p:txBody>
      </p:sp>
      <p:sp>
        <p:nvSpPr>
          <p:cNvPr id="9" name="Text 5"/>
          <p:cNvSpPr/>
          <p:nvPr/>
        </p:nvSpPr>
        <p:spPr>
          <a:xfrm>
            <a:off x="5205055" y="3062883"/>
            <a:ext cx="2895481" cy="362903"/>
          </a:xfrm>
          <a:prstGeom prst="rect">
            <a:avLst/>
          </a:prstGeom>
          <a:noFill/>
          <a:ln/>
        </p:spPr>
        <p:txBody>
          <a:bodyPr wrap="non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Thay đổi cách làm việc</a:t>
            </a:r>
            <a:endParaRPr lang="en-US" sz="1750" dirty="0"/>
          </a:p>
        </p:txBody>
      </p:sp>
      <p:sp>
        <p:nvSpPr>
          <p:cNvPr id="10" name="Shape 6"/>
          <p:cNvSpPr/>
          <p:nvPr/>
        </p:nvSpPr>
        <p:spPr>
          <a:xfrm>
            <a:off x="4856321" y="3909893"/>
            <a:ext cx="3501509" cy="1458635"/>
          </a:xfrm>
          <a:prstGeom prst="roundRect">
            <a:avLst>
              <a:gd name="adj" fmla="val 10030"/>
            </a:avLst>
          </a:prstGeom>
          <a:solidFill>
            <a:srgbClr val="FBFAFF"/>
          </a:solidFill>
          <a:ln w="30480">
            <a:solidFill>
              <a:srgbClr val="D0CED9"/>
            </a:solidFill>
            <a:prstDash val="solid"/>
          </a:ln>
        </p:spPr>
      </p:sp>
      <p:pic>
        <p:nvPicPr>
          <p:cNvPr id="11" name="Image 2" descr="preencoded.png"/>
          <p:cNvPicPr>
            <a:picLocks noChangeAspect="1"/>
          </p:cNvPicPr>
          <p:nvPr/>
        </p:nvPicPr>
        <p:blipFill>
          <a:blip r:embed="rId4"/>
          <a:stretch>
            <a:fillRect/>
          </a:stretch>
        </p:blipFill>
        <p:spPr>
          <a:xfrm>
            <a:off x="4825841" y="3909893"/>
            <a:ext cx="121920" cy="1458635"/>
          </a:xfrm>
          <a:prstGeom prst="rect">
            <a:avLst/>
          </a:prstGeom>
        </p:spPr>
      </p:pic>
      <p:sp>
        <p:nvSpPr>
          <p:cNvPr id="12" name="Text 7"/>
          <p:cNvSpPr/>
          <p:nvPr/>
        </p:nvSpPr>
        <p:spPr>
          <a:xfrm>
            <a:off x="5205055" y="416718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Kết Nối Toàn Cầu</a:t>
            </a:r>
            <a:endParaRPr lang="en-US" sz="2200" dirty="0"/>
          </a:p>
        </p:txBody>
      </p:sp>
      <p:sp>
        <p:nvSpPr>
          <p:cNvPr id="13" name="Text 8"/>
          <p:cNvSpPr/>
          <p:nvPr/>
        </p:nvSpPr>
        <p:spPr>
          <a:xfrm>
            <a:off x="5205055" y="4748332"/>
            <a:ext cx="2895481" cy="362903"/>
          </a:xfrm>
          <a:prstGeom prst="rect">
            <a:avLst/>
          </a:prstGeom>
          <a:noFill/>
          <a:ln/>
        </p:spPr>
        <p:txBody>
          <a:bodyPr wrap="non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Mở ra cơ hội vô tận</a:t>
            </a:r>
            <a:endParaRPr lang="en-US" sz="1750" dirty="0"/>
          </a:p>
        </p:txBody>
      </p:sp>
      <p:sp>
        <p:nvSpPr>
          <p:cNvPr id="14" name="Shape 9"/>
          <p:cNvSpPr/>
          <p:nvPr/>
        </p:nvSpPr>
        <p:spPr>
          <a:xfrm>
            <a:off x="4856321" y="5595342"/>
            <a:ext cx="3501509" cy="1458635"/>
          </a:xfrm>
          <a:prstGeom prst="roundRect">
            <a:avLst>
              <a:gd name="adj" fmla="val 10030"/>
            </a:avLst>
          </a:prstGeom>
          <a:solidFill>
            <a:srgbClr val="FBFAFF"/>
          </a:solidFill>
          <a:ln w="30480">
            <a:solidFill>
              <a:srgbClr val="D0CED9"/>
            </a:solidFill>
            <a:prstDash val="solid"/>
          </a:ln>
        </p:spPr>
      </p:sp>
      <p:pic>
        <p:nvPicPr>
          <p:cNvPr id="15" name="Image 3" descr="preencoded.png"/>
          <p:cNvPicPr>
            <a:picLocks noChangeAspect="1"/>
          </p:cNvPicPr>
          <p:nvPr/>
        </p:nvPicPr>
        <p:blipFill>
          <a:blip r:embed="rId4"/>
          <a:stretch>
            <a:fillRect/>
          </a:stretch>
        </p:blipFill>
        <p:spPr>
          <a:xfrm>
            <a:off x="4825841" y="5595342"/>
            <a:ext cx="121920" cy="1458635"/>
          </a:xfrm>
          <a:prstGeom prst="rect">
            <a:avLst/>
          </a:prstGeom>
        </p:spPr>
      </p:pic>
      <p:sp>
        <p:nvSpPr>
          <p:cNvPr id="16" name="Text 10"/>
          <p:cNvSpPr/>
          <p:nvPr/>
        </p:nvSpPr>
        <p:spPr>
          <a:xfrm>
            <a:off x="5205055" y="585263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Tri Thức Số</a:t>
            </a:r>
            <a:endParaRPr lang="en-US" sz="2200" dirty="0"/>
          </a:p>
        </p:txBody>
      </p:sp>
      <p:sp>
        <p:nvSpPr>
          <p:cNvPr id="17" name="Text 11"/>
          <p:cNvSpPr/>
          <p:nvPr/>
        </p:nvSpPr>
        <p:spPr>
          <a:xfrm>
            <a:off x="5205055" y="6433780"/>
            <a:ext cx="2895481" cy="362903"/>
          </a:xfrm>
          <a:prstGeom prst="rect">
            <a:avLst/>
          </a:prstGeom>
          <a:noFill/>
          <a:ln/>
        </p:spPr>
        <p:txBody>
          <a:bodyPr wrap="non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Yêu cầu kỹ năng mới</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192655"/>
            <a:ext cx="6805732"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Arial" panose="020B0604020202020204" pitchFamily="34" charset="0"/>
                <a:ea typeface="Libre Baskerville" pitchFamily="34" charset="-122"/>
                <a:cs typeface="Arial" panose="020B0604020202020204" pitchFamily="34" charset="0"/>
              </a:rPr>
              <a:t>Câu Hỏi Dành Cho Bạn</a:t>
            </a:r>
            <a:endParaRPr lang="en-US" sz="4450" dirty="0">
              <a:latin typeface="Arial" panose="020B0604020202020204" pitchFamily="34" charset="0"/>
              <a:cs typeface="Arial" panose="020B0604020202020204" pitchFamily="34" charset="0"/>
            </a:endParaRPr>
          </a:p>
        </p:txBody>
      </p:sp>
      <p:sp>
        <p:nvSpPr>
          <p:cNvPr id="4" name="Text 1"/>
          <p:cNvSpPr/>
          <p:nvPr/>
        </p:nvSpPr>
        <p:spPr>
          <a:xfrm>
            <a:off x="6620351" y="3581757"/>
            <a:ext cx="7216259" cy="1133951"/>
          </a:xfrm>
          <a:prstGeom prst="rect">
            <a:avLst/>
          </a:prstGeom>
          <a:noFill/>
          <a:ln/>
        </p:spPr>
        <p:txBody>
          <a:bodyPr wrap="square" lIns="0" tIns="0" rIns="0" bIns="0" rtlCol="0" anchor="t"/>
          <a:lstStyle/>
          <a:p>
            <a:pPr marL="0" indent="0" algn="l">
              <a:lnSpc>
                <a:spcPts val="4450"/>
              </a:lnSpc>
              <a:buNone/>
            </a:pPr>
            <a:r>
              <a:rPr lang="en-US" sz="3550" dirty="0">
                <a:solidFill>
                  <a:srgbClr val="403CCF"/>
                </a:solidFill>
                <a:latin typeface="Arial" panose="020B0604020202020204" pitchFamily="34" charset="0"/>
                <a:ea typeface="Libre Baskerville" pitchFamily="34" charset="-122"/>
                <a:cs typeface="Arial" panose="020B0604020202020204" pitchFamily="34" charset="0"/>
              </a:rPr>
              <a:t>Trách nhiệm lớn nhất của bạn lúc này là gì?</a:t>
            </a:r>
            <a:endParaRPr lang="en-US" sz="3550" dirty="0">
              <a:latin typeface="Arial" panose="020B0604020202020204" pitchFamily="34" charset="0"/>
              <a:cs typeface="Arial" panose="020B0604020202020204" pitchFamily="34" charset="0"/>
            </a:endParaRPr>
          </a:p>
        </p:txBody>
      </p:sp>
      <p:sp>
        <p:nvSpPr>
          <p:cNvPr id="5" name="Shape 2"/>
          <p:cNvSpPr/>
          <p:nvPr/>
        </p:nvSpPr>
        <p:spPr>
          <a:xfrm>
            <a:off x="6280190" y="3241596"/>
            <a:ext cx="30480" cy="1814274"/>
          </a:xfrm>
          <a:prstGeom prst="rect">
            <a:avLst/>
          </a:prstGeom>
          <a:solidFill>
            <a:srgbClr val="403CCF"/>
          </a:solidFill>
          <a:ln/>
        </p:spPr>
      </p:sp>
      <p:sp>
        <p:nvSpPr>
          <p:cNvPr id="6" name="Text 3"/>
          <p:cNvSpPr/>
          <p:nvPr/>
        </p:nvSpPr>
        <p:spPr>
          <a:xfrm>
            <a:off x="6280190" y="5311021"/>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Hãy suy nghĩ và chia sẻ câu trả lời của mình. Bạn có thể giơ tay hoặc quét mã QR để tham gia thảo luận cùng mọi người.</a:t>
            </a:r>
            <a:endParaRPr lang="en-US" sz="1750" dirty="0">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F4224248-6CE8-B301-D4E2-1A20B85B38D0}"/>
              </a:ext>
            </a:extLst>
          </p:cNvPr>
          <p:cNvSpPr/>
          <p:nvPr/>
        </p:nvSpPr>
        <p:spPr>
          <a:xfrm>
            <a:off x="12649163" y="7798085"/>
            <a:ext cx="1921267" cy="308225"/>
          </a:xfrm>
          <a:prstGeom prst="rect">
            <a:avLst/>
          </a:prstGeom>
          <a:solidFill>
            <a:srgbClr val="FB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018461" y="517327"/>
            <a:ext cx="5432584" cy="570309"/>
          </a:xfrm>
          <a:prstGeom prst="rect">
            <a:avLst/>
          </a:prstGeom>
          <a:noFill/>
          <a:ln/>
        </p:spPr>
        <p:txBody>
          <a:bodyPr wrap="none" lIns="0" tIns="0" rIns="0" bIns="0" rtlCol="0" anchor="t"/>
          <a:lstStyle/>
          <a:p>
            <a:pPr marL="0" indent="0" algn="l">
              <a:lnSpc>
                <a:spcPts val="4450"/>
              </a:lnSpc>
              <a:buNone/>
            </a:pPr>
            <a:r>
              <a:rPr lang="en-US" sz="3550" dirty="0">
                <a:solidFill>
                  <a:srgbClr val="403CCF"/>
                </a:solidFill>
                <a:latin typeface="Arial" panose="020B0604020202020204" pitchFamily="34" charset="0"/>
                <a:ea typeface="Libre Baskerville" pitchFamily="34" charset="-122"/>
                <a:cs typeface="Arial" panose="020B0604020202020204" pitchFamily="34" charset="0"/>
              </a:rPr>
              <a:t>Tự Chủ Trong Học Tập</a:t>
            </a:r>
            <a:endParaRPr lang="en-US" sz="3550" dirty="0">
              <a:latin typeface="Arial" panose="020B0604020202020204" pitchFamily="34" charset="0"/>
              <a:cs typeface="Arial" panose="020B0604020202020204" pitchFamily="34" charset="0"/>
            </a:endParaRPr>
          </a:p>
        </p:txBody>
      </p:sp>
      <p:pic>
        <p:nvPicPr>
          <p:cNvPr id="3" name="Image 0" descr="preencoded.png"/>
          <p:cNvPicPr>
            <a:picLocks noChangeAspect="1"/>
          </p:cNvPicPr>
          <p:nvPr/>
        </p:nvPicPr>
        <p:blipFill>
          <a:blip r:embed="rId3"/>
          <a:stretch>
            <a:fillRect/>
          </a:stretch>
        </p:blipFill>
        <p:spPr>
          <a:xfrm>
            <a:off x="1018461" y="1473041"/>
            <a:ext cx="6074093" cy="6074093"/>
          </a:xfrm>
          <a:prstGeom prst="rect">
            <a:avLst/>
          </a:prstGeom>
        </p:spPr>
      </p:pic>
      <p:pic>
        <p:nvPicPr>
          <p:cNvPr id="4" name="Image 1" descr="preencoded.png"/>
          <p:cNvPicPr>
            <a:picLocks noChangeAspect="1"/>
          </p:cNvPicPr>
          <p:nvPr/>
        </p:nvPicPr>
        <p:blipFill>
          <a:blip r:embed="rId4"/>
          <a:stretch>
            <a:fillRect/>
          </a:stretch>
        </p:blipFill>
        <p:spPr>
          <a:xfrm>
            <a:off x="7545467" y="1473041"/>
            <a:ext cx="912495" cy="1095018"/>
          </a:xfrm>
          <a:prstGeom prst="rect">
            <a:avLst/>
          </a:prstGeom>
        </p:spPr>
      </p:pic>
      <p:sp>
        <p:nvSpPr>
          <p:cNvPr id="5" name="Text 1"/>
          <p:cNvSpPr/>
          <p:nvPr/>
        </p:nvSpPr>
        <p:spPr>
          <a:xfrm>
            <a:off x="8604766" y="1655445"/>
            <a:ext cx="2281357" cy="285155"/>
          </a:xfrm>
          <a:prstGeom prst="rect">
            <a:avLst/>
          </a:prstGeom>
          <a:noFill/>
          <a:ln/>
        </p:spPr>
        <p:txBody>
          <a:bodyPr wrap="none" lIns="0" tIns="0" rIns="0" bIns="0" rtlCol="0" anchor="t"/>
          <a:lstStyle/>
          <a:p>
            <a:pPr marL="0" indent="0" algn="l">
              <a:lnSpc>
                <a:spcPts val="2200"/>
              </a:lnSpc>
              <a:buNone/>
            </a:pPr>
            <a:r>
              <a:rPr lang="en-US" sz="1750" dirty="0">
                <a:solidFill>
                  <a:srgbClr val="49495A"/>
                </a:solidFill>
                <a:latin typeface="Arial" panose="020B0604020202020204" pitchFamily="34" charset="0"/>
                <a:ea typeface="Libre Baskerville" pitchFamily="34" charset="-122"/>
                <a:cs typeface="Arial" panose="020B0604020202020204" pitchFamily="34" charset="0"/>
              </a:rPr>
              <a:t>Học Vì Điểm Số</a:t>
            </a:r>
            <a:endParaRPr lang="en-US" sz="1750" dirty="0">
              <a:latin typeface="Arial" panose="020B0604020202020204" pitchFamily="34" charset="0"/>
              <a:cs typeface="Arial" panose="020B0604020202020204" pitchFamily="34" charset="0"/>
            </a:endParaRPr>
          </a:p>
        </p:txBody>
      </p:sp>
      <p:sp>
        <p:nvSpPr>
          <p:cNvPr id="6" name="Text 2"/>
          <p:cNvSpPr/>
          <p:nvPr/>
        </p:nvSpPr>
        <p:spPr>
          <a:xfrm>
            <a:off x="8604766" y="2087404"/>
            <a:ext cx="5014793" cy="263485"/>
          </a:xfrm>
          <a:prstGeom prst="rect">
            <a:avLst/>
          </a:prstGeom>
          <a:noFill/>
          <a:ln/>
        </p:spPr>
        <p:txBody>
          <a:bodyPr wrap="none" lIns="0" tIns="0" rIns="0" bIns="0" rtlCol="0" anchor="t"/>
          <a:lstStyle/>
          <a:p>
            <a:pPr marL="0" indent="0" algn="l">
              <a:lnSpc>
                <a:spcPts val="2050"/>
              </a:lnSpc>
              <a:buNone/>
            </a:pPr>
            <a:r>
              <a:rPr lang="en-US" sz="1400" dirty="0">
                <a:solidFill>
                  <a:srgbClr val="49495A"/>
                </a:solidFill>
                <a:latin typeface="Arial" panose="020B0604020202020204" pitchFamily="34" charset="0"/>
                <a:ea typeface="Open Sans" pitchFamily="34" charset="-122"/>
                <a:cs typeface="Arial" panose="020B0604020202020204" pitchFamily="34" charset="0"/>
              </a:rPr>
              <a:t>Động lực ngắn hạn, dễ mất đi sau khi thi</a:t>
            </a:r>
            <a:endParaRPr lang="en-US" sz="1400" dirty="0">
              <a:latin typeface="Arial" panose="020B0604020202020204" pitchFamily="34" charset="0"/>
              <a:cs typeface="Arial" panose="020B0604020202020204" pitchFamily="34" charset="0"/>
            </a:endParaRPr>
          </a:p>
        </p:txBody>
      </p:sp>
      <p:pic>
        <p:nvPicPr>
          <p:cNvPr id="7" name="Image 2" descr="preencoded.png"/>
          <p:cNvPicPr>
            <a:picLocks noChangeAspect="1"/>
          </p:cNvPicPr>
          <p:nvPr/>
        </p:nvPicPr>
        <p:blipFill>
          <a:blip r:embed="rId5"/>
          <a:stretch>
            <a:fillRect/>
          </a:stretch>
        </p:blipFill>
        <p:spPr>
          <a:xfrm>
            <a:off x="7545467" y="2568059"/>
            <a:ext cx="912495" cy="1095018"/>
          </a:xfrm>
          <a:prstGeom prst="rect">
            <a:avLst/>
          </a:prstGeom>
        </p:spPr>
      </p:pic>
      <p:sp>
        <p:nvSpPr>
          <p:cNvPr id="8" name="Text 3"/>
          <p:cNvSpPr/>
          <p:nvPr/>
        </p:nvSpPr>
        <p:spPr>
          <a:xfrm>
            <a:off x="8604766" y="2750463"/>
            <a:ext cx="2281357" cy="285155"/>
          </a:xfrm>
          <a:prstGeom prst="rect">
            <a:avLst/>
          </a:prstGeom>
          <a:noFill/>
          <a:ln/>
        </p:spPr>
        <p:txBody>
          <a:bodyPr wrap="none" lIns="0" tIns="0" rIns="0" bIns="0" rtlCol="0" anchor="t"/>
          <a:lstStyle/>
          <a:p>
            <a:pPr marL="0" indent="0" algn="l">
              <a:lnSpc>
                <a:spcPts val="2200"/>
              </a:lnSpc>
              <a:buNone/>
            </a:pPr>
            <a:r>
              <a:rPr lang="en-US" sz="1750" dirty="0">
                <a:solidFill>
                  <a:srgbClr val="49495A"/>
                </a:solidFill>
                <a:latin typeface="Arial" panose="020B0604020202020204" pitchFamily="34" charset="0"/>
                <a:ea typeface="Libre Baskerville" pitchFamily="34" charset="-122"/>
                <a:cs typeface="Arial" panose="020B0604020202020204" pitchFamily="34" charset="0"/>
              </a:rPr>
              <a:t>Học Để Hiểu Biết</a:t>
            </a:r>
            <a:endParaRPr lang="en-US" sz="1750" dirty="0">
              <a:latin typeface="Arial" panose="020B0604020202020204" pitchFamily="34" charset="0"/>
              <a:cs typeface="Arial" panose="020B0604020202020204" pitchFamily="34" charset="0"/>
            </a:endParaRPr>
          </a:p>
        </p:txBody>
      </p:sp>
      <p:sp>
        <p:nvSpPr>
          <p:cNvPr id="9" name="Text 4"/>
          <p:cNvSpPr/>
          <p:nvPr/>
        </p:nvSpPr>
        <p:spPr>
          <a:xfrm>
            <a:off x="8604766" y="3182422"/>
            <a:ext cx="5014793" cy="263485"/>
          </a:xfrm>
          <a:prstGeom prst="rect">
            <a:avLst/>
          </a:prstGeom>
          <a:noFill/>
          <a:ln/>
        </p:spPr>
        <p:txBody>
          <a:bodyPr wrap="none" lIns="0" tIns="0" rIns="0" bIns="0" rtlCol="0" anchor="t"/>
          <a:lstStyle/>
          <a:p>
            <a:pPr marL="0" indent="0" algn="l">
              <a:lnSpc>
                <a:spcPts val="2050"/>
              </a:lnSpc>
              <a:buNone/>
            </a:pPr>
            <a:r>
              <a:rPr lang="en-US" sz="1400" dirty="0">
                <a:solidFill>
                  <a:srgbClr val="49495A"/>
                </a:solidFill>
                <a:latin typeface="Arial" panose="020B0604020202020204" pitchFamily="34" charset="0"/>
                <a:ea typeface="Open Sans" pitchFamily="34" charset="-122"/>
                <a:cs typeface="Arial" panose="020B0604020202020204" pitchFamily="34" charset="0"/>
              </a:rPr>
              <a:t>Xây dựng nền tảng tri thức bền vững cho tương lai</a:t>
            </a:r>
            <a:endParaRPr lang="en-US" sz="1400" dirty="0">
              <a:latin typeface="Arial" panose="020B0604020202020204" pitchFamily="34" charset="0"/>
              <a:cs typeface="Arial" panose="020B0604020202020204" pitchFamily="34" charset="0"/>
            </a:endParaRPr>
          </a:p>
        </p:txBody>
      </p:sp>
      <p:sp>
        <p:nvSpPr>
          <p:cNvPr id="10" name="Shape 5"/>
          <p:cNvSpPr/>
          <p:nvPr/>
        </p:nvSpPr>
        <p:spPr>
          <a:xfrm>
            <a:off x="7545467" y="3828217"/>
            <a:ext cx="6074093" cy="942737"/>
          </a:xfrm>
          <a:prstGeom prst="roundRect">
            <a:avLst>
              <a:gd name="adj" fmla="val 2904"/>
            </a:avLst>
          </a:prstGeom>
          <a:solidFill>
            <a:srgbClr val="C3C2F0"/>
          </a:solidFill>
          <a:ln/>
        </p:spPr>
      </p:sp>
      <p:pic>
        <p:nvPicPr>
          <p:cNvPr id="11" name="Image 3" descr="preencoded.png"/>
          <p:cNvPicPr>
            <a:picLocks noChangeAspect="1"/>
          </p:cNvPicPr>
          <p:nvPr/>
        </p:nvPicPr>
        <p:blipFill>
          <a:blip r:embed="rId6"/>
          <a:stretch>
            <a:fillRect/>
          </a:stretch>
        </p:blipFill>
        <p:spPr>
          <a:xfrm>
            <a:off x="7727871" y="4094678"/>
            <a:ext cx="228124" cy="182404"/>
          </a:xfrm>
          <a:prstGeom prst="rect">
            <a:avLst/>
          </a:prstGeom>
        </p:spPr>
      </p:pic>
      <p:sp>
        <p:nvSpPr>
          <p:cNvPr id="12" name="Text 6"/>
          <p:cNvSpPr/>
          <p:nvPr/>
        </p:nvSpPr>
        <p:spPr>
          <a:xfrm>
            <a:off x="8138398" y="4020622"/>
            <a:ext cx="5298757" cy="526971"/>
          </a:xfrm>
          <a:prstGeom prst="rect">
            <a:avLst/>
          </a:prstGeom>
          <a:noFill/>
          <a:ln/>
        </p:spPr>
        <p:txBody>
          <a:bodyPr wrap="square" lIns="0" tIns="0" rIns="0" bIns="0" rtlCol="0" anchor="t"/>
          <a:lstStyle/>
          <a:p>
            <a:pPr marL="0" indent="0" algn="l">
              <a:lnSpc>
                <a:spcPts val="2050"/>
              </a:lnSpc>
              <a:buNone/>
            </a:pPr>
            <a:r>
              <a:rPr lang="en-US" sz="1400" b="1" dirty="0">
                <a:solidFill>
                  <a:srgbClr val="000000"/>
                </a:solidFill>
                <a:latin typeface="Arial" panose="020B0604020202020204" pitchFamily="34" charset="0"/>
                <a:ea typeface="Open Sans" pitchFamily="34" charset="-122"/>
                <a:cs typeface="Arial" panose="020B0604020202020204" pitchFamily="34" charset="0"/>
              </a:rPr>
              <a:t>Kỹ năng tự học</a:t>
            </a:r>
            <a:r>
              <a:rPr lang="en-US" sz="1400" dirty="0">
                <a:solidFill>
                  <a:srgbClr val="000000"/>
                </a:solidFill>
                <a:latin typeface="Arial" panose="020B0604020202020204" pitchFamily="34" charset="0"/>
                <a:ea typeface="Open Sans" pitchFamily="34" charset="-122"/>
                <a:cs typeface="Arial" panose="020B0604020202020204" pitchFamily="34" charset="0"/>
              </a:rPr>
              <a:t> không chỉ là kỹ năng học tập mà còn là kỹ năng sống còn trong thời đại công nghệ số.</a:t>
            </a:r>
            <a:endParaRPr lang="en-US" sz="1400"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6EAC235D-6DFD-45F9-96EC-275F082584B9}"/>
              </a:ext>
            </a:extLst>
          </p:cNvPr>
          <p:cNvSpPr/>
          <p:nvPr/>
        </p:nvSpPr>
        <p:spPr>
          <a:xfrm>
            <a:off x="12649163" y="7798085"/>
            <a:ext cx="1921267" cy="308225"/>
          </a:xfrm>
          <a:prstGeom prst="rect">
            <a:avLst/>
          </a:prstGeom>
          <a:solidFill>
            <a:srgbClr val="FB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007983"/>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Arial" panose="020B0604020202020204" pitchFamily="34" charset="0"/>
                <a:ea typeface="Libre Baskerville" pitchFamily="34" charset="-122"/>
                <a:cs typeface="Arial" panose="020B0604020202020204" pitchFamily="34" charset="0"/>
              </a:rPr>
              <a:t>Quản Trị Bản Thân</a:t>
            </a:r>
            <a:endParaRPr lang="en-US" sz="4450" dirty="0">
              <a:latin typeface="Arial" panose="020B0604020202020204" pitchFamily="34" charset="0"/>
              <a:cs typeface="Arial" panose="020B0604020202020204" pitchFamily="34" charset="0"/>
            </a:endParaRPr>
          </a:p>
        </p:txBody>
      </p:sp>
      <p:pic>
        <p:nvPicPr>
          <p:cNvPr id="3" name="Image 0" descr="preencoded.png"/>
          <p:cNvPicPr>
            <a:picLocks noChangeAspect="1"/>
          </p:cNvPicPr>
          <p:nvPr/>
        </p:nvPicPr>
        <p:blipFill>
          <a:blip r:embed="rId3"/>
          <a:stretch>
            <a:fillRect/>
          </a:stretch>
        </p:blipFill>
        <p:spPr>
          <a:xfrm>
            <a:off x="793790" y="2170390"/>
            <a:ext cx="2411968" cy="2411968"/>
          </a:xfrm>
          <a:prstGeom prst="rect">
            <a:avLst/>
          </a:prstGeom>
        </p:spPr>
      </p:pic>
      <p:sp>
        <p:nvSpPr>
          <p:cNvPr id="4" name="Text 1"/>
          <p:cNvSpPr/>
          <p:nvPr/>
        </p:nvSpPr>
        <p:spPr>
          <a:xfrm>
            <a:off x="793790" y="486584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Arial" panose="020B0604020202020204" pitchFamily="34" charset="0"/>
                <a:ea typeface="Libre Baskerville" pitchFamily="34" charset="-122"/>
                <a:cs typeface="Arial" panose="020B0604020202020204" pitchFamily="34" charset="0"/>
              </a:rPr>
              <a:t>Sức Khỏe Thể Chất</a:t>
            </a:r>
            <a:endParaRPr lang="en-US" sz="2200" dirty="0">
              <a:latin typeface="Arial" panose="020B0604020202020204" pitchFamily="34" charset="0"/>
              <a:cs typeface="Arial" panose="020B0604020202020204" pitchFamily="34" charset="0"/>
            </a:endParaRPr>
          </a:p>
        </p:txBody>
      </p:sp>
      <p:sp>
        <p:nvSpPr>
          <p:cNvPr id="5" name="Text 2"/>
          <p:cNvSpPr/>
          <p:nvPr/>
        </p:nvSpPr>
        <p:spPr>
          <a:xfrm>
            <a:off x="793790" y="5356265"/>
            <a:ext cx="4158615" cy="1088774"/>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9495A"/>
                </a:solidFill>
                <a:latin typeface="Arial" panose="020B0604020202020204" pitchFamily="34" charset="0"/>
                <a:ea typeface="Open Sans" pitchFamily="34" charset="-122"/>
                <a:cs typeface="Arial" panose="020B0604020202020204" pitchFamily="34" charset="0"/>
              </a:rPr>
              <a:t>Ngủ đủ 7-8 tiếng mỗi đêm</a:t>
            </a:r>
            <a:endParaRPr lang="en-US" sz="1750" dirty="0">
              <a:latin typeface="Arial" panose="020B0604020202020204" pitchFamily="34" charset="0"/>
              <a:cs typeface="Arial" panose="020B0604020202020204" pitchFamily="34" charset="0"/>
            </a:endParaRPr>
          </a:p>
          <a:p>
            <a:pPr marL="342900" indent="-342900" algn="l">
              <a:lnSpc>
                <a:spcPts val="2850"/>
              </a:lnSpc>
              <a:buSzPct val="100000"/>
              <a:buChar char="•"/>
            </a:pPr>
            <a:r>
              <a:rPr lang="en-US" sz="1750" dirty="0">
                <a:solidFill>
                  <a:srgbClr val="49495A"/>
                </a:solidFill>
                <a:latin typeface="Arial" panose="020B0604020202020204" pitchFamily="34" charset="0"/>
                <a:ea typeface="Open Sans" pitchFamily="34" charset="-122"/>
                <a:cs typeface="Arial" panose="020B0604020202020204" pitchFamily="34" charset="0"/>
              </a:rPr>
              <a:t>Vận động thể dục đều đặn</a:t>
            </a:r>
            <a:endParaRPr lang="en-US" sz="1750" dirty="0">
              <a:latin typeface="Arial" panose="020B0604020202020204" pitchFamily="34" charset="0"/>
              <a:cs typeface="Arial" panose="020B0604020202020204" pitchFamily="34" charset="0"/>
            </a:endParaRPr>
          </a:p>
          <a:p>
            <a:pPr marL="342900" indent="-342900" algn="l">
              <a:lnSpc>
                <a:spcPts val="2850"/>
              </a:lnSpc>
              <a:buSzPct val="100000"/>
              <a:buChar char="•"/>
            </a:pPr>
            <a:r>
              <a:rPr lang="en-US" sz="1750" dirty="0">
                <a:solidFill>
                  <a:srgbClr val="49495A"/>
                </a:solidFill>
                <a:latin typeface="Arial" panose="020B0604020202020204" pitchFamily="34" charset="0"/>
                <a:ea typeface="Open Sans" pitchFamily="34" charset="-122"/>
                <a:cs typeface="Arial" panose="020B0604020202020204" pitchFamily="34" charset="0"/>
              </a:rPr>
              <a:t>Ăn uống cân bằng dinh dưỡng</a:t>
            </a:r>
            <a:endParaRPr lang="en-US" sz="1750" dirty="0">
              <a:latin typeface="Arial" panose="020B0604020202020204" pitchFamily="34" charset="0"/>
              <a:cs typeface="Arial" panose="020B0604020202020204" pitchFamily="34" charset="0"/>
            </a:endParaRPr>
          </a:p>
        </p:txBody>
      </p:sp>
      <p:pic>
        <p:nvPicPr>
          <p:cNvPr id="6" name="Image 1" descr="preencoded.png"/>
          <p:cNvPicPr>
            <a:picLocks noChangeAspect="1"/>
          </p:cNvPicPr>
          <p:nvPr/>
        </p:nvPicPr>
        <p:blipFill>
          <a:blip r:embed="rId4"/>
          <a:stretch>
            <a:fillRect/>
          </a:stretch>
        </p:blipFill>
        <p:spPr>
          <a:xfrm>
            <a:off x="5235893" y="2170390"/>
            <a:ext cx="2411968" cy="2411968"/>
          </a:xfrm>
          <a:prstGeom prst="rect">
            <a:avLst/>
          </a:prstGeom>
        </p:spPr>
      </p:pic>
      <p:sp>
        <p:nvSpPr>
          <p:cNvPr id="7" name="Text 3"/>
          <p:cNvSpPr/>
          <p:nvPr/>
        </p:nvSpPr>
        <p:spPr>
          <a:xfrm>
            <a:off x="5235893" y="486584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Arial" panose="020B0604020202020204" pitchFamily="34" charset="0"/>
                <a:ea typeface="Libre Baskerville" pitchFamily="34" charset="-122"/>
                <a:cs typeface="Arial" panose="020B0604020202020204" pitchFamily="34" charset="0"/>
              </a:rPr>
              <a:t>Quản Lý Thời Gian</a:t>
            </a:r>
            <a:endParaRPr lang="en-US" sz="2200" dirty="0">
              <a:latin typeface="Arial" panose="020B0604020202020204" pitchFamily="34" charset="0"/>
              <a:cs typeface="Arial" panose="020B0604020202020204" pitchFamily="34" charset="0"/>
            </a:endParaRPr>
          </a:p>
        </p:txBody>
      </p:sp>
      <p:sp>
        <p:nvSpPr>
          <p:cNvPr id="8" name="Text 4"/>
          <p:cNvSpPr/>
          <p:nvPr/>
        </p:nvSpPr>
        <p:spPr>
          <a:xfrm>
            <a:off x="5235893" y="5356265"/>
            <a:ext cx="4158615" cy="1088774"/>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9495A"/>
                </a:solidFill>
                <a:latin typeface="Arial" panose="020B0604020202020204" pitchFamily="34" charset="0"/>
                <a:ea typeface="Open Sans" pitchFamily="34" charset="-122"/>
                <a:cs typeface="Arial" panose="020B0604020202020204" pitchFamily="34" charset="0"/>
              </a:rPr>
              <a:t>Lập kế hoạch học tập rõ ràng</a:t>
            </a:r>
            <a:endParaRPr lang="en-US" sz="1750" dirty="0">
              <a:latin typeface="Arial" panose="020B0604020202020204" pitchFamily="34" charset="0"/>
              <a:cs typeface="Arial" panose="020B0604020202020204" pitchFamily="34" charset="0"/>
            </a:endParaRPr>
          </a:p>
          <a:p>
            <a:pPr marL="342900" indent="-342900" algn="l">
              <a:lnSpc>
                <a:spcPts val="2850"/>
              </a:lnSpc>
              <a:buSzPct val="100000"/>
              <a:buChar char="•"/>
            </a:pPr>
            <a:r>
              <a:rPr lang="en-US" sz="1750" dirty="0">
                <a:solidFill>
                  <a:srgbClr val="49495A"/>
                </a:solidFill>
                <a:latin typeface="Arial" panose="020B0604020202020204" pitchFamily="34" charset="0"/>
                <a:ea typeface="Open Sans" pitchFamily="34" charset="-122"/>
                <a:cs typeface="Arial" panose="020B0604020202020204" pitchFamily="34" charset="0"/>
              </a:rPr>
              <a:t>Hạn chế xao nhãng mạng xã hội</a:t>
            </a:r>
            <a:endParaRPr lang="en-US" sz="1750" dirty="0">
              <a:latin typeface="Arial" panose="020B0604020202020204" pitchFamily="34" charset="0"/>
              <a:cs typeface="Arial" panose="020B0604020202020204" pitchFamily="34" charset="0"/>
            </a:endParaRPr>
          </a:p>
          <a:p>
            <a:pPr marL="342900" indent="-342900" algn="l">
              <a:lnSpc>
                <a:spcPts val="2850"/>
              </a:lnSpc>
              <a:buSzPct val="100000"/>
              <a:buChar char="•"/>
            </a:pPr>
            <a:r>
              <a:rPr lang="en-US" sz="1750" dirty="0">
                <a:solidFill>
                  <a:srgbClr val="49495A"/>
                </a:solidFill>
                <a:latin typeface="Arial" panose="020B0604020202020204" pitchFamily="34" charset="0"/>
                <a:ea typeface="Open Sans" pitchFamily="34" charset="-122"/>
                <a:cs typeface="Arial" panose="020B0604020202020204" pitchFamily="34" charset="0"/>
              </a:rPr>
              <a:t>Ưu tiên công việc quan trọng</a:t>
            </a:r>
            <a:endParaRPr lang="en-US" sz="1750" dirty="0">
              <a:latin typeface="Arial" panose="020B0604020202020204" pitchFamily="34" charset="0"/>
              <a:cs typeface="Arial" panose="020B0604020202020204" pitchFamily="34" charset="0"/>
            </a:endParaRPr>
          </a:p>
        </p:txBody>
      </p:sp>
      <p:pic>
        <p:nvPicPr>
          <p:cNvPr id="9" name="Image 2" descr="preencoded.png"/>
          <p:cNvPicPr>
            <a:picLocks noChangeAspect="1"/>
          </p:cNvPicPr>
          <p:nvPr/>
        </p:nvPicPr>
        <p:blipFill>
          <a:blip r:embed="rId5"/>
          <a:stretch>
            <a:fillRect/>
          </a:stretch>
        </p:blipFill>
        <p:spPr>
          <a:xfrm>
            <a:off x="9677995" y="2170390"/>
            <a:ext cx="2411968" cy="2411968"/>
          </a:xfrm>
          <a:prstGeom prst="rect">
            <a:avLst/>
          </a:prstGeom>
        </p:spPr>
      </p:pic>
      <p:sp>
        <p:nvSpPr>
          <p:cNvPr id="10" name="Text 5"/>
          <p:cNvSpPr/>
          <p:nvPr/>
        </p:nvSpPr>
        <p:spPr>
          <a:xfrm>
            <a:off x="9677995" y="4865846"/>
            <a:ext cx="2977753"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Arial" panose="020B0604020202020204" pitchFamily="34" charset="0"/>
                <a:ea typeface="Libre Baskerville" pitchFamily="34" charset="-122"/>
                <a:cs typeface="Arial" panose="020B0604020202020204" pitchFamily="34" charset="0"/>
              </a:rPr>
              <a:t>Sức Khỏe Tinh Thần</a:t>
            </a:r>
            <a:endParaRPr lang="en-US" sz="2200" dirty="0">
              <a:latin typeface="Arial" panose="020B0604020202020204" pitchFamily="34" charset="0"/>
              <a:cs typeface="Arial" panose="020B0604020202020204" pitchFamily="34" charset="0"/>
            </a:endParaRPr>
          </a:p>
        </p:txBody>
      </p:sp>
      <p:sp>
        <p:nvSpPr>
          <p:cNvPr id="11" name="Text 6"/>
          <p:cNvSpPr/>
          <p:nvPr/>
        </p:nvSpPr>
        <p:spPr>
          <a:xfrm>
            <a:off x="9677995" y="5356265"/>
            <a:ext cx="4158615" cy="1088774"/>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9495A"/>
                </a:solidFill>
                <a:latin typeface="Arial" panose="020B0604020202020204" pitchFamily="34" charset="0"/>
                <a:ea typeface="Open Sans" pitchFamily="34" charset="-122"/>
                <a:cs typeface="Arial" panose="020B0604020202020204" pitchFamily="34" charset="0"/>
              </a:rPr>
              <a:t>Thực hành chánh niệm mỗi ngày</a:t>
            </a:r>
            <a:endParaRPr lang="en-US" sz="1750" dirty="0">
              <a:latin typeface="Arial" panose="020B0604020202020204" pitchFamily="34" charset="0"/>
              <a:cs typeface="Arial" panose="020B0604020202020204" pitchFamily="34" charset="0"/>
            </a:endParaRPr>
          </a:p>
          <a:p>
            <a:pPr marL="342900" indent="-342900" algn="l">
              <a:lnSpc>
                <a:spcPts val="2850"/>
              </a:lnSpc>
              <a:buSzPct val="100000"/>
              <a:buChar char="•"/>
            </a:pPr>
            <a:r>
              <a:rPr lang="en-US" sz="1750" dirty="0">
                <a:solidFill>
                  <a:srgbClr val="49495A"/>
                </a:solidFill>
                <a:latin typeface="Arial" panose="020B0604020202020204" pitchFamily="34" charset="0"/>
                <a:ea typeface="Open Sans" pitchFamily="34" charset="-122"/>
                <a:cs typeface="Arial" panose="020B0604020202020204" pitchFamily="34" charset="0"/>
              </a:rPr>
              <a:t>Chia sẻ khi gặp khó khăn</a:t>
            </a:r>
            <a:endParaRPr lang="en-US" sz="1750" dirty="0">
              <a:latin typeface="Arial" panose="020B0604020202020204" pitchFamily="34" charset="0"/>
              <a:cs typeface="Arial" panose="020B0604020202020204" pitchFamily="34" charset="0"/>
            </a:endParaRPr>
          </a:p>
          <a:p>
            <a:pPr marL="342900" indent="-342900" algn="l">
              <a:lnSpc>
                <a:spcPts val="2850"/>
              </a:lnSpc>
              <a:buSzPct val="100000"/>
              <a:buChar char="•"/>
            </a:pPr>
            <a:r>
              <a:rPr lang="en-US" sz="1750" dirty="0">
                <a:solidFill>
                  <a:srgbClr val="49495A"/>
                </a:solidFill>
                <a:latin typeface="Arial" panose="020B0604020202020204" pitchFamily="34" charset="0"/>
                <a:ea typeface="Open Sans" pitchFamily="34" charset="-122"/>
                <a:cs typeface="Arial" panose="020B0604020202020204" pitchFamily="34" charset="0"/>
              </a:rPr>
              <a:t>Cân bằng học tập và giải trí</a:t>
            </a:r>
            <a:endParaRPr lang="en-US" sz="1750" dirty="0">
              <a:latin typeface="Arial" panose="020B0604020202020204" pitchFamily="34" charset="0"/>
              <a:cs typeface="Arial" panose="020B0604020202020204" pitchFamily="34" charset="0"/>
            </a:endParaRPr>
          </a:p>
        </p:txBody>
      </p:sp>
      <p:sp>
        <p:nvSpPr>
          <p:cNvPr id="12" name="Text 7"/>
          <p:cNvSpPr/>
          <p:nvPr/>
        </p:nvSpPr>
        <p:spPr>
          <a:xfrm>
            <a:off x="793790" y="6383140"/>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Trách nhiệm đầu tiên là chăm sóc bản thân để có đủ năng lượng hoàn thành mọi mục tiêu khác.</a:t>
            </a:r>
            <a:endParaRPr lang="en-US" sz="1750"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439BD309-6E88-B6D2-DB12-00C282C45C83}"/>
              </a:ext>
            </a:extLst>
          </p:cNvPr>
          <p:cNvSpPr/>
          <p:nvPr/>
        </p:nvSpPr>
        <p:spPr>
          <a:xfrm>
            <a:off x="12649163" y="7798085"/>
            <a:ext cx="1921267" cy="308225"/>
          </a:xfrm>
          <a:prstGeom prst="rect">
            <a:avLst/>
          </a:prstGeom>
          <a:solidFill>
            <a:srgbClr val="FB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75667" y="693301"/>
            <a:ext cx="5951696" cy="6842879"/>
          </a:xfrm>
          <a:prstGeom prst="roundRect">
            <a:avLst>
              <a:gd name="adj" fmla="val 522"/>
            </a:avLst>
          </a:prstGeom>
          <a:solidFill>
            <a:schemeClr val="accent2">
              <a:lumMod val="40000"/>
              <a:lumOff val="60000"/>
            </a:schemeClr>
          </a:solidFill>
          <a:ln/>
        </p:spPr>
      </p:sp>
      <p:sp>
        <p:nvSpPr>
          <p:cNvPr id="3" name="Text 1"/>
          <p:cNvSpPr/>
          <p:nvPr/>
        </p:nvSpPr>
        <p:spPr>
          <a:xfrm>
            <a:off x="782717" y="3174088"/>
            <a:ext cx="5537597" cy="1035129"/>
          </a:xfrm>
          <a:prstGeom prst="rect">
            <a:avLst/>
          </a:prstGeom>
          <a:noFill/>
          <a:ln/>
        </p:spPr>
        <p:txBody>
          <a:bodyPr wrap="square" lIns="0" tIns="0" rIns="0" bIns="0" rtlCol="0" anchor="t"/>
          <a:lstStyle/>
          <a:p>
            <a:pPr marL="0" indent="0" algn="ctr">
              <a:lnSpc>
                <a:spcPts val="4050"/>
              </a:lnSpc>
              <a:buNone/>
            </a:pPr>
            <a:r>
              <a:rPr lang="en-US" sz="3250" dirty="0">
                <a:latin typeface="Arial" panose="020B0604020202020204" pitchFamily="34" charset="0"/>
                <a:ea typeface="Libre Baskerville" pitchFamily="34" charset="-122"/>
                <a:cs typeface="Arial" panose="020B0604020202020204" pitchFamily="34" charset="0"/>
              </a:rPr>
              <a:t>Xây Dựng Bản Sắc Cá Nhân</a:t>
            </a:r>
            <a:endParaRPr lang="en-US" sz="3250" dirty="0">
              <a:latin typeface="Arial" panose="020B0604020202020204" pitchFamily="34" charset="0"/>
              <a:cs typeface="Arial" panose="020B0604020202020204" pitchFamily="34" charset="0"/>
            </a:endParaRPr>
          </a:p>
        </p:txBody>
      </p:sp>
      <p:sp>
        <p:nvSpPr>
          <p:cNvPr id="4" name="Text 2"/>
          <p:cNvSpPr/>
          <p:nvPr/>
        </p:nvSpPr>
        <p:spPr>
          <a:xfrm>
            <a:off x="782717" y="4398170"/>
            <a:ext cx="5537597" cy="633651"/>
          </a:xfrm>
          <a:prstGeom prst="rect">
            <a:avLst/>
          </a:prstGeom>
          <a:noFill/>
          <a:ln/>
        </p:spPr>
        <p:txBody>
          <a:bodyPr wrap="square" lIns="0" tIns="0" rIns="0" bIns="0" rtlCol="0" anchor="t"/>
          <a:lstStyle/>
          <a:p>
            <a:pPr marL="0" indent="0" algn="ctr">
              <a:lnSpc>
                <a:spcPts val="2450"/>
              </a:lnSpc>
              <a:buNone/>
            </a:pPr>
            <a:r>
              <a:rPr lang="en-US" sz="1600" dirty="0">
                <a:latin typeface="Arial" panose="020B0604020202020204" pitchFamily="34" charset="0"/>
                <a:ea typeface="Open Sans" pitchFamily="34" charset="-122"/>
                <a:cs typeface="Arial" panose="020B0604020202020204" pitchFamily="34" charset="0"/>
              </a:rPr>
              <a:t>Học sinh không chỉ học kiến thức mà còn phải rèn luyện nhân cách, đạo đức và thái độ sống tích cực.</a:t>
            </a:r>
            <a:endParaRPr lang="en-US" sz="1600" dirty="0">
              <a:latin typeface="Arial" panose="020B0604020202020204" pitchFamily="34" charset="0"/>
              <a:cs typeface="Arial" panose="020B0604020202020204" pitchFamily="34" charset="0"/>
            </a:endParaRPr>
          </a:p>
        </p:txBody>
      </p:sp>
      <p:sp>
        <p:nvSpPr>
          <p:cNvPr id="5" name="Text 3"/>
          <p:cNvSpPr/>
          <p:nvPr/>
        </p:nvSpPr>
        <p:spPr>
          <a:xfrm>
            <a:off x="6890980" y="905947"/>
            <a:ext cx="207050" cy="258842"/>
          </a:xfrm>
          <a:prstGeom prst="rect">
            <a:avLst/>
          </a:prstGeom>
          <a:noFill/>
          <a:ln/>
          <a:effectLst>
            <a:outerShdw blurRad="50800" dist="38100" algn="l" rotWithShape="0">
              <a:prstClr val="black">
                <a:alpha val="40000"/>
              </a:prstClr>
            </a:outerShdw>
          </a:effectLst>
        </p:spPr>
        <p:txBody>
          <a:bodyPr wrap="none" lIns="0" tIns="0" rIns="0" bIns="0" rtlCol="0" anchor="t"/>
          <a:lstStyle/>
          <a:p>
            <a:pPr marL="0" indent="0" algn="l">
              <a:lnSpc>
                <a:spcPts val="2450"/>
              </a:lnSpc>
              <a:buNone/>
            </a:pPr>
            <a:r>
              <a:rPr lang="en-US" sz="1600" b="1" dirty="0">
                <a:solidFill>
                  <a:srgbClr val="49495A"/>
                </a:solidFill>
                <a:latin typeface="Arial" panose="020B0604020202020204" pitchFamily="34" charset="0"/>
                <a:ea typeface="Libre Baskerville Light" pitchFamily="34" charset="-122"/>
                <a:cs typeface="Arial" panose="020B0604020202020204" pitchFamily="34" charset="0"/>
              </a:rPr>
              <a:t>01</a:t>
            </a:r>
            <a:endParaRPr lang="en-US" sz="1600" b="1" dirty="0">
              <a:latin typeface="Arial" panose="020B0604020202020204" pitchFamily="34" charset="0"/>
              <a:cs typeface="Arial" panose="020B0604020202020204" pitchFamily="34" charset="0"/>
            </a:endParaRPr>
          </a:p>
        </p:txBody>
      </p:sp>
      <p:pic>
        <p:nvPicPr>
          <p:cNvPr id="6" name="Image 0" descr="preencoded.png"/>
          <p:cNvPicPr>
            <a:picLocks noChangeAspect="1"/>
          </p:cNvPicPr>
          <p:nvPr/>
        </p:nvPicPr>
        <p:blipFill>
          <a:blip r:embed="rId3"/>
          <a:stretch>
            <a:fillRect/>
          </a:stretch>
        </p:blipFill>
        <p:spPr>
          <a:xfrm>
            <a:off x="6890980" y="1234916"/>
            <a:ext cx="7022187" cy="22860"/>
          </a:xfrm>
          <a:prstGeom prst="rect">
            <a:avLst/>
          </a:prstGeom>
        </p:spPr>
      </p:pic>
      <p:sp>
        <p:nvSpPr>
          <p:cNvPr id="7" name="Text 4"/>
          <p:cNvSpPr/>
          <p:nvPr/>
        </p:nvSpPr>
        <p:spPr>
          <a:xfrm>
            <a:off x="6890980" y="1384102"/>
            <a:ext cx="3906202" cy="323493"/>
          </a:xfrm>
          <a:prstGeom prst="rect">
            <a:avLst/>
          </a:prstGeom>
          <a:noFill/>
          <a:ln/>
        </p:spPr>
        <p:txBody>
          <a:bodyPr wrap="none" lIns="0" tIns="0" rIns="0" bIns="0" rtlCol="0" anchor="t"/>
          <a:lstStyle/>
          <a:p>
            <a:pPr marL="0" indent="0" algn="l">
              <a:lnSpc>
                <a:spcPts val="2500"/>
              </a:lnSpc>
              <a:buNone/>
            </a:pPr>
            <a:r>
              <a:rPr lang="en-US" sz="2000" b="1" dirty="0">
                <a:solidFill>
                  <a:srgbClr val="49495A"/>
                </a:solidFill>
                <a:latin typeface="Arial" panose="020B0604020202020204" pitchFamily="34" charset="0"/>
                <a:ea typeface="Libre Baskerville" pitchFamily="34" charset="-122"/>
                <a:cs typeface="Arial" panose="020B0604020202020204" pitchFamily="34" charset="0"/>
              </a:rPr>
              <a:t>Phát Triển Tư Duy Phản Biện</a:t>
            </a:r>
            <a:endParaRPr lang="en-US" sz="2000" b="1" dirty="0">
              <a:latin typeface="Arial" panose="020B0604020202020204" pitchFamily="34" charset="0"/>
              <a:cs typeface="Arial" panose="020B0604020202020204" pitchFamily="34" charset="0"/>
            </a:endParaRPr>
          </a:p>
        </p:txBody>
      </p:sp>
      <p:sp>
        <p:nvSpPr>
          <p:cNvPr id="8" name="Text 5"/>
          <p:cNvSpPr/>
          <p:nvPr/>
        </p:nvSpPr>
        <p:spPr>
          <a:xfrm>
            <a:off x="6890980" y="1896547"/>
            <a:ext cx="7022187" cy="316825"/>
          </a:xfrm>
          <a:prstGeom prst="rect">
            <a:avLst/>
          </a:prstGeom>
          <a:noFill/>
          <a:ln/>
        </p:spPr>
        <p:txBody>
          <a:bodyPr wrap="none" lIns="0" tIns="0" rIns="0" bIns="0" rtlCol="0" anchor="t"/>
          <a:lstStyle/>
          <a:p>
            <a:pPr marL="0" indent="0" algn="l">
              <a:lnSpc>
                <a:spcPts val="2450"/>
              </a:lnSpc>
              <a:buNone/>
            </a:pPr>
            <a:r>
              <a:rPr lang="en-US" sz="1600" dirty="0">
                <a:solidFill>
                  <a:srgbClr val="49495A"/>
                </a:solidFill>
                <a:latin typeface="Arial" panose="020B0604020202020204" pitchFamily="34" charset="0"/>
                <a:ea typeface="Open Sans" pitchFamily="34" charset="-122"/>
                <a:cs typeface="Arial" panose="020B0604020202020204" pitchFamily="34" charset="0"/>
              </a:rPr>
              <a:t>Không chỉ tiếp nhận mà còn đặt câu hỏi và suy nghĩ độc lập</a:t>
            </a:r>
            <a:endParaRPr lang="en-US" sz="1600" dirty="0">
              <a:latin typeface="Arial" panose="020B0604020202020204" pitchFamily="34" charset="0"/>
              <a:cs typeface="Arial" panose="020B0604020202020204" pitchFamily="34" charset="0"/>
            </a:endParaRPr>
          </a:p>
        </p:txBody>
      </p:sp>
      <p:sp>
        <p:nvSpPr>
          <p:cNvPr id="9" name="Text 6"/>
          <p:cNvSpPr/>
          <p:nvPr/>
        </p:nvSpPr>
        <p:spPr>
          <a:xfrm>
            <a:off x="6890980" y="2557582"/>
            <a:ext cx="207050" cy="258842"/>
          </a:xfrm>
          <a:prstGeom prst="rect">
            <a:avLst/>
          </a:prstGeom>
          <a:noFill/>
          <a:ln/>
          <a:effectLst>
            <a:outerShdw blurRad="50800" dist="38100" algn="l" rotWithShape="0">
              <a:prstClr val="black">
                <a:alpha val="40000"/>
              </a:prstClr>
            </a:outerShdw>
          </a:effectLst>
        </p:spPr>
        <p:txBody>
          <a:bodyPr wrap="none" lIns="0" tIns="0" rIns="0" bIns="0" rtlCol="0" anchor="t"/>
          <a:lstStyle/>
          <a:p>
            <a:pPr marL="0" indent="0" algn="l">
              <a:lnSpc>
                <a:spcPts val="2450"/>
              </a:lnSpc>
              <a:buNone/>
            </a:pPr>
            <a:r>
              <a:rPr lang="en-US" sz="1600" b="1" dirty="0">
                <a:solidFill>
                  <a:srgbClr val="49495A"/>
                </a:solidFill>
                <a:latin typeface="Arial" panose="020B0604020202020204" pitchFamily="34" charset="0"/>
                <a:ea typeface="Libre Baskerville Light" pitchFamily="34" charset="-122"/>
                <a:cs typeface="Arial" panose="020B0604020202020204" pitchFamily="34" charset="0"/>
              </a:rPr>
              <a:t>02</a:t>
            </a:r>
            <a:endParaRPr lang="en-US" sz="1600" b="1" dirty="0">
              <a:latin typeface="Arial" panose="020B0604020202020204" pitchFamily="34" charset="0"/>
              <a:cs typeface="Arial" panose="020B0604020202020204" pitchFamily="34" charset="0"/>
            </a:endParaRPr>
          </a:p>
        </p:txBody>
      </p:sp>
      <p:pic>
        <p:nvPicPr>
          <p:cNvPr id="10" name="Image 1" descr="preencoded.png"/>
          <p:cNvPicPr>
            <a:picLocks noChangeAspect="1"/>
          </p:cNvPicPr>
          <p:nvPr/>
        </p:nvPicPr>
        <p:blipFill>
          <a:blip r:embed="rId3"/>
          <a:stretch>
            <a:fillRect/>
          </a:stretch>
        </p:blipFill>
        <p:spPr>
          <a:xfrm>
            <a:off x="6890980" y="2865953"/>
            <a:ext cx="7022187" cy="22860"/>
          </a:xfrm>
          <a:prstGeom prst="rect">
            <a:avLst/>
          </a:prstGeom>
        </p:spPr>
      </p:pic>
      <p:sp>
        <p:nvSpPr>
          <p:cNvPr id="11" name="Text 7"/>
          <p:cNvSpPr/>
          <p:nvPr/>
        </p:nvSpPr>
        <p:spPr>
          <a:xfrm>
            <a:off x="6890980" y="3035737"/>
            <a:ext cx="2683669" cy="323493"/>
          </a:xfrm>
          <a:prstGeom prst="rect">
            <a:avLst/>
          </a:prstGeom>
          <a:noFill/>
          <a:ln/>
        </p:spPr>
        <p:txBody>
          <a:bodyPr wrap="none" lIns="0" tIns="0" rIns="0" bIns="0" rtlCol="0" anchor="t"/>
          <a:lstStyle/>
          <a:p>
            <a:pPr marL="0" indent="0" algn="l">
              <a:lnSpc>
                <a:spcPts val="2500"/>
              </a:lnSpc>
              <a:buNone/>
            </a:pPr>
            <a:r>
              <a:rPr lang="en-US" sz="2000" b="1" dirty="0">
                <a:solidFill>
                  <a:srgbClr val="49495A"/>
                </a:solidFill>
                <a:latin typeface="Arial" panose="020B0604020202020204" pitchFamily="34" charset="0"/>
                <a:ea typeface="Libre Baskerville" pitchFamily="34" charset="-122"/>
                <a:cs typeface="Arial" panose="020B0604020202020204" pitchFamily="34" charset="0"/>
              </a:rPr>
              <a:t>Rèn Luyện Đạo Đức</a:t>
            </a:r>
            <a:endParaRPr lang="en-US" sz="2000" b="1" dirty="0">
              <a:latin typeface="Arial" panose="020B0604020202020204" pitchFamily="34" charset="0"/>
              <a:cs typeface="Arial" panose="020B0604020202020204" pitchFamily="34" charset="0"/>
            </a:endParaRPr>
          </a:p>
        </p:txBody>
      </p:sp>
      <p:sp>
        <p:nvSpPr>
          <p:cNvPr id="12" name="Text 8"/>
          <p:cNvSpPr/>
          <p:nvPr/>
        </p:nvSpPr>
        <p:spPr>
          <a:xfrm>
            <a:off x="6890980" y="3548182"/>
            <a:ext cx="7022187" cy="316825"/>
          </a:xfrm>
          <a:prstGeom prst="rect">
            <a:avLst/>
          </a:prstGeom>
          <a:noFill/>
          <a:ln/>
        </p:spPr>
        <p:txBody>
          <a:bodyPr wrap="none" lIns="0" tIns="0" rIns="0" bIns="0" rtlCol="0" anchor="t"/>
          <a:lstStyle/>
          <a:p>
            <a:pPr marL="0" indent="0" algn="l">
              <a:lnSpc>
                <a:spcPts val="2450"/>
              </a:lnSpc>
              <a:buNone/>
            </a:pPr>
            <a:r>
              <a:rPr lang="en-US" sz="1600" dirty="0">
                <a:solidFill>
                  <a:srgbClr val="49495A"/>
                </a:solidFill>
                <a:latin typeface="Arial" panose="020B0604020202020204" pitchFamily="34" charset="0"/>
                <a:ea typeface="Open Sans" pitchFamily="34" charset="-122"/>
                <a:cs typeface="Arial" panose="020B0604020202020204" pitchFamily="34" charset="0"/>
              </a:rPr>
              <a:t>Trung thực, trách nhiệm và tôn trọng người khác</a:t>
            </a:r>
            <a:endParaRPr lang="en-US" sz="1600" dirty="0">
              <a:latin typeface="Arial" panose="020B0604020202020204" pitchFamily="34" charset="0"/>
              <a:cs typeface="Arial" panose="020B0604020202020204" pitchFamily="34" charset="0"/>
            </a:endParaRPr>
          </a:p>
        </p:txBody>
      </p:sp>
      <p:sp>
        <p:nvSpPr>
          <p:cNvPr id="13" name="Text 9"/>
          <p:cNvSpPr/>
          <p:nvPr/>
        </p:nvSpPr>
        <p:spPr>
          <a:xfrm>
            <a:off x="6890980" y="4209217"/>
            <a:ext cx="207050" cy="258842"/>
          </a:xfrm>
          <a:prstGeom prst="rect">
            <a:avLst/>
          </a:prstGeom>
          <a:noFill/>
          <a:ln/>
          <a:effectLst>
            <a:outerShdw blurRad="50800" dist="38100" algn="l" rotWithShape="0">
              <a:prstClr val="black">
                <a:alpha val="40000"/>
              </a:prstClr>
            </a:outerShdw>
          </a:effectLst>
        </p:spPr>
        <p:txBody>
          <a:bodyPr wrap="none" lIns="0" tIns="0" rIns="0" bIns="0" rtlCol="0" anchor="t"/>
          <a:lstStyle/>
          <a:p>
            <a:pPr marL="0" indent="0" algn="l">
              <a:lnSpc>
                <a:spcPts val="2450"/>
              </a:lnSpc>
              <a:buNone/>
            </a:pPr>
            <a:r>
              <a:rPr lang="en-US" sz="1600" b="1" dirty="0">
                <a:solidFill>
                  <a:srgbClr val="49495A"/>
                </a:solidFill>
                <a:latin typeface="Arial" panose="020B0604020202020204" pitchFamily="34" charset="0"/>
                <a:ea typeface="Libre Baskerville Light" pitchFamily="34" charset="-122"/>
                <a:cs typeface="Arial" panose="020B0604020202020204" pitchFamily="34" charset="0"/>
              </a:rPr>
              <a:t>03</a:t>
            </a:r>
            <a:endParaRPr lang="en-US" sz="1600" b="1" dirty="0">
              <a:latin typeface="Arial" panose="020B0604020202020204" pitchFamily="34" charset="0"/>
              <a:cs typeface="Arial" panose="020B0604020202020204" pitchFamily="34" charset="0"/>
            </a:endParaRPr>
          </a:p>
        </p:txBody>
      </p:sp>
      <p:pic>
        <p:nvPicPr>
          <p:cNvPr id="14" name="Image 2" descr="preencoded.png"/>
          <p:cNvPicPr>
            <a:picLocks noChangeAspect="1"/>
          </p:cNvPicPr>
          <p:nvPr/>
        </p:nvPicPr>
        <p:blipFill>
          <a:blip r:embed="rId3"/>
          <a:stretch>
            <a:fillRect/>
          </a:stretch>
        </p:blipFill>
        <p:spPr>
          <a:xfrm>
            <a:off x="6890980" y="4496872"/>
            <a:ext cx="7022187" cy="22860"/>
          </a:xfrm>
          <a:prstGeom prst="rect">
            <a:avLst/>
          </a:prstGeom>
        </p:spPr>
      </p:pic>
      <p:sp>
        <p:nvSpPr>
          <p:cNvPr id="15" name="Text 10"/>
          <p:cNvSpPr/>
          <p:nvPr/>
        </p:nvSpPr>
        <p:spPr>
          <a:xfrm>
            <a:off x="6890980" y="4687372"/>
            <a:ext cx="2840117" cy="323493"/>
          </a:xfrm>
          <a:prstGeom prst="rect">
            <a:avLst/>
          </a:prstGeom>
          <a:noFill/>
          <a:ln/>
        </p:spPr>
        <p:txBody>
          <a:bodyPr wrap="none" lIns="0" tIns="0" rIns="0" bIns="0" rtlCol="0" anchor="t"/>
          <a:lstStyle/>
          <a:p>
            <a:pPr marL="0" indent="0" algn="l">
              <a:lnSpc>
                <a:spcPts val="2500"/>
              </a:lnSpc>
              <a:buNone/>
            </a:pPr>
            <a:r>
              <a:rPr lang="en-US" sz="2000" b="1" dirty="0">
                <a:solidFill>
                  <a:srgbClr val="49495A"/>
                </a:solidFill>
                <a:latin typeface="Arial" panose="020B0604020202020204" pitchFamily="34" charset="0"/>
                <a:ea typeface="Libre Baskerville" pitchFamily="34" charset="-122"/>
                <a:cs typeface="Arial" panose="020B0604020202020204" pitchFamily="34" charset="0"/>
              </a:rPr>
              <a:t>Nuôi Dưỡng Đam Mê</a:t>
            </a:r>
            <a:endParaRPr lang="en-US" sz="2000" b="1" dirty="0">
              <a:latin typeface="Arial" panose="020B0604020202020204" pitchFamily="34" charset="0"/>
              <a:cs typeface="Arial" panose="020B0604020202020204" pitchFamily="34" charset="0"/>
            </a:endParaRPr>
          </a:p>
        </p:txBody>
      </p:sp>
      <p:sp>
        <p:nvSpPr>
          <p:cNvPr id="16" name="Text 11"/>
          <p:cNvSpPr/>
          <p:nvPr/>
        </p:nvSpPr>
        <p:spPr>
          <a:xfrm>
            <a:off x="6890980" y="5199817"/>
            <a:ext cx="7022187" cy="316825"/>
          </a:xfrm>
          <a:prstGeom prst="rect">
            <a:avLst/>
          </a:prstGeom>
          <a:noFill/>
          <a:ln/>
        </p:spPr>
        <p:txBody>
          <a:bodyPr wrap="none" lIns="0" tIns="0" rIns="0" bIns="0" rtlCol="0" anchor="t"/>
          <a:lstStyle/>
          <a:p>
            <a:pPr marL="0" indent="0" algn="l">
              <a:lnSpc>
                <a:spcPts val="2450"/>
              </a:lnSpc>
              <a:buNone/>
            </a:pPr>
            <a:r>
              <a:rPr lang="en-US" sz="1600" dirty="0">
                <a:solidFill>
                  <a:srgbClr val="49495A"/>
                </a:solidFill>
                <a:latin typeface="Arial" panose="020B0604020202020204" pitchFamily="34" charset="0"/>
                <a:ea typeface="Open Sans" pitchFamily="34" charset="-122"/>
                <a:cs typeface="Arial" panose="020B0604020202020204" pitchFamily="34" charset="0"/>
              </a:rPr>
              <a:t>Khám phá sở thích và phát triển điểm mạnh riêng</a:t>
            </a:r>
            <a:endParaRPr lang="en-US" sz="1600" dirty="0">
              <a:latin typeface="Arial" panose="020B0604020202020204" pitchFamily="34" charset="0"/>
              <a:cs typeface="Arial" panose="020B0604020202020204" pitchFamily="34" charset="0"/>
            </a:endParaRPr>
          </a:p>
        </p:txBody>
      </p:sp>
      <p:sp>
        <p:nvSpPr>
          <p:cNvPr id="17" name="Text 12"/>
          <p:cNvSpPr/>
          <p:nvPr/>
        </p:nvSpPr>
        <p:spPr>
          <a:xfrm>
            <a:off x="6890980" y="5860852"/>
            <a:ext cx="207050" cy="258842"/>
          </a:xfrm>
          <a:prstGeom prst="rect">
            <a:avLst/>
          </a:prstGeom>
          <a:noFill/>
          <a:ln/>
          <a:effectLst>
            <a:outerShdw blurRad="50800" dist="38100" algn="l" rotWithShape="0">
              <a:prstClr val="black">
                <a:alpha val="40000"/>
              </a:prstClr>
            </a:outerShdw>
          </a:effectLst>
        </p:spPr>
        <p:txBody>
          <a:bodyPr wrap="none" lIns="0" tIns="0" rIns="0" bIns="0" rtlCol="0" anchor="t"/>
          <a:lstStyle/>
          <a:p>
            <a:pPr marL="0" indent="0" algn="l">
              <a:lnSpc>
                <a:spcPts val="2450"/>
              </a:lnSpc>
              <a:buNone/>
            </a:pPr>
            <a:r>
              <a:rPr lang="en-US" sz="1600" b="1" dirty="0">
                <a:solidFill>
                  <a:srgbClr val="49495A"/>
                </a:solidFill>
                <a:latin typeface="Arial" panose="020B0604020202020204" pitchFamily="34" charset="0"/>
                <a:ea typeface="Libre Baskerville Light" pitchFamily="34" charset="-122"/>
                <a:cs typeface="Arial" panose="020B0604020202020204" pitchFamily="34" charset="0"/>
              </a:rPr>
              <a:t>04</a:t>
            </a:r>
            <a:endParaRPr lang="en-US" sz="1600" b="1" dirty="0">
              <a:latin typeface="Arial" panose="020B0604020202020204" pitchFamily="34" charset="0"/>
              <a:cs typeface="Arial" panose="020B0604020202020204" pitchFamily="34" charset="0"/>
            </a:endParaRPr>
          </a:p>
        </p:txBody>
      </p:sp>
      <p:pic>
        <p:nvPicPr>
          <p:cNvPr id="18" name="Image 3" descr="preencoded.png"/>
          <p:cNvPicPr>
            <a:picLocks noChangeAspect="1"/>
          </p:cNvPicPr>
          <p:nvPr/>
        </p:nvPicPr>
        <p:blipFill>
          <a:blip r:embed="rId3"/>
          <a:stretch>
            <a:fillRect/>
          </a:stretch>
        </p:blipFill>
        <p:spPr>
          <a:xfrm>
            <a:off x="6890980" y="6127909"/>
            <a:ext cx="7022187" cy="22860"/>
          </a:xfrm>
          <a:prstGeom prst="rect">
            <a:avLst/>
          </a:prstGeom>
        </p:spPr>
      </p:pic>
      <p:sp>
        <p:nvSpPr>
          <p:cNvPr id="19" name="Text 13"/>
          <p:cNvSpPr/>
          <p:nvPr/>
        </p:nvSpPr>
        <p:spPr>
          <a:xfrm>
            <a:off x="6890980" y="6339007"/>
            <a:ext cx="3729871" cy="323493"/>
          </a:xfrm>
          <a:prstGeom prst="rect">
            <a:avLst/>
          </a:prstGeom>
          <a:noFill/>
          <a:ln/>
        </p:spPr>
        <p:txBody>
          <a:bodyPr wrap="none" lIns="0" tIns="0" rIns="0" bIns="0" rtlCol="0" anchor="t"/>
          <a:lstStyle/>
          <a:p>
            <a:pPr marL="0" indent="0" algn="l">
              <a:lnSpc>
                <a:spcPts val="2500"/>
              </a:lnSpc>
              <a:buNone/>
            </a:pPr>
            <a:r>
              <a:rPr lang="en-US" sz="2000" b="1" dirty="0">
                <a:solidFill>
                  <a:srgbClr val="49495A"/>
                </a:solidFill>
                <a:latin typeface="Arial" panose="020B0604020202020204" pitchFamily="34" charset="0"/>
                <a:ea typeface="Libre Baskerville" pitchFamily="34" charset="-122"/>
                <a:cs typeface="Arial" panose="020B0604020202020204" pitchFamily="34" charset="0"/>
              </a:rPr>
              <a:t>Xây Dựng Thái Độ Tích Cực</a:t>
            </a:r>
            <a:endParaRPr lang="en-US" sz="2000" b="1" dirty="0">
              <a:latin typeface="Arial" panose="020B0604020202020204" pitchFamily="34" charset="0"/>
              <a:cs typeface="Arial" panose="020B0604020202020204" pitchFamily="34" charset="0"/>
            </a:endParaRPr>
          </a:p>
        </p:txBody>
      </p:sp>
      <p:sp>
        <p:nvSpPr>
          <p:cNvPr id="20" name="Text 14"/>
          <p:cNvSpPr/>
          <p:nvPr/>
        </p:nvSpPr>
        <p:spPr>
          <a:xfrm>
            <a:off x="6890980" y="6851452"/>
            <a:ext cx="7022187" cy="316825"/>
          </a:xfrm>
          <a:prstGeom prst="rect">
            <a:avLst/>
          </a:prstGeom>
          <a:noFill/>
          <a:ln/>
        </p:spPr>
        <p:txBody>
          <a:bodyPr wrap="none" lIns="0" tIns="0" rIns="0" bIns="0" rtlCol="0" anchor="t"/>
          <a:lstStyle/>
          <a:p>
            <a:pPr marL="0" indent="0" algn="l">
              <a:lnSpc>
                <a:spcPts val="2450"/>
              </a:lnSpc>
              <a:buNone/>
            </a:pPr>
            <a:r>
              <a:rPr lang="en-US" sz="1600" dirty="0">
                <a:solidFill>
                  <a:srgbClr val="49495A"/>
                </a:solidFill>
                <a:latin typeface="Arial" panose="020B0604020202020204" pitchFamily="34" charset="0"/>
                <a:ea typeface="Open Sans" pitchFamily="34" charset="-122"/>
                <a:cs typeface="Arial" panose="020B0604020202020204" pitchFamily="34" charset="0"/>
              </a:rPr>
              <a:t>Biến thử thách thành cơ hội để trưởng thành</a:t>
            </a:r>
            <a:endParaRPr lang="en-US" sz="1600" dirty="0">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5447AD71-9B39-56C5-6181-FE2CE9EE4D1C}"/>
              </a:ext>
            </a:extLst>
          </p:cNvPr>
          <p:cNvSpPr/>
          <p:nvPr/>
        </p:nvSpPr>
        <p:spPr>
          <a:xfrm>
            <a:off x="12649163" y="7798085"/>
            <a:ext cx="1921267" cy="308225"/>
          </a:xfrm>
          <a:prstGeom prst="rect">
            <a:avLst/>
          </a:prstGeom>
          <a:solidFill>
            <a:srgbClr val="FB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1133951" y="1667828"/>
            <a:ext cx="7216259" cy="3912870"/>
          </a:xfrm>
          <a:prstGeom prst="rect">
            <a:avLst/>
          </a:prstGeom>
          <a:noFill/>
          <a:ln/>
        </p:spPr>
        <p:txBody>
          <a:bodyPr wrap="square" lIns="0" tIns="0" rIns="0" bIns="0" rtlCol="0" anchor="t"/>
          <a:lstStyle/>
          <a:p>
            <a:pPr marL="0" indent="0" algn="l">
              <a:lnSpc>
                <a:spcPts val="7700"/>
              </a:lnSpc>
              <a:buNone/>
            </a:pPr>
            <a:r>
              <a:rPr lang="en-US" sz="6150" dirty="0">
                <a:solidFill>
                  <a:srgbClr val="403CCF"/>
                </a:solidFill>
                <a:latin typeface="Arial" panose="020B0604020202020204" pitchFamily="34" charset="0"/>
                <a:ea typeface="Libre Baskerville" pitchFamily="34" charset="-122"/>
                <a:cs typeface="Arial" panose="020B0604020202020204" pitchFamily="34" charset="0"/>
              </a:rPr>
              <a:t>Trách nhiệm với bản thân là khởi đầu của mọi trách nhiệm khác.</a:t>
            </a:r>
            <a:endParaRPr lang="en-US" sz="6150" dirty="0">
              <a:latin typeface="Arial" panose="020B0604020202020204" pitchFamily="34" charset="0"/>
              <a:cs typeface="Arial" panose="020B0604020202020204" pitchFamily="34" charset="0"/>
            </a:endParaRPr>
          </a:p>
        </p:txBody>
      </p:sp>
      <p:sp>
        <p:nvSpPr>
          <p:cNvPr id="4" name="Shape 1"/>
          <p:cNvSpPr/>
          <p:nvPr/>
        </p:nvSpPr>
        <p:spPr>
          <a:xfrm>
            <a:off x="793790" y="1327666"/>
            <a:ext cx="30480" cy="4593193"/>
          </a:xfrm>
          <a:prstGeom prst="rect">
            <a:avLst/>
          </a:prstGeom>
          <a:solidFill>
            <a:srgbClr val="403CCF"/>
          </a:solidFill>
          <a:ln/>
        </p:spPr>
      </p:sp>
      <p:sp>
        <p:nvSpPr>
          <p:cNvPr id="5" name="Text 2"/>
          <p:cNvSpPr/>
          <p:nvPr/>
        </p:nvSpPr>
        <p:spPr>
          <a:xfrm>
            <a:off x="793790" y="6176010"/>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Khi bạn biết chăm lo cho chính mình, bạn mới có thể đóng góp tích cực cho gia đình, nhà trường và cộng đồng.</a:t>
            </a:r>
            <a:endParaRPr lang="en-US" sz="1750"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18066" y="854988"/>
            <a:ext cx="9123283" cy="641152"/>
          </a:xfrm>
          <a:prstGeom prst="rect">
            <a:avLst/>
          </a:prstGeom>
          <a:noFill/>
          <a:ln/>
        </p:spPr>
        <p:txBody>
          <a:bodyPr wrap="none" lIns="0" tIns="0" rIns="0" bIns="0" rtlCol="0" anchor="t"/>
          <a:lstStyle/>
          <a:p>
            <a:pPr marL="0" indent="0" algn="l">
              <a:lnSpc>
                <a:spcPts val="5000"/>
              </a:lnSpc>
              <a:buNone/>
            </a:pPr>
            <a:r>
              <a:rPr lang="en-US" sz="4000" dirty="0">
                <a:solidFill>
                  <a:srgbClr val="403CCF"/>
                </a:solidFill>
                <a:latin typeface="Arial" panose="020B0604020202020204" pitchFamily="34" charset="0"/>
                <a:ea typeface="Libre Baskerville" pitchFamily="34" charset="-122"/>
                <a:cs typeface="Arial" panose="020B0604020202020204" pitchFamily="34" charset="0"/>
              </a:rPr>
              <a:t>Trở Thành Công Dân Số Văn Minh</a:t>
            </a:r>
            <a:endParaRPr lang="en-US" sz="4000" dirty="0">
              <a:latin typeface="Arial" panose="020B0604020202020204" pitchFamily="34" charset="0"/>
              <a:cs typeface="Arial" panose="020B0604020202020204" pitchFamily="34" charset="0"/>
            </a:endParaRPr>
          </a:p>
        </p:txBody>
      </p:sp>
      <p:sp>
        <p:nvSpPr>
          <p:cNvPr id="3" name="Text 1"/>
          <p:cNvSpPr/>
          <p:nvPr/>
        </p:nvSpPr>
        <p:spPr>
          <a:xfrm>
            <a:off x="718066" y="1960007"/>
            <a:ext cx="4170998" cy="384691"/>
          </a:xfrm>
          <a:prstGeom prst="rect">
            <a:avLst/>
          </a:prstGeom>
          <a:noFill/>
          <a:ln/>
        </p:spPr>
        <p:txBody>
          <a:bodyPr wrap="none" lIns="0" tIns="0" rIns="0" bIns="0" rtlCol="0" anchor="t"/>
          <a:lstStyle/>
          <a:p>
            <a:pPr marL="0" indent="0" algn="l">
              <a:lnSpc>
                <a:spcPts val="3000"/>
              </a:lnSpc>
              <a:buNone/>
            </a:pPr>
            <a:r>
              <a:rPr lang="en-US" sz="2400" dirty="0">
                <a:solidFill>
                  <a:srgbClr val="403CCF"/>
                </a:solidFill>
                <a:latin typeface="Arial" panose="020B0604020202020204" pitchFamily="34" charset="0"/>
                <a:ea typeface="Libre Baskerville" pitchFamily="34" charset="-122"/>
                <a:cs typeface="Arial" panose="020B0604020202020204" pitchFamily="34" charset="0"/>
              </a:rPr>
              <a:t>Ứng Xử Trên Mạng Xã Hội</a:t>
            </a:r>
            <a:endParaRPr lang="en-US" sz="2400" dirty="0">
              <a:latin typeface="Arial" panose="020B0604020202020204" pitchFamily="34" charset="0"/>
              <a:cs typeface="Arial" panose="020B0604020202020204" pitchFamily="34" charset="0"/>
            </a:endParaRPr>
          </a:p>
        </p:txBody>
      </p:sp>
      <p:sp>
        <p:nvSpPr>
          <p:cNvPr id="4" name="Text 2"/>
          <p:cNvSpPr/>
          <p:nvPr/>
        </p:nvSpPr>
        <p:spPr>
          <a:xfrm>
            <a:off x="718066" y="2530197"/>
            <a:ext cx="6346865" cy="937617"/>
          </a:xfrm>
          <a:prstGeom prst="rect">
            <a:avLst/>
          </a:prstGeom>
          <a:noFill/>
          <a:ln/>
        </p:spPr>
        <p:txBody>
          <a:bodyPr wrap="square" lIns="0" tIns="0" rIns="0" bIns="0" rtlCol="0" anchor="t"/>
          <a:lstStyle/>
          <a:p>
            <a:pPr marL="0" indent="0" algn="l">
              <a:lnSpc>
                <a:spcPts val="2450"/>
              </a:lnSpc>
              <a:buNone/>
            </a:pPr>
            <a:r>
              <a:rPr lang="en-US" sz="1600" dirty="0">
                <a:solidFill>
                  <a:srgbClr val="49495A"/>
                </a:solidFill>
                <a:latin typeface="Arial" panose="020B0604020202020204" pitchFamily="34" charset="0"/>
                <a:ea typeface="Open Sans" pitchFamily="34" charset="-122"/>
                <a:cs typeface="Arial" panose="020B0604020202020204" pitchFamily="34" charset="0"/>
              </a:rPr>
              <a:t>Trong kỷ nguyên số, cách chúng ta hành xử trực tuyến phản ánh nhân cách và giá trị của mình. Hãy trở thành người dùng mạng xã hội có trách nhiệm.</a:t>
            </a:r>
            <a:endParaRPr lang="en-US" sz="1600" dirty="0">
              <a:latin typeface="Arial" panose="020B0604020202020204" pitchFamily="34" charset="0"/>
              <a:cs typeface="Arial" panose="020B0604020202020204" pitchFamily="34" charset="0"/>
            </a:endParaRPr>
          </a:p>
        </p:txBody>
      </p:sp>
      <p:pic>
        <p:nvPicPr>
          <p:cNvPr id="5" name="Image 0" descr="preencoded.png"/>
          <p:cNvPicPr>
            <a:picLocks noChangeAspect="1"/>
          </p:cNvPicPr>
          <p:nvPr/>
        </p:nvPicPr>
        <p:blipFill>
          <a:blip r:embed="rId3"/>
          <a:stretch>
            <a:fillRect/>
          </a:stretch>
        </p:blipFill>
        <p:spPr>
          <a:xfrm>
            <a:off x="718066" y="3676531"/>
            <a:ext cx="6346865" cy="2648426"/>
          </a:xfrm>
          <a:prstGeom prst="rect">
            <a:avLst/>
          </a:prstGeom>
        </p:spPr>
      </p:pic>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50634" y="5068106"/>
            <a:ext cx="237509" cy="237509"/>
          </a:xfrm>
          <a:prstGeom prst="rect">
            <a:avLst/>
          </a:prstGeom>
        </p:spPr>
      </p:pic>
      <p:sp>
        <p:nvSpPr>
          <p:cNvPr id="7" name="Text 3"/>
          <p:cNvSpPr/>
          <p:nvPr/>
        </p:nvSpPr>
        <p:spPr>
          <a:xfrm>
            <a:off x="4440172" y="3798585"/>
            <a:ext cx="1582793" cy="180387"/>
          </a:xfrm>
          <a:prstGeom prst="rect">
            <a:avLst/>
          </a:prstGeom>
          <a:noFill/>
          <a:ln/>
        </p:spPr>
        <p:txBody>
          <a:bodyPr wrap="none" lIns="0" tIns="0" rIns="0" bIns="0" rtlCol="0" anchor="t"/>
          <a:lstStyle/>
          <a:p>
            <a:pPr marL="0" indent="0" algn="l">
              <a:lnSpc>
                <a:spcPts val="1650"/>
              </a:lnSpc>
              <a:buNone/>
            </a:pPr>
            <a:r>
              <a:rPr lang="en-US" sz="1350" dirty="0">
                <a:solidFill>
                  <a:srgbClr val="403CCF"/>
                </a:solidFill>
                <a:latin typeface="Arial" panose="020B0604020202020204" pitchFamily="34" charset="0"/>
                <a:ea typeface="Libre Baskerville" pitchFamily="34" charset="-122"/>
                <a:cs typeface="Arial" panose="020B0604020202020204" pitchFamily="34" charset="0"/>
              </a:rPr>
              <a:t>Tôn trọng người khác</a:t>
            </a:r>
            <a:endParaRPr lang="en-US" sz="1350" dirty="0">
              <a:latin typeface="Arial" panose="020B0604020202020204" pitchFamily="34" charset="0"/>
              <a:cs typeface="Arial" panose="020B0604020202020204" pitchFamily="34" charset="0"/>
            </a:endParaRPr>
          </a:p>
        </p:txBody>
      </p:sp>
      <p:sp>
        <p:nvSpPr>
          <p:cNvPr id="8" name="Text 4"/>
          <p:cNvSpPr/>
          <p:nvPr/>
        </p:nvSpPr>
        <p:spPr>
          <a:xfrm>
            <a:off x="4440172" y="4030281"/>
            <a:ext cx="2473703" cy="137394"/>
          </a:xfrm>
          <a:prstGeom prst="rect">
            <a:avLst/>
          </a:prstGeom>
          <a:noFill/>
          <a:ln/>
        </p:spPr>
        <p:txBody>
          <a:bodyPr wrap="none" lIns="0" tIns="0" rIns="0" bIns="0" rtlCol="0" anchor="t"/>
          <a:lstStyle/>
          <a:p>
            <a:pPr marL="0" indent="0" algn="l">
              <a:lnSpc>
                <a:spcPts val="1250"/>
              </a:lnSpc>
              <a:buNone/>
            </a:pPr>
            <a:r>
              <a:rPr lang="en-US" sz="1050" dirty="0">
                <a:solidFill>
                  <a:srgbClr val="49495A"/>
                </a:solidFill>
                <a:latin typeface="Arial" panose="020B0604020202020204" pitchFamily="34" charset="0"/>
                <a:ea typeface="Open Sans" pitchFamily="34" charset="-122"/>
                <a:cs typeface="Arial" panose="020B0604020202020204" pitchFamily="34" charset="0"/>
              </a:rPr>
              <a:t>Lịch sự, không bắt nạt hay xúc phạm</a:t>
            </a:r>
            <a:endParaRPr lang="en-US" sz="1050" dirty="0">
              <a:latin typeface="Arial" panose="020B0604020202020204" pitchFamily="34" charset="0"/>
              <a:cs typeface="Arial" panose="020B0604020202020204" pitchFamily="34" charset="0"/>
            </a:endParaRPr>
          </a:p>
        </p:txBody>
      </p:sp>
      <p:pic>
        <p:nvPicPr>
          <p:cNvPr id="9"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001043" y="5068106"/>
            <a:ext cx="237509" cy="237509"/>
          </a:xfrm>
          <a:prstGeom prst="rect">
            <a:avLst/>
          </a:prstGeom>
        </p:spPr>
      </p:pic>
      <p:sp>
        <p:nvSpPr>
          <p:cNvPr id="10" name="Text 5"/>
          <p:cNvSpPr/>
          <p:nvPr/>
        </p:nvSpPr>
        <p:spPr>
          <a:xfrm>
            <a:off x="4440272" y="4660432"/>
            <a:ext cx="1443094" cy="180387"/>
          </a:xfrm>
          <a:prstGeom prst="rect">
            <a:avLst/>
          </a:prstGeom>
          <a:noFill/>
          <a:ln/>
        </p:spPr>
        <p:txBody>
          <a:bodyPr wrap="none" lIns="0" tIns="0" rIns="0" bIns="0" rtlCol="0" anchor="t"/>
          <a:lstStyle/>
          <a:p>
            <a:pPr marL="0" indent="0" algn="l">
              <a:lnSpc>
                <a:spcPts val="1650"/>
              </a:lnSpc>
              <a:buNone/>
            </a:pPr>
            <a:r>
              <a:rPr lang="en-US" sz="1350" dirty="0">
                <a:solidFill>
                  <a:srgbClr val="403CCF"/>
                </a:solidFill>
                <a:latin typeface="Arial" panose="020B0604020202020204" pitchFamily="34" charset="0"/>
                <a:ea typeface="Libre Baskerville" pitchFamily="34" charset="-122"/>
                <a:cs typeface="Arial" panose="020B0604020202020204" pitchFamily="34" charset="0"/>
              </a:rPr>
              <a:t>Xác minh thông tin</a:t>
            </a:r>
            <a:endParaRPr lang="en-US" sz="1350" dirty="0">
              <a:latin typeface="Arial" panose="020B0604020202020204" pitchFamily="34" charset="0"/>
              <a:cs typeface="Arial" panose="020B0604020202020204" pitchFamily="34" charset="0"/>
            </a:endParaRPr>
          </a:p>
        </p:txBody>
      </p:sp>
      <p:sp>
        <p:nvSpPr>
          <p:cNvPr id="11" name="Text 6"/>
          <p:cNvSpPr/>
          <p:nvPr/>
        </p:nvSpPr>
        <p:spPr>
          <a:xfrm>
            <a:off x="4440272" y="4892129"/>
            <a:ext cx="2473703" cy="137394"/>
          </a:xfrm>
          <a:prstGeom prst="rect">
            <a:avLst/>
          </a:prstGeom>
          <a:noFill/>
          <a:ln/>
        </p:spPr>
        <p:txBody>
          <a:bodyPr wrap="none" lIns="0" tIns="0" rIns="0" bIns="0" rtlCol="0" anchor="t"/>
          <a:lstStyle/>
          <a:p>
            <a:pPr marL="0" indent="0" algn="l">
              <a:lnSpc>
                <a:spcPts val="1250"/>
              </a:lnSpc>
              <a:buNone/>
            </a:pPr>
            <a:r>
              <a:rPr lang="en-US" sz="1050" dirty="0">
                <a:solidFill>
                  <a:srgbClr val="49495A"/>
                </a:solidFill>
                <a:latin typeface="Arial" panose="020B0604020202020204" pitchFamily="34" charset="0"/>
                <a:ea typeface="Open Sans" pitchFamily="34" charset="-122"/>
                <a:cs typeface="Arial" panose="020B0604020202020204" pitchFamily="34" charset="0"/>
              </a:rPr>
              <a:t>Kiểm chứng trước khi chia sẻ</a:t>
            </a:r>
            <a:endParaRPr lang="en-US" sz="1050" dirty="0">
              <a:latin typeface="Arial" panose="020B0604020202020204" pitchFamily="34" charset="0"/>
              <a:cs typeface="Arial" panose="020B0604020202020204" pitchFamily="34" charset="0"/>
            </a:endParaRPr>
          </a:p>
        </p:txBody>
      </p:sp>
      <p:pic>
        <p:nvPicPr>
          <p:cNvPr id="12"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745038" y="5068106"/>
            <a:ext cx="237509" cy="237509"/>
          </a:xfrm>
          <a:prstGeom prst="rect">
            <a:avLst/>
          </a:prstGeom>
        </p:spPr>
      </p:pic>
      <p:sp>
        <p:nvSpPr>
          <p:cNvPr id="13" name="Text 7"/>
          <p:cNvSpPr/>
          <p:nvPr/>
        </p:nvSpPr>
        <p:spPr>
          <a:xfrm>
            <a:off x="4440272" y="5549438"/>
            <a:ext cx="1614862" cy="180387"/>
          </a:xfrm>
          <a:prstGeom prst="rect">
            <a:avLst/>
          </a:prstGeom>
          <a:noFill/>
          <a:ln/>
        </p:spPr>
        <p:txBody>
          <a:bodyPr wrap="none" lIns="0" tIns="0" rIns="0" bIns="0" rtlCol="0" anchor="t"/>
          <a:lstStyle/>
          <a:p>
            <a:pPr marL="0" indent="0" algn="l">
              <a:lnSpc>
                <a:spcPts val="1650"/>
              </a:lnSpc>
              <a:buNone/>
            </a:pPr>
            <a:r>
              <a:rPr lang="en-US" sz="1350" dirty="0">
                <a:solidFill>
                  <a:srgbClr val="403CCF"/>
                </a:solidFill>
                <a:latin typeface="Arial" panose="020B0604020202020204" pitchFamily="34" charset="0"/>
                <a:ea typeface="Libre Baskerville" pitchFamily="34" charset="-122"/>
                <a:cs typeface="Arial" panose="020B0604020202020204" pitchFamily="34" charset="0"/>
              </a:rPr>
              <a:t>Bảo vệ quyền riêng tư</a:t>
            </a:r>
            <a:endParaRPr lang="en-US" sz="1350" dirty="0">
              <a:latin typeface="Arial" panose="020B0604020202020204" pitchFamily="34" charset="0"/>
              <a:cs typeface="Arial" panose="020B0604020202020204" pitchFamily="34" charset="0"/>
            </a:endParaRPr>
          </a:p>
        </p:txBody>
      </p:sp>
      <p:sp>
        <p:nvSpPr>
          <p:cNvPr id="14" name="Text 8"/>
          <p:cNvSpPr/>
          <p:nvPr/>
        </p:nvSpPr>
        <p:spPr>
          <a:xfrm>
            <a:off x="4440272" y="5781135"/>
            <a:ext cx="2473703" cy="137394"/>
          </a:xfrm>
          <a:prstGeom prst="rect">
            <a:avLst/>
          </a:prstGeom>
          <a:noFill/>
          <a:ln/>
        </p:spPr>
        <p:txBody>
          <a:bodyPr wrap="none" lIns="0" tIns="0" rIns="0" bIns="0" rtlCol="0" anchor="t"/>
          <a:lstStyle/>
          <a:p>
            <a:pPr marL="0" indent="0" algn="l">
              <a:lnSpc>
                <a:spcPts val="1250"/>
              </a:lnSpc>
              <a:buNone/>
            </a:pPr>
            <a:r>
              <a:rPr lang="en-US" sz="1050" dirty="0">
                <a:solidFill>
                  <a:srgbClr val="49495A"/>
                </a:solidFill>
                <a:latin typeface="Arial" panose="020B0604020202020204" pitchFamily="34" charset="0"/>
                <a:ea typeface="Open Sans" pitchFamily="34" charset="-122"/>
                <a:cs typeface="Arial" panose="020B0604020202020204" pitchFamily="34" charset="0"/>
              </a:rPr>
              <a:t>Giữ an toàn dữ liệu cá nhân</a:t>
            </a:r>
            <a:endParaRPr lang="en-US" sz="1050" dirty="0">
              <a:latin typeface="Arial" panose="020B0604020202020204" pitchFamily="34" charset="0"/>
              <a:cs typeface="Arial" panose="020B0604020202020204" pitchFamily="34" charset="0"/>
            </a:endParaRPr>
          </a:p>
        </p:txBody>
      </p:sp>
      <p:sp>
        <p:nvSpPr>
          <p:cNvPr id="15" name="Shape 9"/>
          <p:cNvSpPr/>
          <p:nvPr/>
        </p:nvSpPr>
        <p:spPr>
          <a:xfrm>
            <a:off x="7573089" y="1983224"/>
            <a:ext cx="3080623" cy="2654856"/>
          </a:xfrm>
          <a:prstGeom prst="roundRect">
            <a:avLst>
              <a:gd name="adj" fmla="val 1159"/>
            </a:avLst>
          </a:prstGeom>
          <a:solidFill>
            <a:srgbClr val="EAE8F3"/>
          </a:solidFill>
          <a:ln/>
        </p:spPr>
      </p:sp>
      <p:pic>
        <p:nvPicPr>
          <p:cNvPr id="16" name="Image 4" descr="preencoded.png"/>
          <p:cNvPicPr>
            <a:picLocks noChangeAspect="1"/>
          </p:cNvPicPr>
          <p:nvPr/>
        </p:nvPicPr>
        <p:blipFill>
          <a:blip r:embed="rId10"/>
          <a:stretch>
            <a:fillRect/>
          </a:stretch>
        </p:blipFill>
        <p:spPr>
          <a:xfrm>
            <a:off x="7778234" y="2188369"/>
            <a:ext cx="615434" cy="615434"/>
          </a:xfrm>
          <a:prstGeom prst="rect">
            <a:avLst/>
          </a:prstGeom>
        </p:spPr>
      </p:pic>
      <p:pic>
        <p:nvPicPr>
          <p:cNvPr id="17" name="Image 5"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947422" y="2357557"/>
            <a:ext cx="276939" cy="276939"/>
          </a:xfrm>
          <a:prstGeom prst="rect">
            <a:avLst/>
          </a:prstGeom>
        </p:spPr>
      </p:pic>
      <p:sp>
        <p:nvSpPr>
          <p:cNvPr id="18" name="Text 10"/>
          <p:cNvSpPr/>
          <p:nvPr/>
        </p:nvSpPr>
        <p:spPr>
          <a:xfrm>
            <a:off x="7778234" y="2989302"/>
            <a:ext cx="2564606" cy="320516"/>
          </a:xfrm>
          <a:prstGeom prst="rect">
            <a:avLst/>
          </a:prstGeom>
          <a:noFill/>
          <a:ln/>
        </p:spPr>
        <p:txBody>
          <a:bodyPr wrap="none" lIns="0" tIns="0" rIns="0" bIns="0" rtlCol="0" anchor="t"/>
          <a:lstStyle/>
          <a:p>
            <a:pPr marL="0" indent="0" algn="l">
              <a:lnSpc>
                <a:spcPts val="2500"/>
              </a:lnSpc>
              <a:buNone/>
            </a:pPr>
            <a:r>
              <a:rPr lang="en-US" sz="2000" dirty="0">
                <a:solidFill>
                  <a:srgbClr val="49495A"/>
                </a:solidFill>
                <a:latin typeface="Arial" panose="020B0604020202020204" pitchFamily="34" charset="0"/>
                <a:ea typeface="Libre Baskerville" pitchFamily="34" charset="-122"/>
                <a:cs typeface="Arial" panose="020B0604020202020204" pitchFamily="34" charset="0"/>
              </a:rPr>
              <a:t>Không Bắt Nạt</a:t>
            </a:r>
            <a:endParaRPr lang="en-US" sz="2000" dirty="0">
              <a:latin typeface="Arial" panose="020B0604020202020204" pitchFamily="34" charset="0"/>
              <a:cs typeface="Arial" panose="020B0604020202020204" pitchFamily="34" charset="0"/>
            </a:endParaRPr>
          </a:p>
        </p:txBody>
      </p:sp>
      <p:sp>
        <p:nvSpPr>
          <p:cNvPr id="19" name="Text 11"/>
          <p:cNvSpPr/>
          <p:nvPr/>
        </p:nvSpPr>
        <p:spPr>
          <a:xfrm>
            <a:off x="7778234" y="3495318"/>
            <a:ext cx="2670334" cy="937617"/>
          </a:xfrm>
          <a:prstGeom prst="rect">
            <a:avLst/>
          </a:prstGeom>
          <a:noFill/>
          <a:ln/>
        </p:spPr>
        <p:txBody>
          <a:bodyPr wrap="square" lIns="0" tIns="0" rIns="0" bIns="0" rtlCol="0" anchor="t"/>
          <a:lstStyle/>
          <a:p>
            <a:pPr marL="0" indent="0" algn="l">
              <a:lnSpc>
                <a:spcPts val="2450"/>
              </a:lnSpc>
              <a:buNone/>
            </a:pPr>
            <a:r>
              <a:rPr lang="en-US" sz="1600" dirty="0">
                <a:solidFill>
                  <a:srgbClr val="49495A"/>
                </a:solidFill>
                <a:latin typeface="Arial" panose="020B0604020202020204" pitchFamily="34" charset="0"/>
                <a:ea typeface="Open Sans" pitchFamily="34" charset="-122"/>
                <a:cs typeface="Arial" panose="020B0604020202020204" pitchFamily="34" charset="0"/>
              </a:rPr>
              <a:t>Không tham gia hoặc lan truyền nội dung gây tổn thương người khác</a:t>
            </a:r>
            <a:endParaRPr lang="en-US" sz="1600" dirty="0">
              <a:latin typeface="Arial" panose="020B0604020202020204" pitchFamily="34" charset="0"/>
              <a:cs typeface="Arial" panose="020B0604020202020204" pitchFamily="34" charset="0"/>
            </a:endParaRPr>
          </a:p>
        </p:txBody>
      </p:sp>
      <p:sp>
        <p:nvSpPr>
          <p:cNvPr id="20" name="Shape 12"/>
          <p:cNvSpPr/>
          <p:nvPr/>
        </p:nvSpPr>
        <p:spPr>
          <a:xfrm>
            <a:off x="10839212" y="1983224"/>
            <a:ext cx="3080742" cy="2654856"/>
          </a:xfrm>
          <a:prstGeom prst="roundRect">
            <a:avLst>
              <a:gd name="adj" fmla="val 1159"/>
            </a:avLst>
          </a:prstGeom>
          <a:solidFill>
            <a:srgbClr val="EAE8F3"/>
          </a:solidFill>
          <a:ln/>
        </p:spPr>
      </p:sp>
      <p:pic>
        <p:nvPicPr>
          <p:cNvPr id="21" name="Image 6" descr="preencoded.png"/>
          <p:cNvPicPr>
            <a:picLocks noChangeAspect="1"/>
          </p:cNvPicPr>
          <p:nvPr/>
        </p:nvPicPr>
        <p:blipFill>
          <a:blip r:embed="rId13"/>
          <a:stretch>
            <a:fillRect/>
          </a:stretch>
        </p:blipFill>
        <p:spPr>
          <a:xfrm>
            <a:off x="11044357" y="2188369"/>
            <a:ext cx="615434" cy="615434"/>
          </a:xfrm>
          <a:prstGeom prst="rect">
            <a:avLst/>
          </a:prstGeom>
        </p:spPr>
      </p:pic>
      <p:pic>
        <p:nvPicPr>
          <p:cNvPr id="22" name="Image 7"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1213544" y="2357557"/>
            <a:ext cx="276939" cy="276939"/>
          </a:xfrm>
          <a:prstGeom prst="rect">
            <a:avLst/>
          </a:prstGeom>
        </p:spPr>
      </p:pic>
      <p:sp>
        <p:nvSpPr>
          <p:cNvPr id="23" name="Text 13"/>
          <p:cNvSpPr/>
          <p:nvPr/>
        </p:nvSpPr>
        <p:spPr>
          <a:xfrm>
            <a:off x="11044357" y="2989302"/>
            <a:ext cx="2564606" cy="320516"/>
          </a:xfrm>
          <a:prstGeom prst="rect">
            <a:avLst/>
          </a:prstGeom>
          <a:noFill/>
          <a:ln/>
        </p:spPr>
        <p:txBody>
          <a:bodyPr wrap="none" lIns="0" tIns="0" rIns="0" bIns="0" rtlCol="0" anchor="t"/>
          <a:lstStyle/>
          <a:p>
            <a:pPr marL="0" indent="0" algn="l">
              <a:lnSpc>
                <a:spcPts val="2500"/>
              </a:lnSpc>
              <a:buNone/>
            </a:pPr>
            <a:r>
              <a:rPr lang="en-US" sz="2000" dirty="0">
                <a:solidFill>
                  <a:srgbClr val="49495A"/>
                </a:solidFill>
                <a:latin typeface="Arial" panose="020B0604020202020204" pitchFamily="34" charset="0"/>
                <a:ea typeface="Libre Baskerville" pitchFamily="34" charset="-122"/>
                <a:cs typeface="Arial" panose="020B0604020202020204" pitchFamily="34" charset="0"/>
              </a:rPr>
              <a:t>Không Tin Giả</a:t>
            </a:r>
            <a:endParaRPr lang="en-US" sz="2000" dirty="0">
              <a:latin typeface="Arial" panose="020B0604020202020204" pitchFamily="34" charset="0"/>
              <a:cs typeface="Arial" panose="020B0604020202020204" pitchFamily="34" charset="0"/>
            </a:endParaRPr>
          </a:p>
        </p:txBody>
      </p:sp>
      <p:sp>
        <p:nvSpPr>
          <p:cNvPr id="24" name="Text 14"/>
          <p:cNvSpPr/>
          <p:nvPr/>
        </p:nvSpPr>
        <p:spPr>
          <a:xfrm>
            <a:off x="11044357" y="3495318"/>
            <a:ext cx="2670453" cy="937617"/>
          </a:xfrm>
          <a:prstGeom prst="rect">
            <a:avLst/>
          </a:prstGeom>
          <a:noFill/>
          <a:ln/>
        </p:spPr>
        <p:txBody>
          <a:bodyPr wrap="square" lIns="0" tIns="0" rIns="0" bIns="0" rtlCol="0" anchor="t"/>
          <a:lstStyle/>
          <a:p>
            <a:pPr marL="0" indent="0" algn="l">
              <a:lnSpc>
                <a:spcPts val="2450"/>
              </a:lnSpc>
              <a:buNone/>
            </a:pPr>
            <a:r>
              <a:rPr lang="en-US" sz="1600" dirty="0">
                <a:solidFill>
                  <a:srgbClr val="49495A"/>
                </a:solidFill>
                <a:latin typeface="Arial" panose="020B0604020202020204" pitchFamily="34" charset="0"/>
                <a:ea typeface="Open Sans" pitchFamily="34" charset="-122"/>
                <a:cs typeface="Arial" panose="020B0604020202020204" pitchFamily="34" charset="0"/>
              </a:rPr>
              <a:t>Kiểm chứng thông tin trước khi chia sẻ, tránh lan truyền tin sai sự thật</a:t>
            </a:r>
            <a:endParaRPr lang="en-US" sz="1600" dirty="0">
              <a:latin typeface="Arial" panose="020B0604020202020204" pitchFamily="34" charset="0"/>
              <a:cs typeface="Arial" panose="020B0604020202020204" pitchFamily="34" charset="0"/>
            </a:endParaRPr>
          </a:p>
        </p:txBody>
      </p:sp>
      <p:sp>
        <p:nvSpPr>
          <p:cNvPr id="25" name="Shape 15"/>
          <p:cNvSpPr/>
          <p:nvPr/>
        </p:nvSpPr>
        <p:spPr>
          <a:xfrm>
            <a:off x="7573089" y="4823579"/>
            <a:ext cx="6346865" cy="2342317"/>
          </a:xfrm>
          <a:prstGeom prst="roundRect">
            <a:avLst>
              <a:gd name="adj" fmla="val 1314"/>
            </a:avLst>
          </a:prstGeom>
          <a:solidFill>
            <a:srgbClr val="EAE8F3"/>
          </a:solidFill>
          <a:ln/>
        </p:spPr>
      </p:sp>
      <p:pic>
        <p:nvPicPr>
          <p:cNvPr id="26" name="Image 8" descr="preencoded.png"/>
          <p:cNvPicPr>
            <a:picLocks noChangeAspect="1"/>
          </p:cNvPicPr>
          <p:nvPr/>
        </p:nvPicPr>
        <p:blipFill>
          <a:blip r:embed="rId16"/>
          <a:stretch>
            <a:fillRect/>
          </a:stretch>
        </p:blipFill>
        <p:spPr>
          <a:xfrm>
            <a:off x="7778234" y="5028724"/>
            <a:ext cx="615434" cy="615434"/>
          </a:xfrm>
          <a:prstGeom prst="rect">
            <a:avLst/>
          </a:prstGeom>
        </p:spPr>
      </p:pic>
      <p:pic>
        <p:nvPicPr>
          <p:cNvPr id="27" name="Image 9" descr="preencoded.png"/>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947422" y="5197912"/>
            <a:ext cx="276939" cy="276939"/>
          </a:xfrm>
          <a:prstGeom prst="rect">
            <a:avLst/>
          </a:prstGeom>
        </p:spPr>
      </p:pic>
      <p:sp>
        <p:nvSpPr>
          <p:cNvPr id="28" name="Text 16"/>
          <p:cNvSpPr/>
          <p:nvPr/>
        </p:nvSpPr>
        <p:spPr>
          <a:xfrm>
            <a:off x="7778234" y="5829657"/>
            <a:ext cx="2564606" cy="320516"/>
          </a:xfrm>
          <a:prstGeom prst="rect">
            <a:avLst/>
          </a:prstGeom>
          <a:noFill/>
          <a:ln/>
        </p:spPr>
        <p:txBody>
          <a:bodyPr wrap="none" lIns="0" tIns="0" rIns="0" bIns="0" rtlCol="0" anchor="t"/>
          <a:lstStyle/>
          <a:p>
            <a:pPr marL="0" indent="0" algn="l">
              <a:lnSpc>
                <a:spcPts val="2500"/>
              </a:lnSpc>
              <a:buNone/>
            </a:pPr>
            <a:r>
              <a:rPr lang="en-US" sz="2000" dirty="0">
                <a:solidFill>
                  <a:srgbClr val="49495A"/>
                </a:solidFill>
                <a:latin typeface="Arial" panose="020B0604020202020204" pitchFamily="34" charset="0"/>
                <a:ea typeface="Libre Baskerville" pitchFamily="34" charset="-122"/>
                <a:cs typeface="Arial" panose="020B0604020202020204" pitchFamily="34" charset="0"/>
              </a:rPr>
              <a:t>Lan Tỏa Tích Cực</a:t>
            </a:r>
            <a:endParaRPr lang="en-US" sz="2000" dirty="0">
              <a:latin typeface="Arial" panose="020B0604020202020204" pitchFamily="34" charset="0"/>
              <a:cs typeface="Arial" panose="020B0604020202020204" pitchFamily="34" charset="0"/>
            </a:endParaRPr>
          </a:p>
        </p:txBody>
      </p:sp>
      <p:sp>
        <p:nvSpPr>
          <p:cNvPr id="29" name="Text 17"/>
          <p:cNvSpPr/>
          <p:nvPr/>
        </p:nvSpPr>
        <p:spPr>
          <a:xfrm>
            <a:off x="7778234" y="6335673"/>
            <a:ext cx="5936575" cy="625078"/>
          </a:xfrm>
          <a:prstGeom prst="rect">
            <a:avLst/>
          </a:prstGeom>
          <a:noFill/>
          <a:ln/>
        </p:spPr>
        <p:txBody>
          <a:bodyPr wrap="square" lIns="0" tIns="0" rIns="0" bIns="0" rtlCol="0" anchor="t"/>
          <a:lstStyle/>
          <a:p>
            <a:pPr marL="0" indent="0" algn="l">
              <a:lnSpc>
                <a:spcPts val="2450"/>
              </a:lnSpc>
              <a:buNone/>
            </a:pPr>
            <a:r>
              <a:rPr lang="en-US" sz="1600" dirty="0">
                <a:solidFill>
                  <a:srgbClr val="49495A"/>
                </a:solidFill>
                <a:latin typeface="Arial" panose="020B0604020202020204" pitchFamily="34" charset="0"/>
                <a:ea typeface="Open Sans" pitchFamily="34" charset="-122"/>
                <a:cs typeface="Arial" panose="020B0604020202020204" pitchFamily="34" charset="0"/>
              </a:rPr>
              <a:t>Sử dụng mạng xã hội để truyền cảm hứng và hỗ trợ người khác</a:t>
            </a:r>
            <a:endParaRPr lang="en-US" sz="1600" dirty="0">
              <a:latin typeface="Arial" panose="020B0604020202020204" pitchFamily="34" charset="0"/>
              <a:cs typeface="Arial" panose="020B0604020202020204" pitchFamily="34" charset="0"/>
            </a:endParaRPr>
          </a:p>
        </p:txBody>
      </p:sp>
      <p:sp>
        <p:nvSpPr>
          <p:cNvPr id="30" name="Rectangle 29">
            <a:extLst>
              <a:ext uri="{FF2B5EF4-FFF2-40B4-BE49-F238E27FC236}">
                <a16:creationId xmlns:a16="http://schemas.microsoft.com/office/drawing/2014/main" id="{E9E8047B-FA77-9E29-50E2-72456B2A98FC}"/>
              </a:ext>
            </a:extLst>
          </p:cNvPr>
          <p:cNvSpPr/>
          <p:nvPr/>
        </p:nvSpPr>
        <p:spPr>
          <a:xfrm>
            <a:off x="12649163" y="7798085"/>
            <a:ext cx="1921267" cy="308225"/>
          </a:xfrm>
          <a:prstGeom prst="rect">
            <a:avLst/>
          </a:prstGeom>
          <a:solidFill>
            <a:srgbClr val="FB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07219" y="1525667"/>
            <a:ext cx="7921466" cy="542092"/>
          </a:xfrm>
          <a:prstGeom prst="rect">
            <a:avLst/>
          </a:prstGeom>
          <a:noFill/>
          <a:ln/>
        </p:spPr>
        <p:txBody>
          <a:bodyPr wrap="none" lIns="0" tIns="0" rIns="0" bIns="0" rtlCol="0" anchor="t"/>
          <a:lstStyle/>
          <a:p>
            <a:pPr marL="0" indent="0" algn="l">
              <a:lnSpc>
                <a:spcPts val="4250"/>
              </a:lnSpc>
              <a:buNone/>
            </a:pPr>
            <a:r>
              <a:rPr lang="en-US" sz="3400" dirty="0">
                <a:solidFill>
                  <a:srgbClr val="403CCF"/>
                </a:solidFill>
                <a:latin typeface="Arial" panose="020B0604020202020204" pitchFamily="34" charset="0"/>
                <a:ea typeface="Libre Baskerville" pitchFamily="34" charset="-122"/>
                <a:cs typeface="Arial" panose="020B0604020202020204" pitchFamily="34" charset="0"/>
              </a:rPr>
              <a:t>Trách Nhiệm Với Trí Tuệ Nhân Tạo</a:t>
            </a:r>
            <a:endParaRPr lang="en-US" sz="3400" dirty="0">
              <a:latin typeface="Arial" panose="020B0604020202020204" pitchFamily="34" charset="0"/>
              <a:cs typeface="Arial" panose="020B0604020202020204" pitchFamily="34" charset="0"/>
            </a:endParaRPr>
          </a:p>
        </p:txBody>
      </p:sp>
      <p:sp>
        <p:nvSpPr>
          <p:cNvPr id="4" name="Shape 1"/>
          <p:cNvSpPr/>
          <p:nvPr/>
        </p:nvSpPr>
        <p:spPr>
          <a:xfrm>
            <a:off x="802362" y="2266712"/>
            <a:ext cx="22860" cy="3416022"/>
          </a:xfrm>
          <a:prstGeom prst="roundRect">
            <a:avLst>
              <a:gd name="adj" fmla="val 113842"/>
            </a:avLst>
          </a:prstGeom>
          <a:solidFill>
            <a:srgbClr val="D0CED9"/>
          </a:solidFill>
          <a:ln/>
        </p:spPr>
      </p:sp>
      <p:sp>
        <p:nvSpPr>
          <p:cNvPr id="5" name="Shape 2"/>
          <p:cNvSpPr/>
          <p:nvPr/>
        </p:nvSpPr>
        <p:spPr>
          <a:xfrm>
            <a:off x="974646" y="2450425"/>
            <a:ext cx="520422" cy="22860"/>
          </a:xfrm>
          <a:prstGeom prst="roundRect">
            <a:avLst>
              <a:gd name="adj" fmla="val 113842"/>
            </a:avLst>
          </a:prstGeom>
          <a:solidFill>
            <a:srgbClr val="D0CED9"/>
          </a:solidFill>
          <a:ln/>
        </p:spPr>
      </p:sp>
      <p:sp>
        <p:nvSpPr>
          <p:cNvPr id="6" name="Shape 3"/>
          <p:cNvSpPr/>
          <p:nvPr/>
        </p:nvSpPr>
        <p:spPr>
          <a:xfrm>
            <a:off x="607219" y="2266712"/>
            <a:ext cx="390287" cy="390287"/>
          </a:xfrm>
          <a:prstGeom prst="roundRect">
            <a:avLst>
              <a:gd name="adj" fmla="val 6668"/>
            </a:avLst>
          </a:prstGeom>
          <a:solidFill>
            <a:srgbClr val="EAE8F3"/>
          </a:solidFill>
          <a:ln/>
        </p:spPr>
      </p:sp>
      <p:sp>
        <p:nvSpPr>
          <p:cNvPr id="7" name="Text 4"/>
          <p:cNvSpPr/>
          <p:nvPr/>
        </p:nvSpPr>
        <p:spPr>
          <a:xfrm>
            <a:off x="672286" y="2299216"/>
            <a:ext cx="260152" cy="325279"/>
          </a:xfrm>
          <a:prstGeom prst="rect">
            <a:avLst/>
          </a:prstGeom>
          <a:noFill/>
          <a:ln/>
        </p:spPr>
        <p:txBody>
          <a:bodyPr wrap="none" lIns="0" tIns="0" rIns="0" bIns="0" rtlCol="0" anchor="t"/>
          <a:lstStyle/>
          <a:p>
            <a:pPr marL="0" indent="0" algn="ctr">
              <a:lnSpc>
                <a:spcPts val="2000"/>
              </a:lnSpc>
              <a:buNone/>
            </a:pPr>
            <a:r>
              <a:rPr lang="en-US" sz="2000" dirty="0">
                <a:solidFill>
                  <a:srgbClr val="49495A"/>
                </a:solidFill>
                <a:latin typeface="Arial" panose="020B0604020202020204" pitchFamily="34" charset="0"/>
                <a:ea typeface="Libre Baskerville" pitchFamily="34" charset="-122"/>
                <a:cs typeface="Arial" panose="020B0604020202020204" pitchFamily="34" charset="0"/>
              </a:rPr>
              <a:t>1</a:t>
            </a:r>
            <a:endParaRPr lang="en-US" sz="2000" dirty="0">
              <a:latin typeface="Arial" panose="020B0604020202020204" pitchFamily="34" charset="0"/>
              <a:cs typeface="Arial" panose="020B0604020202020204" pitchFamily="34" charset="0"/>
            </a:endParaRPr>
          </a:p>
        </p:txBody>
      </p:sp>
      <p:sp>
        <p:nvSpPr>
          <p:cNvPr id="8" name="Text 5"/>
          <p:cNvSpPr/>
          <p:nvPr/>
        </p:nvSpPr>
        <p:spPr>
          <a:xfrm>
            <a:off x="1669852" y="2326243"/>
            <a:ext cx="2168604" cy="270986"/>
          </a:xfrm>
          <a:prstGeom prst="rect">
            <a:avLst/>
          </a:prstGeom>
          <a:noFill/>
          <a:ln/>
        </p:spPr>
        <p:txBody>
          <a:bodyPr wrap="none" lIns="0" tIns="0" rIns="0" bIns="0" rtlCol="0" anchor="t"/>
          <a:lstStyle/>
          <a:p>
            <a:pPr marL="0" indent="0" algn="l">
              <a:lnSpc>
                <a:spcPts val="2100"/>
              </a:lnSpc>
              <a:buNone/>
            </a:pPr>
            <a:r>
              <a:rPr lang="en-US" sz="1700" b="1" dirty="0">
                <a:solidFill>
                  <a:srgbClr val="49495A"/>
                </a:solidFill>
                <a:latin typeface="Arial" panose="020B0604020202020204" pitchFamily="34" charset="0"/>
                <a:ea typeface="Libre Baskerville" pitchFamily="34" charset="-122"/>
                <a:cs typeface="Arial" panose="020B0604020202020204" pitchFamily="34" charset="0"/>
              </a:rPr>
              <a:t>Hiểu Rõ AI</a:t>
            </a:r>
            <a:endParaRPr lang="en-US" sz="1700" b="1" dirty="0">
              <a:latin typeface="Arial" panose="020B0604020202020204" pitchFamily="34" charset="0"/>
              <a:cs typeface="Arial" panose="020B0604020202020204" pitchFamily="34" charset="0"/>
            </a:endParaRPr>
          </a:p>
        </p:txBody>
      </p:sp>
      <p:sp>
        <p:nvSpPr>
          <p:cNvPr id="9" name="Text 6"/>
          <p:cNvSpPr/>
          <p:nvPr/>
        </p:nvSpPr>
        <p:spPr>
          <a:xfrm>
            <a:off x="1669852" y="2676763"/>
            <a:ext cx="6866930" cy="244912"/>
          </a:xfrm>
          <a:prstGeom prst="rect">
            <a:avLst/>
          </a:prstGeom>
          <a:noFill/>
          <a:ln/>
        </p:spPr>
        <p:txBody>
          <a:bodyPr wrap="none" lIns="0" tIns="0" rIns="0" bIns="0" rtlCol="0" anchor="t"/>
          <a:lstStyle/>
          <a:p>
            <a:pPr marL="0" indent="0" algn="l">
              <a:lnSpc>
                <a:spcPts val="1900"/>
              </a:lnSpc>
              <a:buNone/>
            </a:pPr>
            <a:r>
              <a:rPr lang="en-US" sz="1350" dirty="0">
                <a:solidFill>
                  <a:srgbClr val="49495A"/>
                </a:solidFill>
                <a:latin typeface="Arial" panose="020B0604020202020204" pitchFamily="34" charset="0"/>
                <a:ea typeface="Open Sans" pitchFamily="34" charset="-122"/>
                <a:cs typeface="Arial" panose="020B0604020202020204" pitchFamily="34" charset="0"/>
              </a:rPr>
              <a:t>Tìm hiểu cách AI hoạt động và giới hạn của nó</a:t>
            </a:r>
            <a:endParaRPr lang="en-US" sz="1350" dirty="0">
              <a:latin typeface="Arial" panose="020B0604020202020204" pitchFamily="34" charset="0"/>
              <a:cs typeface="Arial" panose="020B0604020202020204" pitchFamily="34" charset="0"/>
            </a:endParaRPr>
          </a:p>
        </p:txBody>
      </p:sp>
      <p:sp>
        <p:nvSpPr>
          <p:cNvPr id="10" name="Shape 7"/>
          <p:cNvSpPr/>
          <p:nvPr/>
        </p:nvSpPr>
        <p:spPr>
          <a:xfrm>
            <a:off x="974646" y="3370778"/>
            <a:ext cx="520422" cy="22860"/>
          </a:xfrm>
          <a:prstGeom prst="roundRect">
            <a:avLst>
              <a:gd name="adj" fmla="val 113842"/>
            </a:avLst>
          </a:prstGeom>
          <a:solidFill>
            <a:srgbClr val="D0CED9"/>
          </a:solidFill>
          <a:ln/>
        </p:spPr>
      </p:sp>
      <p:sp>
        <p:nvSpPr>
          <p:cNvPr id="11" name="Shape 8"/>
          <p:cNvSpPr/>
          <p:nvPr/>
        </p:nvSpPr>
        <p:spPr>
          <a:xfrm>
            <a:off x="607219" y="3187065"/>
            <a:ext cx="390287" cy="390287"/>
          </a:xfrm>
          <a:prstGeom prst="roundRect">
            <a:avLst>
              <a:gd name="adj" fmla="val 6668"/>
            </a:avLst>
          </a:prstGeom>
          <a:solidFill>
            <a:srgbClr val="EAE8F3"/>
          </a:solidFill>
          <a:ln/>
        </p:spPr>
      </p:sp>
      <p:sp>
        <p:nvSpPr>
          <p:cNvPr id="12" name="Text 9"/>
          <p:cNvSpPr/>
          <p:nvPr/>
        </p:nvSpPr>
        <p:spPr>
          <a:xfrm>
            <a:off x="672286" y="3219569"/>
            <a:ext cx="260152" cy="325279"/>
          </a:xfrm>
          <a:prstGeom prst="rect">
            <a:avLst/>
          </a:prstGeom>
          <a:noFill/>
          <a:ln/>
        </p:spPr>
        <p:txBody>
          <a:bodyPr wrap="none" lIns="0" tIns="0" rIns="0" bIns="0" rtlCol="0" anchor="t"/>
          <a:lstStyle/>
          <a:p>
            <a:pPr marL="0" indent="0" algn="ctr">
              <a:lnSpc>
                <a:spcPts val="2000"/>
              </a:lnSpc>
              <a:buNone/>
            </a:pPr>
            <a:r>
              <a:rPr lang="en-US" sz="2000" dirty="0">
                <a:solidFill>
                  <a:srgbClr val="49495A"/>
                </a:solidFill>
                <a:latin typeface="Arial" panose="020B0604020202020204" pitchFamily="34" charset="0"/>
                <a:ea typeface="Libre Baskerville" pitchFamily="34" charset="-122"/>
                <a:cs typeface="Arial" panose="020B0604020202020204" pitchFamily="34" charset="0"/>
              </a:rPr>
              <a:t>2</a:t>
            </a:r>
            <a:endParaRPr lang="en-US" sz="2000" dirty="0">
              <a:latin typeface="Arial" panose="020B0604020202020204" pitchFamily="34" charset="0"/>
              <a:cs typeface="Arial" panose="020B0604020202020204" pitchFamily="34" charset="0"/>
            </a:endParaRPr>
          </a:p>
        </p:txBody>
      </p:sp>
      <p:sp>
        <p:nvSpPr>
          <p:cNvPr id="13" name="Text 10"/>
          <p:cNvSpPr/>
          <p:nvPr/>
        </p:nvSpPr>
        <p:spPr>
          <a:xfrm>
            <a:off x="1669852" y="3246596"/>
            <a:ext cx="2783681" cy="270986"/>
          </a:xfrm>
          <a:prstGeom prst="rect">
            <a:avLst/>
          </a:prstGeom>
          <a:noFill/>
          <a:ln/>
        </p:spPr>
        <p:txBody>
          <a:bodyPr wrap="none" lIns="0" tIns="0" rIns="0" bIns="0" rtlCol="0" anchor="t"/>
          <a:lstStyle/>
          <a:p>
            <a:pPr marL="0" indent="0" algn="l">
              <a:lnSpc>
                <a:spcPts val="2100"/>
              </a:lnSpc>
              <a:buNone/>
            </a:pPr>
            <a:r>
              <a:rPr lang="en-US" sz="1700" b="1" dirty="0">
                <a:solidFill>
                  <a:srgbClr val="49495A"/>
                </a:solidFill>
                <a:latin typeface="Arial" panose="020B0604020202020204" pitchFamily="34" charset="0"/>
                <a:ea typeface="Libre Baskerville" pitchFamily="34" charset="-122"/>
                <a:cs typeface="Arial" panose="020B0604020202020204" pitchFamily="34" charset="0"/>
              </a:rPr>
              <a:t>Sử Dụng Đúng Mục Đích</a:t>
            </a:r>
            <a:endParaRPr lang="en-US" sz="1700" b="1" dirty="0">
              <a:latin typeface="Arial" panose="020B0604020202020204" pitchFamily="34" charset="0"/>
              <a:cs typeface="Arial" panose="020B0604020202020204" pitchFamily="34" charset="0"/>
            </a:endParaRPr>
          </a:p>
        </p:txBody>
      </p:sp>
      <p:sp>
        <p:nvSpPr>
          <p:cNvPr id="14" name="Text 11"/>
          <p:cNvSpPr/>
          <p:nvPr/>
        </p:nvSpPr>
        <p:spPr>
          <a:xfrm>
            <a:off x="1669852" y="3597116"/>
            <a:ext cx="6866930" cy="244912"/>
          </a:xfrm>
          <a:prstGeom prst="rect">
            <a:avLst/>
          </a:prstGeom>
          <a:noFill/>
          <a:ln/>
        </p:spPr>
        <p:txBody>
          <a:bodyPr wrap="none" lIns="0" tIns="0" rIns="0" bIns="0" rtlCol="0" anchor="t"/>
          <a:lstStyle/>
          <a:p>
            <a:pPr marL="0" indent="0" algn="l">
              <a:lnSpc>
                <a:spcPts val="1900"/>
              </a:lnSpc>
              <a:buNone/>
            </a:pPr>
            <a:r>
              <a:rPr lang="en-US" sz="1350" dirty="0">
                <a:solidFill>
                  <a:srgbClr val="49495A"/>
                </a:solidFill>
                <a:latin typeface="Arial" panose="020B0604020202020204" pitchFamily="34" charset="0"/>
                <a:ea typeface="Open Sans" pitchFamily="34" charset="-122"/>
                <a:cs typeface="Arial" panose="020B0604020202020204" pitchFamily="34" charset="0"/>
              </a:rPr>
              <a:t>Dùng AI để hỗ trợ học tập, không để AI làm thay hoàn toàn</a:t>
            </a:r>
            <a:endParaRPr lang="en-US" sz="1350" dirty="0">
              <a:latin typeface="Arial" panose="020B0604020202020204" pitchFamily="34" charset="0"/>
              <a:cs typeface="Arial" panose="020B0604020202020204" pitchFamily="34" charset="0"/>
            </a:endParaRPr>
          </a:p>
        </p:txBody>
      </p:sp>
      <p:sp>
        <p:nvSpPr>
          <p:cNvPr id="15" name="Shape 12"/>
          <p:cNvSpPr/>
          <p:nvPr/>
        </p:nvSpPr>
        <p:spPr>
          <a:xfrm>
            <a:off x="974646" y="4291132"/>
            <a:ext cx="520422" cy="22860"/>
          </a:xfrm>
          <a:prstGeom prst="roundRect">
            <a:avLst>
              <a:gd name="adj" fmla="val 113842"/>
            </a:avLst>
          </a:prstGeom>
          <a:solidFill>
            <a:srgbClr val="D0CED9"/>
          </a:solidFill>
          <a:ln/>
        </p:spPr>
      </p:sp>
      <p:sp>
        <p:nvSpPr>
          <p:cNvPr id="16" name="Shape 13"/>
          <p:cNvSpPr/>
          <p:nvPr/>
        </p:nvSpPr>
        <p:spPr>
          <a:xfrm>
            <a:off x="607219" y="4107418"/>
            <a:ext cx="390287" cy="390287"/>
          </a:xfrm>
          <a:prstGeom prst="roundRect">
            <a:avLst>
              <a:gd name="adj" fmla="val 6668"/>
            </a:avLst>
          </a:prstGeom>
          <a:solidFill>
            <a:srgbClr val="EAE8F3"/>
          </a:solidFill>
          <a:ln/>
        </p:spPr>
      </p:sp>
      <p:sp>
        <p:nvSpPr>
          <p:cNvPr id="17" name="Text 14"/>
          <p:cNvSpPr/>
          <p:nvPr/>
        </p:nvSpPr>
        <p:spPr>
          <a:xfrm>
            <a:off x="672286" y="4139922"/>
            <a:ext cx="260152" cy="325279"/>
          </a:xfrm>
          <a:prstGeom prst="rect">
            <a:avLst/>
          </a:prstGeom>
          <a:noFill/>
          <a:ln/>
        </p:spPr>
        <p:txBody>
          <a:bodyPr wrap="none" lIns="0" tIns="0" rIns="0" bIns="0" rtlCol="0" anchor="t"/>
          <a:lstStyle/>
          <a:p>
            <a:pPr marL="0" indent="0" algn="ctr">
              <a:lnSpc>
                <a:spcPts val="2000"/>
              </a:lnSpc>
              <a:buNone/>
            </a:pPr>
            <a:r>
              <a:rPr lang="en-US" sz="2000" dirty="0">
                <a:solidFill>
                  <a:srgbClr val="49495A"/>
                </a:solidFill>
                <a:latin typeface="Arial" panose="020B0604020202020204" pitchFamily="34" charset="0"/>
                <a:ea typeface="Libre Baskerville" pitchFamily="34" charset="-122"/>
                <a:cs typeface="Arial" panose="020B0604020202020204" pitchFamily="34" charset="0"/>
              </a:rPr>
              <a:t>3</a:t>
            </a:r>
            <a:endParaRPr lang="en-US" sz="2000" dirty="0">
              <a:latin typeface="Arial" panose="020B0604020202020204" pitchFamily="34" charset="0"/>
              <a:cs typeface="Arial" panose="020B0604020202020204" pitchFamily="34" charset="0"/>
            </a:endParaRPr>
          </a:p>
        </p:txBody>
      </p:sp>
      <p:sp>
        <p:nvSpPr>
          <p:cNvPr id="18" name="Text 15"/>
          <p:cNvSpPr/>
          <p:nvPr/>
        </p:nvSpPr>
        <p:spPr>
          <a:xfrm>
            <a:off x="1669852" y="4166949"/>
            <a:ext cx="2563773" cy="270986"/>
          </a:xfrm>
          <a:prstGeom prst="rect">
            <a:avLst/>
          </a:prstGeom>
          <a:noFill/>
          <a:ln/>
        </p:spPr>
        <p:txBody>
          <a:bodyPr wrap="none" lIns="0" tIns="0" rIns="0" bIns="0" rtlCol="0" anchor="t"/>
          <a:lstStyle/>
          <a:p>
            <a:pPr marL="0" indent="0" algn="l">
              <a:lnSpc>
                <a:spcPts val="2100"/>
              </a:lnSpc>
              <a:buNone/>
            </a:pPr>
            <a:r>
              <a:rPr lang="en-US" sz="1700" b="1" dirty="0">
                <a:solidFill>
                  <a:srgbClr val="49495A"/>
                </a:solidFill>
                <a:latin typeface="Arial" panose="020B0604020202020204" pitchFamily="34" charset="0"/>
                <a:ea typeface="Libre Baskerville" pitchFamily="34" charset="-122"/>
                <a:cs typeface="Arial" panose="020B0604020202020204" pitchFamily="34" charset="0"/>
              </a:rPr>
              <a:t>Trung Thực Học Thuật</a:t>
            </a:r>
            <a:endParaRPr lang="en-US" sz="1700" b="1" dirty="0">
              <a:latin typeface="Arial" panose="020B0604020202020204" pitchFamily="34" charset="0"/>
              <a:cs typeface="Arial" panose="020B0604020202020204" pitchFamily="34" charset="0"/>
            </a:endParaRPr>
          </a:p>
        </p:txBody>
      </p:sp>
      <p:sp>
        <p:nvSpPr>
          <p:cNvPr id="19" name="Text 16"/>
          <p:cNvSpPr/>
          <p:nvPr/>
        </p:nvSpPr>
        <p:spPr>
          <a:xfrm>
            <a:off x="1669852" y="4517469"/>
            <a:ext cx="6866930" cy="244912"/>
          </a:xfrm>
          <a:prstGeom prst="rect">
            <a:avLst/>
          </a:prstGeom>
          <a:noFill/>
          <a:ln/>
        </p:spPr>
        <p:txBody>
          <a:bodyPr wrap="none" lIns="0" tIns="0" rIns="0" bIns="0" rtlCol="0" anchor="t"/>
          <a:lstStyle/>
          <a:p>
            <a:pPr marL="0" indent="0" algn="l">
              <a:lnSpc>
                <a:spcPts val="1900"/>
              </a:lnSpc>
              <a:buNone/>
            </a:pPr>
            <a:r>
              <a:rPr lang="en-US" sz="1350" dirty="0">
                <a:solidFill>
                  <a:srgbClr val="49495A"/>
                </a:solidFill>
                <a:latin typeface="Arial" panose="020B0604020202020204" pitchFamily="34" charset="0"/>
                <a:ea typeface="Open Sans" pitchFamily="34" charset="-122"/>
                <a:cs typeface="Arial" panose="020B0604020202020204" pitchFamily="34" charset="0"/>
              </a:rPr>
              <a:t>Tránh gian lận, luôn ghi nhận nguồn khi sử dụng AI</a:t>
            </a:r>
            <a:endParaRPr lang="en-US" sz="1350" dirty="0">
              <a:latin typeface="Arial" panose="020B0604020202020204" pitchFamily="34" charset="0"/>
              <a:cs typeface="Arial" panose="020B0604020202020204" pitchFamily="34" charset="0"/>
            </a:endParaRPr>
          </a:p>
        </p:txBody>
      </p:sp>
      <p:sp>
        <p:nvSpPr>
          <p:cNvPr id="20" name="Shape 17"/>
          <p:cNvSpPr/>
          <p:nvPr/>
        </p:nvSpPr>
        <p:spPr>
          <a:xfrm>
            <a:off x="974646" y="5211485"/>
            <a:ext cx="520422" cy="22860"/>
          </a:xfrm>
          <a:prstGeom prst="roundRect">
            <a:avLst>
              <a:gd name="adj" fmla="val 113842"/>
            </a:avLst>
          </a:prstGeom>
          <a:solidFill>
            <a:srgbClr val="D0CED9"/>
          </a:solidFill>
          <a:ln/>
        </p:spPr>
      </p:sp>
      <p:sp>
        <p:nvSpPr>
          <p:cNvPr id="21" name="Shape 18"/>
          <p:cNvSpPr/>
          <p:nvPr/>
        </p:nvSpPr>
        <p:spPr>
          <a:xfrm>
            <a:off x="607219" y="5027771"/>
            <a:ext cx="390287" cy="390287"/>
          </a:xfrm>
          <a:prstGeom prst="roundRect">
            <a:avLst>
              <a:gd name="adj" fmla="val 6668"/>
            </a:avLst>
          </a:prstGeom>
          <a:solidFill>
            <a:srgbClr val="EAE8F3"/>
          </a:solidFill>
          <a:ln/>
        </p:spPr>
      </p:sp>
      <p:sp>
        <p:nvSpPr>
          <p:cNvPr id="22" name="Text 19"/>
          <p:cNvSpPr/>
          <p:nvPr/>
        </p:nvSpPr>
        <p:spPr>
          <a:xfrm>
            <a:off x="672286" y="5060275"/>
            <a:ext cx="260152" cy="325279"/>
          </a:xfrm>
          <a:prstGeom prst="rect">
            <a:avLst/>
          </a:prstGeom>
          <a:noFill/>
          <a:ln/>
        </p:spPr>
        <p:txBody>
          <a:bodyPr wrap="none" lIns="0" tIns="0" rIns="0" bIns="0" rtlCol="0" anchor="t"/>
          <a:lstStyle/>
          <a:p>
            <a:pPr marL="0" indent="0" algn="ctr">
              <a:lnSpc>
                <a:spcPts val="2000"/>
              </a:lnSpc>
              <a:buNone/>
            </a:pPr>
            <a:r>
              <a:rPr lang="en-US" sz="2000" dirty="0">
                <a:solidFill>
                  <a:srgbClr val="49495A"/>
                </a:solidFill>
                <a:latin typeface="Arial" panose="020B0604020202020204" pitchFamily="34" charset="0"/>
                <a:ea typeface="Libre Baskerville" pitchFamily="34" charset="-122"/>
                <a:cs typeface="Arial" panose="020B0604020202020204" pitchFamily="34" charset="0"/>
              </a:rPr>
              <a:t>4</a:t>
            </a:r>
            <a:endParaRPr lang="en-US" sz="2000" dirty="0">
              <a:latin typeface="Arial" panose="020B0604020202020204" pitchFamily="34" charset="0"/>
              <a:cs typeface="Arial" panose="020B0604020202020204" pitchFamily="34" charset="0"/>
            </a:endParaRPr>
          </a:p>
        </p:txBody>
      </p:sp>
      <p:sp>
        <p:nvSpPr>
          <p:cNvPr id="23" name="Text 20"/>
          <p:cNvSpPr/>
          <p:nvPr/>
        </p:nvSpPr>
        <p:spPr>
          <a:xfrm>
            <a:off x="1669852" y="5087303"/>
            <a:ext cx="2168604" cy="270986"/>
          </a:xfrm>
          <a:prstGeom prst="rect">
            <a:avLst/>
          </a:prstGeom>
          <a:noFill/>
          <a:ln/>
        </p:spPr>
        <p:txBody>
          <a:bodyPr wrap="none" lIns="0" tIns="0" rIns="0" bIns="0" rtlCol="0" anchor="t"/>
          <a:lstStyle/>
          <a:p>
            <a:pPr marL="0" indent="0" algn="l">
              <a:lnSpc>
                <a:spcPts val="2100"/>
              </a:lnSpc>
              <a:buNone/>
            </a:pPr>
            <a:r>
              <a:rPr lang="en-US" sz="1700" b="1" dirty="0">
                <a:solidFill>
                  <a:srgbClr val="49495A"/>
                </a:solidFill>
                <a:latin typeface="Arial" panose="020B0604020202020204" pitchFamily="34" charset="0"/>
                <a:ea typeface="Libre Baskerville" pitchFamily="34" charset="-122"/>
                <a:cs typeface="Arial" panose="020B0604020202020204" pitchFamily="34" charset="0"/>
              </a:rPr>
              <a:t>Phát Triển Tư Duy</a:t>
            </a:r>
            <a:endParaRPr lang="en-US" sz="1700" b="1" dirty="0">
              <a:latin typeface="Arial" panose="020B0604020202020204" pitchFamily="34" charset="0"/>
              <a:cs typeface="Arial" panose="020B0604020202020204" pitchFamily="34" charset="0"/>
            </a:endParaRPr>
          </a:p>
        </p:txBody>
      </p:sp>
      <p:sp>
        <p:nvSpPr>
          <p:cNvPr id="24" name="Text 21"/>
          <p:cNvSpPr/>
          <p:nvPr/>
        </p:nvSpPr>
        <p:spPr>
          <a:xfrm>
            <a:off x="1669852" y="5437822"/>
            <a:ext cx="6866930" cy="244912"/>
          </a:xfrm>
          <a:prstGeom prst="rect">
            <a:avLst/>
          </a:prstGeom>
          <a:noFill/>
          <a:ln/>
        </p:spPr>
        <p:txBody>
          <a:bodyPr wrap="none" lIns="0" tIns="0" rIns="0" bIns="0" rtlCol="0" anchor="t"/>
          <a:lstStyle/>
          <a:p>
            <a:pPr marL="0" indent="0" algn="l">
              <a:lnSpc>
                <a:spcPts val="1900"/>
              </a:lnSpc>
              <a:buNone/>
            </a:pPr>
            <a:r>
              <a:rPr lang="en-US" sz="1350" dirty="0">
                <a:solidFill>
                  <a:srgbClr val="49495A"/>
                </a:solidFill>
                <a:latin typeface="Arial" panose="020B0604020202020204" pitchFamily="34" charset="0"/>
                <a:ea typeface="Open Sans" pitchFamily="34" charset="-122"/>
                <a:cs typeface="Arial" panose="020B0604020202020204" pitchFamily="34" charset="0"/>
              </a:rPr>
              <a:t>Sử dụng AI như người đồng hành, không phụ thuộc hoàn toàn</a:t>
            </a:r>
            <a:endParaRPr lang="en-US" sz="1350" dirty="0">
              <a:latin typeface="Arial" panose="020B0604020202020204" pitchFamily="34" charset="0"/>
              <a:cs typeface="Arial" panose="020B0604020202020204" pitchFamily="34" charset="0"/>
            </a:endParaRPr>
          </a:p>
        </p:txBody>
      </p:sp>
      <p:sp>
        <p:nvSpPr>
          <p:cNvPr id="25" name="Shape 22"/>
          <p:cNvSpPr/>
          <p:nvPr/>
        </p:nvSpPr>
        <p:spPr>
          <a:xfrm>
            <a:off x="607219" y="5831919"/>
            <a:ext cx="7929563" cy="871895"/>
          </a:xfrm>
          <a:prstGeom prst="roundRect">
            <a:avLst>
              <a:gd name="adj" fmla="val 2985"/>
            </a:avLst>
          </a:prstGeom>
          <a:solidFill>
            <a:srgbClr val="C3C2F0"/>
          </a:solidFill>
          <a:ln/>
        </p:spPr>
      </p:sp>
      <p:pic>
        <p:nvPicPr>
          <p:cNvPr id="26" name="Image 1" descr="preencoded.png"/>
          <p:cNvPicPr>
            <a:picLocks noChangeAspect="1"/>
          </p:cNvPicPr>
          <p:nvPr/>
        </p:nvPicPr>
        <p:blipFill>
          <a:blip r:embed="rId4"/>
          <a:stretch>
            <a:fillRect/>
          </a:stretch>
        </p:blipFill>
        <p:spPr>
          <a:xfrm>
            <a:off x="780693" y="6079808"/>
            <a:ext cx="216813" cy="173474"/>
          </a:xfrm>
          <a:prstGeom prst="rect">
            <a:avLst/>
          </a:prstGeom>
        </p:spPr>
      </p:pic>
      <p:sp>
        <p:nvSpPr>
          <p:cNvPr id="27" name="Text 23"/>
          <p:cNvSpPr/>
          <p:nvPr/>
        </p:nvSpPr>
        <p:spPr>
          <a:xfrm>
            <a:off x="1170980" y="6007894"/>
            <a:ext cx="7192328" cy="489823"/>
          </a:xfrm>
          <a:prstGeom prst="rect">
            <a:avLst/>
          </a:prstGeom>
          <a:noFill/>
          <a:ln/>
        </p:spPr>
        <p:txBody>
          <a:bodyPr wrap="square" lIns="0" tIns="0" rIns="0" bIns="0" rtlCol="0" anchor="t"/>
          <a:lstStyle/>
          <a:p>
            <a:pPr marL="0" indent="0" algn="l">
              <a:lnSpc>
                <a:spcPts val="1900"/>
              </a:lnSpc>
              <a:buNone/>
            </a:pPr>
            <a:r>
              <a:rPr lang="en-US" sz="1350" b="1" dirty="0">
                <a:solidFill>
                  <a:srgbClr val="000000"/>
                </a:solidFill>
                <a:latin typeface="Arial" panose="020B0604020202020204" pitchFamily="34" charset="0"/>
                <a:ea typeface="Open Sans" pitchFamily="34" charset="-122"/>
                <a:cs typeface="Arial" panose="020B0604020202020204" pitchFamily="34" charset="0"/>
              </a:rPr>
              <a:t>Lưu ý quan trọng:</a:t>
            </a:r>
            <a:r>
              <a:rPr lang="en-US" sz="1350" dirty="0">
                <a:solidFill>
                  <a:srgbClr val="000000"/>
                </a:solidFill>
                <a:latin typeface="Arial" panose="020B0604020202020204" pitchFamily="34" charset="0"/>
                <a:ea typeface="Open Sans" pitchFamily="34" charset="-122"/>
                <a:cs typeface="Arial" panose="020B0604020202020204" pitchFamily="34" charset="0"/>
              </a:rPr>
              <a:t> AI là công cụ hỗ trợ tuyệt vời, nhưng khả năng tư duy, sáng tạo và phán đoán của con người vẫn là điều không thể thay thế.</a:t>
            </a:r>
            <a:endParaRPr lang="en-US" sz="1350" dirty="0">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845231"/>
            <a:ext cx="11199019"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Arial" panose="020B0604020202020204" pitchFamily="34" charset="0"/>
                <a:ea typeface="Libre Baskerville" pitchFamily="34" charset="-122"/>
                <a:cs typeface="Arial" panose="020B0604020202020204" pitchFamily="34" charset="0"/>
              </a:rPr>
              <a:t>Bảo vệ quyền riêng tư trong thế giới số</a:t>
            </a:r>
            <a:endParaRPr lang="en-US" sz="4450" dirty="0">
              <a:latin typeface="Arial" panose="020B0604020202020204" pitchFamily="34" charset="0"/>
              <a:cs typeface="Arial" panose="020B0604020202020204" pitchFamily="34" charset="0"/>
            </a:endParaRPr>
          </a:p>
        </p:txBody>
      </p:sp>
      <p:sp>
        <p:nvSpPr>
          <p:cNvPr id="3" name="Text 1"/>
          <p:cNvSpPr/>
          <p:nvPr/>
        </p:nvSpPr>
        <p:spPr>
          <a:xfrm>
            <a:off x="793790" y="3007638"/>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Trong kỷ nguyên số, thông tin cá nhân là tài sản quý giá cần được bảo vệ. Mỗi lần chia sẻ trên mạng đều để lại dấu vết kỹ thuật số có thể ảnh hưởng đến tương lai của bạn.</a:t>
            </a:r>
            <a:endParaRPr lang="en-US" sz="1750" dirty="0">
              <a:latin typeface="Arial" panose="020B0604020202020204" pitchFamily="34" charset="0"/>
              <a:cs typeface="Arial" panose="020B0604020202020204" pitchFamily="34" charset="0"/>
            </a:endParaRPr>
          </a:p>
        </p:txBody>
      </p:sp>
      <p:sp>
        <p:nvSpPr>
          <p:cNvPr id="4" name="Shape 2"/>
          <p:cNvSpPr/>
          <p:nvPr/>
        </p:nvSpPr>
        <p:spPr>
          <a:xfrm>
            <a:off x="793790" y="3988594"/>
            <a:ext cx="4196358" cy="2395657"/>
          </a:xfrm>
          <a:prstGeom prst="roundRect">
            <a:avLst>
              <a:gd name="adj" fmla="val 1420"/>
            </a:avLst>
          </a:prstGeom>
          <a:solidFill>
            <a:srgbClr val="EAE8F3"/>
          </a:solidFill>
          <a:ln/>
        </p:spPr>
      </p:sp>
      <p:sp>
        <p:nvSpPr>
          <p:cNvPr id="5" name="Text 3"/>
          <p:cNvSpPr/>
          <p:nvPr/>
        </p:nvSpPr>
        <p:spPr>
          <a:xfrm>
            <a:off x="1020604" y="4215408"/>
            <a:ext cx="3714750"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Arial" panose="020B0604020202020204" pitchFamily="34" charset="0"/>
                <a:ea typeface="Libre Baskerville" pitchFamily="34" charset="-122"/>
                <a:cs typeface="Arial" panose="020B0604020202020204" pitchFamily="34" charset="0"/>
              </a:rPr>
              <a:t>Suy nghĩ trước khi chia sẻ</a:t>
            </a:r>
            <a:endParaRPr lang="en-US" sz="2200" dirty="0">
              <a:latin typeface="Arial" panose="020B0604020202020204" pitchFamily="34" charset="0"/>
              <a:cs typeface="Arial" panose="020B0604020202020204" pitchFamily="34" charset="0"/>
            </a:endParaRPr>
          </a:p>
        </p:txBody>
      </p:sp>
      <p:sp>
        <p:nvSpPr>
          <p:cNvPr id="6" name="Text 4"/>
          <p:cNvSpPr/>
          <p:nvPr/>
        </p:nvSpPr>
        <p:spPr>
          <a:xfrm>
            <a:off x="1020604" y="4705826"/>
            <a:ext cx="3742730" cy="145161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Hãy tự hỏi: Thông tin này có cần thiết không? Ai có thể nhìn thấy nó? Nó có ảnh hưởng gì đến tôi sau này?</a:t>
            </a:r>
            <a:endParaRPr lang="en-US" sz="1750" dirty="0">
              <a:latin typeface="Arial" panose="020B0604020202020204" pitchFamily="34" charset="0"/>
              <a:cs typeface="Arial" panose="020B0604020202020204" pitchFamily="34" charset="0"/>
            </a:endParaRPr>
          </a:p>
        </p:txBody>
      </p:sp>
      <p:sp>
        <p:nvSpPr>
          <p:cNvPr id="7" name="Shape 5"/>
          <p:cNvSpPr/>
          <p:nvPr/>
        </p:nvSpPr>
        <p:spPr>
          <a:xfrm>
            <a:off x="5216962" y="3988594"/>
            <a:ext cx="4196358" cy="2395657"/>
          </a:xfrm>
          <a:prstGeom prst="roundRect">
            <a:avLst>
              <a:gd name="adj" fmla="val 1420"/>
            </a:avLst>
          </a:prstGeom>
          <a:solidFill>
            <a:srgbClr val="EAE8F3"/>
          </a:solidFill>
          <a:ln/>
        </p:spPr>
      </p:sp>
      <p:sp>
        <p:nvSpPr>
          <p:cNvPr id="8" name="Text 6"/>
          <p:cNvSpPr/>
          <p:nvPr/>
        </p:nvSpPr>
        <p:spPr>
          <a:xfrm>
            <a:off x="5443776" y="4215408"/>
            <a:ext cx="3107888"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Arial" panose="020B0604020202020204" pitchFamily="34" charset="0"/>
                <a:ea typeface="Libre Baskerville" pitchFamily="34" charset="-122"/>
                <a:cs typeface="Arial" panose="020B0604020202020204" pitchFamily="34" charset="0"/>
              </a:rPr>
              <a:t>Tôn trọng người khác</a:t>
            </a:r>
            <a:endParaRPr lang="en-US" sz="2200" dirty="0">
              <a:latin typeface="Arial" panose="020B0604020202020204" pitchFamily="34" charset="0"/>
              <a:cs typeface="Arial" panose="020B0604020202020204" pitchFamily="34" charset="0"/>
            </a:endParaRPr>
          </a:p>
        </p:txBody>
      </p:sp>
      <p:sp>
        <p:nvSpPr>
          <p:cNvPr id="9" name="Text 7"/>
          <p:cNvSpPr/>
          <p:nvPr/>
        </p:nvSpPr>
        <p:spPr>
          <a:xfrm>
            <a:off x="5443776" y="4705826"/>
            <a:ext cx="3742730" cy="145161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Không đăng hình ảnh hay thông tin của bạn bè mà chưa xin phép. Quyền riêng tư của họ cũng quan trọng như của bạn.</a:t>
            </a:r>
            <a:endParaRPr lang="en-US" sz="1750" dirty="0">
              <a:latin typeface="Arial" panose="020B0604020202020204" pitchFamily="34" charset="0"/>
              <a:cs typeface="Arial" panose="020B0604020202020204" pitchFamily="34" charset="0"/>
            </a:endParaRPr>
          </a:p>
        </p:txBody>
      </p:sp>
      <p:sp>
        <p:nvSpPr>
          <p:cNvPr id="10" name="Shape 8"/>
          <p:cNvSpPr/>
          <p:nvPr/>
        </p:nvSpPr>
        <p:spPr>
          <a:xfrm>
            <a:off x="9640133" y="3988594"/>
            <a:ext cx="4196358" cy="2395657"/>
          </a:xfrm>
          <a:prstGeom prst="roundRect">
            <a:avLst>
              <a:gd name="adj" fmla="val 1420"/>
            </a:avLst>
          </a:prstGeom>
          <a:solidFill>
            <a:srgbClr val="EAE8F3"/>
          </a:solidFill>
          <a:ln/>
        </p:spPr>
      </p:sp>
      <p:sp>
        <p:nvSpPr>
          <p:cNvPr id="11" name="Text 9"/>
          <p:cNvSpPr/>
          <p:nvPr/>
        </p:nvSpPr>
        <p:spPr>
          <a:xfrm>
            <a:off x="9866948" y="421540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Arial" panose="020B0604020202020204" pitchFamily="34" charset="0"/>
                <a:ea typeface="Libre Baskerville" pitchFamily="34" charset="-122"/>
                <a:cs typeface="Arial" panose="020B0604020202020204" pitchFamily="34" charset="0"/>
              </a:rPr>
              <a:t>Cài đặt bảo mật</a:t>
            </a:r>
            <a:endParaRPr lang="en-US" sz="2200" dirty="0">
              <a:latin typeface="Arial" panose="020B0604020202020204" pitchFamily="34" charset="0"/>
              <a:cs typeface="Arial" panose="020B0604020202020204" pitchFamily="34" charset="0"/>
            </a:endParaRPr>
          </a:p>
        </p:txBody>
      </p:sp>
      <p:sp>
        <p:nvSpPr>
          <p:cNvPr id="12" name="Text 10"/>
          <p:cNvSpPr/>
          <p:nvPr/>
        </p:nvSpPr>
        <p:spPr>
          <a:xfrm>
            <a:off x="9866948" y="4705826"/>
            <a:ext cx="3742730" cy="1088708"/>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Kiểm tra và cập nhật cài đặt quyền riêng tư trên các nền tảng mạng xã hội thường xuyên.</a:t>
            </a:r>
            <a:endParaRPr lang="en-US" sz="1750"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29507B23-149C-8F7F-3100-96372D1A5B50}"/>
              </a:ext>
            </a:extLst>
          </p:cNvPr>
          <p:cNvSpPr/>
          <p:nvPr/>
        </p:nvSpPr>
        <p:spPr>
          <a:xfrm>
            <a:off x="12649163" y="7798085"/>
            <a:ext cx="1921267" cy="308225"/>
          </a:xfrm>
          <a:prstGeom prst="rect">
            <a:avLst/>
          </a:prstGeom>
          <a:solidFill>
            <a:srgbClr val="FB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99805" y="974169"/>
            <a:ext cx="8896231" cy="544830"/>
          </a:xfrm>
          <a:prstGeom prst="rect">
            <a:avLst/>
          </a:prstGeom>
          <a:noFill/>
          <a:ln/>
        </p:spPr>
        <p:txBody>
          <a:bodyPr wrap="none" lIns="0" tIns="0" rIns="0" bIns="0" rtlCol="0" anchor="t"/>
          <a:lstStyle/>
          <a:p>
            <a:pPr marL="0" indent="0" algn="l">
              <a:lnSpc>
                <a:spcPts val="4250"/>
              </a:lnSpc>
              <a:buNone/>
            </a:pPr>
            <a:r>
              <a:rPr lang="en-US" sz="3400" dirty="0">
                <a:solidFill>
                  <a:srgbClr val="403CCF"/>
                </a:solidFill>
                <a:latin typeface="Arial" panose="020B0604020202020204" pitchFamily="34" charset="0"/>
                <a:ea typeface="Libre Baskerville" pitchFamily="34" charset="-122"/>
                <a:cs typeface="Arial" panose="020B0604020202020204" pitchFamily="34" charset="0"/>
              </a:rPr>
              <a:t>Tư duy phản biện - Vũ khí chống tin giả</a:t>
            </a:r>
            <a:endParaRPr lang="en-US" sz="3400" dirty="0">
              <a:latin typeface="Arial" panose="020B0604020202020204" pitchFamily="34" charset="0"/>
              <a:cs typeface="Arial" panose="020B0604020202020204" pitchFamily="34" charset="0"/>
            </a:endParaRPr>
          </a:p>
        </p:txBody>
      </p:sp>
      <p:pic>
        <p:nvPicPr>
          <p:cNvPr id="3" name="Image 0" descr="preencoded.png"/>
          <p:cNvPicPr>
            <a:picLocks noChangeAspect="1"/>
          </p:cNvPicPr>
          <p:nvPr/>
        </p:nvPicPr>
        <p:blipFill>
          <a:blip r:embed="rId3"/>
          <a:stretch>
            <a:fillRect/>
          </a:stretch>
        </p:blipFill>
        <p:spPr>
          <a:xfrm>
            <a:off x="1299805" y="1897737"/>
            <a:ext cx="5179814" cy="5179814"/>
          </a:xfrm>
          <a:prstGeom prst="rect">
            <a:avLst/>
          </a:prstGeom>
        </p:spPr>
      </p:pic>
      <p:sp>
        <p:nvSpPr>
          <p:cNvPr id="4" name="Text 1"/>
          <p:cNvSpPr/>
          <p:nvPr/>
        </p:nvSpPr>
        <p:spPr>
          <a:xfrm>
            <a:off x="6912531" y="1840587"/>
            <a:ext cx="6425446" cy="493157"/>
          </a:xfrm>
          <a:prstGeom prst="rect">
            <a:avLst/>
          </a:prstGeom>
          <a:noFill/>
          <a:ln/>
        </p:spPr>
        <p:txBody>
          <a:bodyPr wrap="square" lIns="0" tIns="0" rIns="0" bIns="0" rtlCol="0" anchor="t"/>
          <a:lstStyle/>
          <a:p>
            <a:pPr marL="0" indent="0" algn="l">
              <a:lnSpc>
                <a:spcPts val="1900"/>
              </a:lnSpc>
              <a:buNone/>
            </a:pPr>
            <a:r>
              <a:rPr lang="en-US" sz="1350" dirty="0">
                <a:solidFill>
                  <a:srgbClr val="49495A"/>
                </a:solidFill>
                <a:latin typeface="Arial" panose="020B0604020202020204" pitchFamily="34" charset="0"/>
                <a:ea typeface="Open Sans" pitchFamily="34" charset="-122"/>
                <a:cs typeface="Arial" panose="020B0604020202020204" pitchFamily="34" charset="0"/>
              </a:rPr>
              <a:t>Trên internet, không phải mọi thứ đều đúng. Khả năng phân biệt thông tin thật - giả là kỹ năng sống còn trong thời đại này.</a:t>
            </a:r>
            <a:endParaRPr lang="en-US" sz="1350" dirty="0">
              <a:latin typeface="Arial" panose="020B0604020202020204" pitchFamily="34" charset="0"/>
              <a:cs typeface="Arial" panose="020B0604020202020204" pitchFamily="34" charset="0"/>
            </a:endParaRPr>
          </a:p>
        </p:txBody>
      </p:sp>
      <p:sp>
        <p:nvSpPr>
          <p:cNvPr id="5" name="Text 2"/>
          <p:cNvSpPr/>
          <p:nvPr/>
        </p:nvSpPr>
        <p:spPr>
          <a:xfrm>
            <a:off x="6912531" y="2484477"/>
            <a:ext cx="174308" cy="217884"/>
          </a:xfrm>
          <a:prstGeom prst="rect">
            <a:avLst/>
          </a:prstGeom>
          <a:noFill/>
          <a:ln/>
        </p:spPr>
        <p:txBody>
          <a:bodyPr wrap="none" lIns="0" tIns="0" rIns="0" bIns="0" rtlCol="0" anchor="t"/>
          <a:lstStyle/>
          <a:p>
            <a:pPr marL="0" indent="0" algn="l">
              <a:lnSpc>
                <a:spcPts val="1900"/>
              </a:lnSpc>
              <a:buNone/>
            </a:pPr>
            <a:r>
              <a:rPr lang="en-US" sz="1350" dirty="0">
                <a:solidFill>
                  <a:srgbClr val="49495A"/>
                </a:solidFill>
                <a:latin typeface="Arial" panose="020B0604020202020204" pitchFamily="34" charset="0"/>
                <a:ea typeface="Libre Baskerville Light" pitchFamily="34" charset="-122"/>
                <a:cs typeface="Arial" panose="020B0604020202020204" pitchFamily="34" charset="0"/>
              </a:rPr>
              <a:t>01</a:t>
            </a:r>
            <a:endParaRPr lang="en-US" sz="1350" dirty="0">
              <a:latin typeface="Arial" panose="020B0604020202020204" pitchFamily="34" charset="0"/>
              <a:cs typeface="Arial" panose="020B0604020202020204" pitchFamily="34" charset="0"/>
            </a:endParaRPr>
          </a:p>
        </p:txBody>
      </p:sp>
      <p:pic>
        <p:nvPicPr>
          <p:cNvPr id="6" name="Image 1" descr="preencoded.png"/>
          <p:cNvPicPr>
            <a:picLocks noChangeAspect="1"/>
          </p:cNvPicPr>
          <p:nvPr/>
        </p:nvPicPr>
        <p:blipFill>
          <a:blip r:embed="rId4"/>
          <a:stretch>
            <a:fillRect/>
          </a:stretch>
        </p:blipFill>
        <p:spPr>
          <a:xfrm>
            <a:off x="6912531" y="2757845"/>
            <a:ext cx="6425446" cy="22860"/>
          </a:xfrm>
          <a:prstGeom prst="rect">
            <a:avLst/>
          </a:prstGeom>
        </p:spPr>
      </p:pic>
      <p:sp>
        <p:nvSpPr>
          <p:cNvPr id="7" name="Text 3"/>
          <p:cNvSpPr/>
          <p:nvPr/>
        </p:nvSpPr>
        <p:spPr>
          <a:xfrm>
            <a:off x="6912531" y="2890718"/>
            <a:ext cx="2200394" cy="272415"/>
          </a:xfrm>
          <a:prstGeom prst="rect">
            <a:avLst/>
          </a:prstGeom>
          <a:noFill/>
          <a:ln/>
        </p:spPr>
        <p:txBody>
          <a:bodyPr wrap="none" lIns="0" tIns="0" rIns="0" bIns="0" rtlCol="0" anchor="t"/>
          <a:lstStyle/>
          <a:p>
            <a:pPr marL="0" indent="0" algn="l">
              <a:lnSpc>
                <a:spcPts val="2100"/>
              </a:lnSpc>
              <a:buNone/>
            </a:pPr>
            <a:r>
              <a:rPr lang="en-US" sz="1700" dirty="0">
                <a:solidFill>
                  <a:srgbClr val="49495A"/>
                </a:solidFill>
                <a:latin typeface="Arial" panose="020B0604020202020204" pitchFamily="34" charset="0"/>
                <a:ea typeface="Libre Baskerville" pitchFamily="34" charset="-122"/>
                <a:cs typeface="Arial" panose="020B0604020202020204" pitchFamily="34" charset="0"/>
              </a:rPr>
              <a:t>Kiểm tra nguồn gốc</a:t>
            </a:r>
            <a:endParaRPr lang="en-US" sz="1700" dirty="0">
              <a:latin typeface="Arial" panose="020B0604020202020204" pitchFamily="34" charset="0"/>
              <a:cs typeface="Arial" panose="020B0604020202020204" pitchFamily="34" charset="0"/>
            </a:endParaRPr>
          </a:p>
        </p:txBody>
      </p:sp>
      <p:sp>
        <p:nvSpPr>
          <p:cNvPr id="8" name="Text 4"/>
          <p:cNvSpPr/>
          <p:nvPr/>
        </p:nvSpPr>
        <p:spPr>
          <a:xfrm>
            <a:off x="6912531" y="3297079"/>
            <a:ext cx="6425446" cy="246578"/>
          </a:xfrm>
          <a:prstGeom prst="rect">
            <a:avLst/>
          </a:prstGeom>
          <a:noFill/>
          <a:ln/>
        </p:spPr>
        <p:txBody>
          <a:bodyPr wrap="none" lIns="0" tIns="0" rIns="0" bIns="0" rtlCol="0" anchor="t"/>
          <a:lstStyle/>
          <a:p>
            <a:pPr marL="0" indent="0" algn="l">
              <a:lnSpc>
                <a:spcPts val="1900"/>
              </a:lnSpc>
              <a:buNone/>
            </a:pPr>
            <a:r>
              <a:rPr lang="en-US" sz="1350" dirty="0">
                <a:solidFill>
                  <a:srgbClr val="49495A"/>
                </a:solidFill>
                <a:latin typeface="Arial" panose="020B0604020202020204" pitchFamily="34" charset="0"/>
                <a:ea typeface="Open Sans" pitchFamily="34" charset="-122"/>
                <a:cs typeface="Arial" panose="020B0604020202020204" pitchFamily="34" charset="0"/>
              </a:rPr>
              <a:t>Thông tin đến từ đâu? Tác giả có uy tín không?</a:t>
            </a:r>
            <a:endParaRPr lang="en-US" sz="1350" dirty="0">
              <a:latin typeface="Arial" panose="020B0604020202020204" pitchFamily="34" charset="0"/>
              <a:cs typeface="Arial" panose="020B0604020202020204" pitchFamily="34" charset="0"/>
            </a:endParaRPr>
          </a:p>
        </p:txBody>
      </p:sp>
      <p:sp>
        <p:nvSpPr>
          <p:cNvPr id="9" name="Text 5"/>
          <p:cNvSpPr/>
          <p:nvPr/>
        </p:nvSpPr>
        <p:spPr>
          <a:xfrm>
            <a:off x="6912531" y="3808333"/>
            <a:ext cx="174308" cy="217884"/>
          </a:xfrm>
          <a:prstGeom prst="rect">
            <a:avLst/>
          </a:prstGeom>
          <a:noFill/>
          <a:ln/>
        </p:spPr>
        <p:txBody>
          <a:bodyPr wrap="none" lIns="0" tIns="0" rIns="0" bIns="0" rtlCol="0" anchor="t"/>
          <a:lstStyle/>
          <a:p>
            <a:pPr marL="0" indent="0" algn="l">
              <a:lnSpc>
                <a:spcPts val="1900"/>
              </a:lnSpc>
              <a:buNone/>
            </a:pPr>
            <a:r>
              <a:rPr lang="en-US" sz="1350" dirty="0">
                <a:solidFill>
                  <a:srgbClr val="49495A"/>
                </a:solidFill>
                <a:latin typeface="Arial" panose="020B0604020202020204" pitchFamily="34" charset="0"/>
                <a:ea typeface="Libre Baskerville Light" pitchFamily="34" charset="-122"/>
                <a:cs typeface="Arial" panose="020B0604020202020204" pitchFamily="34" charset="0"/>
              </a:rPr>
              <a:t>02</a:t>
            </a:r>
            <a:endParaRPr lang="en-US" sz="1350" dirty="0">
              <a:latin typeface="Arial" panose="020B0604020202020204" pitchFamily="34" charset="0"/>
              <a:cs typeface="Arial" panose="020B0604020202020204" pitchFamily="34" charset="0"/>
            </a:endParaRPr>
          </a:p>
        </p:txBody>
      </p:sp>
      <p:pic>
        <p:nvPicPr>
          <p:cNvPr id="10" name="Image 2" descr="preencoded.png"/>
          <p:cNvPicPr>
            <a:picLocks noChangeAspect="1"/>
          </p:cNvPicPr>
          <p:nvPr/>
        </p:nvPicPr>
        <p:blipFill>
          <a:blip r:embed="rId4"/>
          <a:stretch>
            <a:fillRect/>
          </a:stretch>
        </p:blipFill>
        <p:spPr>
          <a:xfrm>
            <a:off x="6912531" y="4064318"/>
            <a:ext cx="6425446" cy="22860"/>
          </a:xfrm>
          <a:prstGeom prst="rect">
            <a:avLst/>
          </a:prstGeom>
        </p:spPr>
      </p:pic>
      <p:sp>
        <p:nvSpPr>
          <p:cNvPr id="11" name="Text 6"/>
          <p:cNvSpPr/>
          <p:nvPr/>
        </p:nvSpPr>
        <p:spPr>
          <a:xfrm>
            <a:off x="6912531" y="4214574"/>
            <a:ext cx="2179439" cy="272415"/>
          </a:xfrm>
          <a:prstGeom prst="rect">
            <a:avLst/>
          </a:prstGeom>
          <a:noFill/>
          <a:ln/>
        </p:spPr>
        <p:txBody>
          <a:bodyPr wrap="none" lIns="0" tIns="0" rIns="0" bIns="0" rtlCol="0" anchor="t"/>
          <a:lstStyle/>
          <a:p>
            <a:pPr marL="0" indent="0" algn="l">
              <a:lnSpc>
                <a:spcPts val="2100"/>
              </a:lnSpc>
              <a:buNone/>
            </a:pPr>
            <a:r>
              <a:rPr lang="en-US" sz="1700" dirty="0">
                <a:solidFill>
                  <a:srgbClr val="49495A"/>
                </a:solidFill>
                <a:latin typeface="Arial" panose="020B0604020202020204" pitchFamily="34" charset="0"/>
                <a:ea typeface="Libre Baskerville" pitchFamily="34" charset="-122"/>
                <a:cs typeface="Arial" panose="020B0604020202020204" pitchFamily="34" charset="0"/>
              </a:rPr>
              <a:t>Tìm kiếm thêm</a:t>
            </a:r>
            <a:endParaRPr lang="en-US" sz="1700" dirty="0">
              <a:latin typeface="Arial" panose="020B0604020202020204" pitchFamily="34" charset="0"/>
              <a:cs typeface="Arial" panose="020B0604020202020204" pitchFamily="34" charset="0"/>
            </a:endParaRPr>
          </a:p>
        </p:txBody>
      </p:sp>
      <p:sp>
        <p:nvSpPr>
          <p:cNvPr id="12" name="Text 7"/>
          <p:cNvSpPr/>
          <p:nvPr/>
        </p:nvSpPr>
        <p:spPr>
          <a:xfrm>
            <a:off x="6912531" y="4620935"/>
            <a:ext cx="6425446" cy="246578"/>
          </a:xfrm>
          <a:prstGeom prst="rect">
            <a:avLst/>
          </a:prstGeom>
          <a:noFill/>
          <a:ln/>
        </p:spPr>
        <p:txBody>
          <a:bodyPr wrap="none" lIns="0" tIns="0" rIns="0" bIns="0" rtlCol="0" anchor="t"/>
          <a:lstStyle/>
          <a:p>
            <a:pPr marL="0" indent="0" algn="l">
              <a:lnSpc>
                <a:spcPts val="1900"/>
              </a:lnSpc>
              <a:buNone/>
            </a:pPr>
            <a:r>
              <a:rPr lang="en-US" sz="1350" dirty="0">
                <a:solidFill>
                  <a:srgbClr val="49495A"/>
                </a:solidFill>
                <a:latin typeface="Arial" panose="020B0604020202020204" pitchFamily="34" charset="0"/>
                <a:ea typeface="Open Sans" pitchFamily="34" charset="-122"/>
                <a:cs typeface="Arial" panose="020B0604020202020204" pitchFamily="34" charset="0"/>
              </a:rPr>
              <a:t>So sánh với nhiều nguồn tin khác nhau để xác minh.</a:t>
            </a:r>
            <a:endParaRPr lang="en-US" sz="1350" dirty="0">
              <a:latin typeface="Arial" panose="020B0604020202020204" pitchFamily="34" charset="0"/>
              <a:cs typeface="Arial" panose="020B0604020202020204" pitchFamily="34" charset="0"/>
            </a:endParaRPr>
          </a:p>
        </p:txBody>
      </p:sp>
      <p:sp>
        <p:nvSpPr>
          <p:cNvPr id="13" name="Text 8"/>
          <p:cNvSpPr/>
          <p:nvPr/>
        </p:nvSpPr>
        <p:spPr>
          <a:xfrm>
            <a:off x="6912531" y="5132189"/>
            <a:ext cx="174308" cy="217884"/>
          </a:xfrm>
          <a:prstGeom prst="rect">
            <a:avLst/>
          </a:prstGeom>
          <a:noFill/>
          <a:ln/>
        </p:spPr>
        <p:txBody>
          <a:bodyPr wrap="none" lIns="0" tIns="0" rIns="0" bIns="0" rtlCol="0" anchor="t"/>
          <a:lstStyle/>
          <a:p>
            <a:pPr marL="0" indent="0" algn="l">
              <a:lnSpc>
                <a:spcPts val="1900"/>
              </a:lnSpc>
              <a:buNone/>
            </a:pPr>
            <a:r>
              <a:rPr lang="en-US" sz="1350" dirty="0">
                <a:solidFill>
                  <a:srgbClr val="49495A"/>
                </a:solidFill>
                <a:latin typeface="Arial" panose="020B0604020202020204" pitchFamily="34" charset="0"/>
                <a:ea typeface="Libre Baskerville Light" pitchFamily="34" charset="-122"/>
                <a:cs typeface="Arial" panose="020B0604020202020204" pitchFamily="34" charset="0"/>
              </a:rPr>
              <a:t>03</a:t>
            </a:r>
            <a:endParaRPr lang="en-US" sz="1350" dirty="0">
              <a:latin typeface="Arial" panose="020B0604020202020204" pitchFamily="34" charset="0"/>
              <a:cs typeface="Arial" panose="020B0604020202020204" pitchFamily="34" charset="0"/>
            </a:endParaRPr>
          </a:p>
        </p:txBody>
      </p:sp>
      <p:pic>
        <p:nvPicPr>
          <p:cNvPr id="14" name="Image 3" descr="preencoded.png"/>
          <p:cNvPicPr>
            <a:picLocks noChangeAspect="1"/>
          </p:cNvPicPr>
          <p:nvPr/>
        </p:nvPicPr>
        <p:blipFill>
          <a:blip r:embed="rId4"/>
          <a:stretch>
            <a:fillRect/>
          </a:stretch>
        </p:blipFill>
        <p:spPr>
          <a:xfrm>
            <a:off x="6912531" y="5363051"/>
            <a:ext cx="6425446" cy="22860"/>
          </a:xfrm>
          <a:prstGeom prst="rect">
            <a:avLst/>
          </a:prstGeom>
        </p:spPr>
      </p:pic>
      <p:sp>
        <p:nvSpPr>
          <p:cNvPr id="15" name="Text 9"/>
          <p:cNvSpPr/>
          <p:nvPr/>
        </p:nvSpPr>
        <p:spPr>
          <a:xfrm>
            <a:off x="6912531" y="5538430"/>
            <a:ext cx="2179439" cy="272415"/>
          </a:xfrm>
          <a:prstGeom prst="rect">
            <a:avLst/>
          </a:prstGeom>
          <a:noFill/>
          <a:ln/>
        </p:spPr>
        <p:txBody>
          <a:bodyPr wrap="none" lIns="0" tIns="0" rIns="0" bIns="0" rtlCol="0" anchor="t"/>
          <a:lstStyle/>
          <a:p>
            <a:pPr marL="0" indent="0" algn="l">
              <a:lnSpc>
                <a:spcPts val="2100"/>
              </a:lnSpc>
              <a:buNone/>
            </a:pPr>
            <a:r>
              <a:rPr lang="en-US" sz="1700" dirty="0">
                <a:solidFill>
                  <a:srgbClr val="49495A"/>
                </a:solidFill>
                <a:latin typeface="Arial" panose="020B0604020202020204" pitchFamily="34" charset="0"/>
                <a:ea typeface="Libre Baskerville" pitchFamily="34" charset="-122"/>
                <a:cs typeface="Arial" panose="020B0604020202020204" pitchFamily="34" charset="0"/>
              </a:rPr>
              <a:t>Suy nghĩ logic</a:t>
            </a:r>
            <a:endParaRPr lang="en-US" sz="1700" dirty="0">
              <a:latin typeface="Arial" panose="020B0604020202020204" pitchFamily="34" charset="0"/>
              <a:cs typeface="Arial" panose="020B0604020202020204" pitchFamily="34" charset="0"/>
            </a:endParaRPr>
          </a:p>
        </p:txBody>
      </p:sp>
      <p:sp>
        <p:nvSpPr>
          <p:cNvPr id="16" name="Text 10"/>
          <p:cNvSpPr/>
          <p:nvPr/>
        </p:nvSpPr>
        <p:spPr>
          <a:xfrm>
            <a:off x="6912531" y="5944791"/>
            <a:ext cx="6425446" cy="246578"/>
          </a:xfrm>
          <a:prstGeom prst="rect">
            <a:avLst/>
          </a:prstGeom>
          <a:noFill/>
          <a:ln/>
        </p:spPr>
        <p:txBody>
          <a:bodyPr wrap="none" lIns="0" tIns="0" rIns="0" bIns="0" rtlCol="0" anchor="t"/>
          <a:lstStyle/>
          <a:p>
            <a:pPr marL="0" indent="0" algn="l">
              <a:lnSpc>
                <a:spcPts val="1900"/>
              </a:lnSpc>
              <a:buNone/>
            </a:pPr>
            <a:r>
              <a:rPr lang="en-US" sz="1350" dirty="0">
                <a:solidFill>
                  <a:srgbClr val="49495A"/>
                </a:solidFill>
                <a:latin typeface="Arial" panose="020B0604020202020204" pitchFamily="34" charset="0"/>
                <a:ea typeface="Open Sans" pitchFamily="34" charset="-122"/>
                <a:cs typeface="Arial" panose="020B0604020202020204" pitchFamily="34" charset="0"/>
              </a:rPr>
              <a:t>Thông tin có hợp lý không? Có mâu thuẫn nào không?</a:t>
            </a:r>
            <a:endParaRPr lang="en-US" sz="1350" dirty="0">
              <a:latin typeface="Arial" panose="020B0604020202020204" pitchFamily="34" charset="0"/>
              <a:cs typeface="Arial" panose="020B0604020202020204" pitchFamily="34" charset="0"/>
            </a:endParaRPr>
          </a:p>
        </p:txBody>
      </p:sp>
      <p:sp>
        <p:nvSpPr>
          <p:cNvPr id="17" name="Shape 11"/>
          <p:cNvSpPr/>
          <p:nvPr/>
        </p:nvSpPr>
        <p:spPr>
          <a:xfrm>
            <a:off x="6912531" y="6395561"/>
            <a:ext cx="6425446" cy="631865"/>
          </a:xfrm>
          <a:prstGeom prst="roundRect">
            <a:avLst>
              <a:gd name="adj" fmla="val 4139"/>
            </a:avLst>
          </a:prstGeom>
          <a:solidFill>
            <a:srgbClr val="C3C2F0"/>
          </a:solidFill>
          <a:ln/>
        </p:spPr>
      </p:sp>
      <p:pic>
        <p:nvPicPr>
          <p:cNvPr id="18" name="Image 4" descr="preencoded.png"/>
          <p:cNvPicPr>
            <a:picLocks noChangeAspect="1"/>
          </p:cNvPicPr>
          <p:nvPr/>
        </p:nvPicPr>
        <p:blipFill>
          <a:blip r:embed="rId5"/>
          <a:stretch>
            <a:fillRect/>
          </a:stretch>
        </p:blipFill>
        <p:spPr>
          <a:xfrm>
            <a:off x="7086838" y="6643807"/>
            <a:ext cx="217884" cy="174307"/>
          </a:xfrm>
          <a:prstGeom prst="rect">
            <a:avLst/>
          </a:prstGeom>
        </p:spPr>
      </p:pic>
      <p:sp>
        <p:nvSpPr>
          <p:cNvPr id="19" name="Text 12"/>
          <p:cNvSpPr/>
          <p:nvPr/>
        </p:nvSpPr>
        <p:spPr>
          <a:xfrm>
            <a:off x="7479030" y="6650355"/>
            <a:ext cx="5684639" cy="246578"/>
          </a:xfrm>
          <a:prstGeom prst="rect">
            <a:avLst/>
          </a:prstGeom>
          <a:noFill/>
          <a:ln/>
        </p:spPr>
        <p:txBody>
          <a:bodyPr wrap="none" lIns="0" tIns="0" rIns="0" bIns="0" rtlCol="0" anchor="t"/>
          <a:lstStyle/>
          <a:p>
            <a:pPr marL="0" indent="0" algn="l">
              <a:lnSpc>
                <a:spcPts val="1900"/>
              </a:lnSpc>
              <a:buNone/>
            </a:pPr>
            <a:r>
              <a:rPr lang="en-US" sz="1350" dirty="0">
                <a:solidFill>
                  <a:srgbClr val="000000"/>
                </a:solidFill>
                <a:latin typeface="Arial" panose="020B0604020202020204" pitchFamily="34" charset="0"/>
                <a:ea typeface="Open Sans" pitchFamily="34" charset="-122"/>
                <a:cs typeface="Arial" panose="020B0604020202020204" pitchFamily="34" charset="0"/>
              </a:rPr>
              <a:t>Trước khi bấm "Chia sẻ", hãy hỏi: "Mình đã kiểm chứng chưa?"</a:t>
            </a:r>
            <a:endParaRPr lang="en-US" sz="1350" dirty="0">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6B69CABF-40F9-3257-B057-BD215AA9D55D}"/>
              </a:ext>
            </a:extLst>
          </p:cNvPr>
          <p:cNvSpPr/>
          <p:nvPr/>
        </p:nvSpPr>
        <p:spPr>
          <a:xfrm>
            <a:off x="12649163" y="7798085"/>
            <a:ext cx="1921267" cy="308225"/>
          </a:xfrm>
          <a:prstGeom prst="rect">
            <a:avLst/>
          </a:prstGeom>
          <a:solidFill>
            <a:srgbClr val="FB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905828"/>
            <a:ext cx="10321052"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Arial" panose="020B0604020202020204" pitchFamily="34" charset="0"/>
                <a:ea typeface="Libre Baskerville" pitchFamily="34" charset="-122"/>
                <a:cs typeface="Arial" panose="020B0604020202020204" pitchFamily="34" charset="0"/>
              </a:rPr>
              <a:t>Gia đình - Điểm tựa vững chắc nhất</a:t>
            </a:r>
            <a:endParaRPr lang="en-US" sz="4450" dirty="0">
              <a:latin typeface="Arial" panose="020B0604020202020204" pitchFamily="34" charset="0"/>
              <a:cs typeface="Arial" panose="020B0604020202020204" pitchFamily="34" charset="0"/>
            </a:endParaRPr>
          </a:p>
        </p:txBody>
      </p:sp>
      <p:sp>
        <p:nvSpPr>
          <p:cNvPr id="3" name="Text 1"/>
          <p:cNvSpPr/>
          <p:nvPr/>
        </p:nvSpPr>
        <p:spPr>
          <a:xfrm>
            <a:off x="793790" y="2068235"/>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Dù công nghệ có phát triển đến đâu, gia đình vẫn là nơi quan trọng nhất. Trách nhiệm với gia đình không chỉ là nghĩa vụ, mà là hạnh phúc.</a:t>
            </a:r>
            <a:endParaRPr lang="en-US" sz="1750" dirty="0">
              <a:latin typeface="Arial" panose="020B0604020202020204" pitchFamily="34" charset="0"/>
              <a:cs typeface="Arial" panose="020B0604020202020204" pitchFamily="34" charset="0"/>
            </a:endParaRPr>
          </a:p>
        </p:txBody>
      </p:sp>
      <p:pic>
        <p:nvPicPr>
          <p:cNvPr id="4" name="Image 0" descr="preencoded.png"/>
          <p:cNvPicPr>
            <a:picLocks noChangeAspect="1"/>
          </p:cNvPicPr>
          <p:nvPr/>
        </p:nvPicPr>
        <p:blipFill>
          <a:blip r:embed="rId3"/>
          <a:stretch>
            <a:fillRect/>
          </a:stretch>
        </p:blipFill>
        <p:spPr>
          <a:xfrm>
            <a:off x="793790" y="3049191"/>
            <a:ext cx="2411968" cy="2411968"/>
          </a:xfrm>
          <a:prstGeom prst="rect">
            <a:avLst/>
          </a:prstGeom>
        </p:spPr>
      </p:pic>
      <p:sp>
        <p:nvSpPr>
          <p:cNvPr id="5" name="Text 2"/>
          <p:cNvSpPr/>
          <p:nvPr/>
        </p:nvSpPr>
        <p:spPr>
          <a:xfrm>
            <a:off x="793790" y="574464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Arial" panose="020B0604020202020204" pitchFamily="34" charset="0"/>
                <a:ea typeface="Libre Baskerville" pitchFamily="34" charset="-122"/>
                <a:cs typeface="Arial" panose="020B0604020202020204" pitchFamily="34" charset="0"/>
              </a:rPr>
              <a:t>Sẻ chia công việc</a:t>
            </a:r>
            <a:endParaRPr lang="en-US" sz="2200" dirty="0">
              <a:latin typeface="Arial" panose="020B0604020202020204" pitchFamily="34" charset="0"/>
              <a:cs typeface="Arial" panose="020B0604020202020204" pitchFamily="34" charset="0"/>
            </a:endParaRPr>
          </a:p>
        </p:txBody>
      </p:sp>
      <p:sp>
        <p:nvSpPr>
          <p:cNvPr id="6" name="Text 3"/>
          <p:cNvSpPr/>
          <p:nvPr/>
        </p:nvSpPr>
        <p:spPr>
          <a:xfrm>
            <a:off x="793790" y="6235065"/>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Giúp đỡ cha mẹ trong việc nhà, chăm sóc anh chị em. Mỗi hành động nhỏ đều thể hiện tình yêu thương.</a:t>
            </a:r>
            <a:endParaRPr lang="en-US" sz="1750" dirty="0">
              <a:latin typeface="Arial" panose="020B0604020202020204" pitchFamily="34" charset="0"/>
              <a:cs typeface="Arial" panose="020B0604020202020204" pitchFamily="34" charset="0"/>
            </a:endParaRPr>
          </a:p>
        </p:txBody>
      </p:sp>
      <p:pic>
        <p:nvPicPr>
          <p:cNvPr id="7" name="Image 1" descr="preencoded.png"/>
          <p:cNvPicPr>
            <a:picLocks noChangeAspect="1"/>
          </p:cNvPicPr>
          <p:nvPr/>
        </p:nvPicPr>
        <p:blipFill>
          <a:blip r:embed="rId4"/>
          <a:stretch>
            <a:fillRect/>
          </a:stretch>
        </p:blipFill>
        <p:spPr>
          <a:xfrm>
            <a:off x="5235893" y="3049191"/>
            <a:ext cx="2411968" cy="2411968"/>
          </a:xfrm>
          <a:prstGeom prst="rect">
            <a:avLst/>
          </a:prstGeom>
        </p:spPr>
      </p:pic>
      <p:sp>
        <p:nvSpPr>
          <p:cNvPr id="8" name="Text 4"/>
          <p:cNvSpPr/>
          <p:nvPr/>
        </p:nvSpPr>
        <p:spPr>
          <a:xfrm>
            <a:off x="5235893" y="5744647"/>
            <a:ext cx="2973348"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Arial" panose="020B0604020202020204" pitchFamily="34" charset="0"/>
                <a:ea typeface="Libre Baskerville" pitchFamily="34" charset="-122"/>
                <a:cs typeface="Arial" panose="020B0604020202020204" pitchFamily="34" charset="0"/>
              </a:rPr>
              <a:t>Lắng nghe và chia sẻ</a:t>
            </a:r>
            <a:endParaRPr lang="en-US" sz="2200" dirty="0">
              <a:latin typeface="Arial" panose="020B0604020202020204" pitchFamily="34" charset="0"/>
              <a:cs typeface="Arial" panose="020B0604020202020204" pitchFamily="34" charset="0"/>
            </a:endParaRPr>
          </a:p>
        </p:txBody>
      </p:sp>
      <p:sp>
        <p:nvSpPr>
          <p:cNvPr id="9" name="Text 5"/>
          <p:cNvSpPr/>
          <p:nvPr/>
        </p:nvSpPr>
        <p:spPr>
          <a:xfrm>
            <a:off x="5235893" y="6235065"/>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Dành thời gian trò chuyện với gia đình. Hiểu họ cũng là cách để họ hiểu bạn hơn.</a:t>
            </a:r>
            <a:endParaRPr lang="en-US" sz="1750" dirty="0">
              <a:latin typeface="Arial" panose="020B0604020202020204" pitchFamily="34" charset="0"/>
              <a:cs typeface="Arial" panose="020B0604020202020204" pitchFamily="34" charset="0"/>
            </a:endParaRPr>
          </a:p>
        </p:txBody>
      </p:sp>
      <p:pic>
        <p:nvPicPr>
          <p:cNvPr id="10" name="Image 2" descr="preencoded.png"/>
          <p:cNvPicPr>
            <a:picLocks noChangeAspect="1"/>
          </p:cNvPicPr>
          <p:nvPr/>
        </p:nvPicPr>
        <p:blipFill>
          <a:blip r:embed="rId5"/>
          <a:stretch>
            <a:fillRect/>
          </a:stretch>
        </p:blipFill>
        <p:spPr>
          <a:xfrm>
            <a:off x="9677995" y="3049191"/>
            <a:ext cx="2411968" cy="2411968"/>
          </a:xfrm>
          <a:prstGeom prst="rect">
            <a:avLst/>
          </a:prstGeom>
        </p:spPr>
      </p:pic>
      <p:sp>
        <p:nvSpPr>
          <p:cNvPr id="11" name="Text 6"/>
          <p:cNvSpPr/>
          <p:nvPr/>
        </p:nvSpPr>
        <p:spPr>
          <a:xfrm>
            <a:off x="9677995" y="574464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Arial" panose="020B0604020202020204" pitchFamily="34" charset="0"/>
                <a:ea typeface="Libre Baskerville" pitchFamily="34" charset="-122"/>
                <a:cs typeface="Arial" panose="020B0604020202020204" pitchFamily="34" charset="0"/>
              </a:rPr>
              <a:t>Cố gắng học tập</a:t>
            </a:r>
            <a:endParaRPr lang="en-US" sz="2200" dirty="0">
              <a:latin typeface="Arial" panose="020B0604020202020204" pitchFamily="34" charset="0"/>
              <a:cs typeface="Arial" panose="020B0604020202020204" pitchFamily="34" charset="0"/>
            </a:endParaRPr>
          </a:p>
        </p:txBody>
      </p:sp>
      <p:sp>
        <p:nvSpPr>
          <p:cNvPr id="12" name="Text 7"/>
          <p:cNvSpPr/>
          <p:nvPr/>
        </p:nvSpPr>
        <p:spPr>
          <a:xfrm>
            <a:off x="9677995" y="6235065"/>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Học hành chăm chỉ là cách tốt nhất để đền đáp công ơn nuôi dưỡng của cha mẹ.</a:t>
            </a:r>
            <a:endParaRPr lang="en-US" sz="1750"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F1FC5240-1C88-9702-9B27-F2C9D638A266}"/>
              </a:ext>
            </a:extLst>
          </p:cNvPr>
          <p:cNvSpPr/>
          <p:nvPr/>
        </p:nvSpPr>
        <p:spPr>
          <a:xfrm>
            <a:off x="12649163" y="7798085"/>
            <a:ext cx="1921267" cy="308225"/>
          </a:xfrm>
          <a:prstGeom prst="rect">
            <a:avLst/>
          </a:prstGeom>
          <a:solidFill>
            <a:srgbClr val="FB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330762"/>
            <a:ext cx="9976009"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Arial" panose="020B0604020202020204" pitchFamily="34" charset="0"/>
                <a:ea typeface="Libre Baskerville" pitchFamily="34" charset="-122"/>
                <a:cs typeface="Arial" panose="020B0604020202020204" pitchFamily="34" charset="0"/>
              </a:rPr>
              <a:t>Công dân toàn cầu có trách nhiệm</a:t>
            </a:r>
            <a:endParaRPr lang="en-US" sz="4450" dirty="0">
              <a:latin typeface="Arial" panose="020B0604020202020204" pitchFamily="34" charset="0"/>
              <a:cs typeface="Arial" panose="020B0604020202020204" pitchFamily="34" charset="0"/>
            </a:endParaRPr>
          </a:p>
        </p:txBody>
      </p:sp>
      <p:sp>
        <p:nvSpPr>
          <p:cNvPr id="3" name="Text 1"/>
          <p:cNvSpPr/>
          <p:nvPr/>
        </p:nvSpPr>
        <p:spPr>
          <a:xfrm>
            <a:off x="793790" y="2493169"/>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Thế giới đang đối mặt với nhiều thách thức lớn. Mỗi hành động nhỏ của bạn đều có thể tạo nên sự khác biệt tích cực cho hành tinh này.</a:t>
            </a:r>
            <a:endParaRPr lang="en-US" sz="1750" dirty="0">
              <a:latin typeface="Arial" panose="020B0604020202020204" pitchFamily="34" charset="0"/>
              <a:cs typeface="Arial" panose="020B0604020202020204" pitchFamily="34" charset="0"/>
            </a:endParaRPr>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3474125"/>
            <a:ext cx="680442" cy="680442"/>
          </a:xfrm>
          <a:prstGeom prst="rect">
            <a:avLst/>
          </a:prstGeom>
        </p:spPr>
      </p:pic>
      <p:sp>
        <p:nvSpPr>
          <p:cNvPr id="5" name="Text 2"/>
          <p:cNvSpPr/>
          <p:nvPr/>
        </p:nvSpPr>
        <p:spPr>
          <a:xfrm>
            <a:off x="1757720" y="347412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Arial" panose="020B0604020202020204" pitchFamily="34" charset="0"/>
                <a:ea typeface="Libre Baskerville" pitchFamily="34" charset="-122"/>
                <a:cs typeface="Arial" panose="020B0604020202020204" pitchFamily="34" charset="0"/>
              </a:rPr>
              <a:t>Bảo vệ môi trường</a:t>
            </a:r>
            <a:endParaRPr lang="en-US" sz="2200" dirty="0">
              <a:latin typeface="Arial" panose="020B0604020202020204" pitchFamily="34" charset="0"/>
              <a:cs typeface="Arial" panose="020B0604020202020204" pitchFamily="34" charset="0"/>
            </a:endParaRPr>
          </a:p>
        </p:txBody>
      </p:sp>
      <p:sp>
        <p:nvSpPr>
          <p:cNvPr id="6" name="Text 3"/>
          <p:cNvSpPr/>
          <p:nvPr/>
        </p:nvSpPr>
        <p:spPr>
          <a:xfrm>
            <a:off x="1757720" y="3964543"/>
            <a:ext cx="3194685" cy="145161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Giảm rác thải, tái chế, tiết kiệm năng lượng. Sử dụng túi vải thay vì túi nylon, hạn chế đồ nhựa dùng một lần.</a:t>
            </a:r>
            <a:endParaRPr lang="en-US" sz="1750" dirty="0">
              <a:latin typeface="Arial" panose="020B0604020202020204" pitchFamily="34" charset="0"/>
              <a:cs typeface="Arial" panose="020B0604020202020204" pitchFamily="34" charset="0"/>
            </a:endParaRPr>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35893" y="3474125"/>
            <a:ext cx="680442" cy="680442"/>
          </a:xfrm>
          <a:prstGeom prst="rect">
            <a:avLst/>
          </a:prstGeom>
        </p:spPr>
      </p:pic>
      <p:sp>
        <p:nvSpPr>
          <p:cNvPr id="8" name="Text 4"/>
          <p:cNvSpPr/>
          <p:nvPr/>
        </p:nvSpPr>
        <p:spPr>
          <a:xfrm>
            <a:off x="6199823" y="3474125"/>
            <a:ext cx="2948583"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Arial" panose="020B0604020202020204" pitchFamily="34" charset="0"/>
                <a:ea typeface="Libre Baskerville" pitchFamily="34" charset="-122"/>
                <a:cs typeface="Arial" panose="020B0604020202020204" pitchFamily="34" charset="0"/>
              </a:rPr>
              <a:t>Chống rác thải nhựa</a:t>
            </a:r>
            <a:endParaRPr lang="en-US" sz="2200" dirty="0">
              <a:latin typeface="Arial" panose="020B0604020202020204" pitchFamily="34" charset="0"/>
              <a:cs typeface="Arial" panose="020B0604020202020204" pitchFamily="34" charset="0"/>
            </a:endParaRPr>
          </a:p>
        </p:txBody>
      </p:sp>
      <p:sp>
        <p:nvSpPr>
          <p:cNvPr id="9" name="Text 5"/>
          <p:cNvSpPr/>
          <p:nvPr/>
        </p:nvSpPr>
        <p:spPr>
          <a:xfrm>
            <a:off x="6199823" y="3964543"/>
            <a:ext cx="3194685" cy="1088708"/>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Nói không với ống hút nhựa, ly nhựa. Mang theo bình nước cá nhân khi ra ngoài.</a:t>
            </a:r>
            <a:endParaRPr lang="en-US" sz="1750" dirty="0">
              <a:latin typeface="Arial" panose="020B0604020202020204" pitchFamily="34" charset="0"/>
              <a:cs typeface="Arial" panose="020B0604020202020204" pitchFamily="34" charset="0"/>
            </a:endParaRPr>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77995" y="3474125"/>
            <a:ext cx="680442" cy="680442"/>
          </a:xfrm>
          <a:prstGeom prst="rect">
            <a:avLst/>
          </a:prstGeom>
        </p:spPr>
      </p:pic>
      <p:sp>
        <p:nvSpPr>
          <p:cNvPr id="11" name="Text 6"/>
          <p:cNvSpPr/>
          <p:nvPr/>
        </p:nvSpPr>
        <p:spPr>
          <a:xfrm>
            <a:off x="10641925" y="3474125"/>
            <a:ext cx="3194685" cy="708660"/>
          </a:xfrm>
          <a:prstGeom prst="rect">
            <a:avLst/>
          </a:prstGeom>
          <a:noFill/>
          <a:ln/>
        </p:spPr>
        <p:txBody>
          <a:bodyPr wrap="square" lIns="0" tIns="0" rIns="0" bIns="0" rtlCol="0" anchor="t"/>
          <a:lstStyle/>
          <a:p>
            <a:pPr marL="0" indent="0" algn="l">
              <a:lnSpc>
                <a:spcPts val="2750"/>
              </a:lnSpc>
              <a:buNone/>
            </a:pPr>
            <a:r>
              <a:rPr lang="en-US" sz="2200" dirty="0">
                <a:solidFill>
                  <a:srgbClr val="49495A"/>
                </a:solidFill>
                <a:latin typeface="Arial" panose="020B0604020202020204" pitchFamily="34" charset="0"/>
                <a:ea typeface="Libre Baskerville" pitchFamily="34" charset="-122"/>
                <a:cs typeface="Arial" panose="020B0604020202020204" pitchFamily="34" charset="0"/>
              </a:rPr>
              <a:t>Hoạt động thiện nguyện</a:t>
            </a:r>
            <a:endParaRPr lang="en-US" sz="2200" dirty="0">
              <a:latin typeface="Arial" panose="020B0604020202020204" pitchFamily="34" charset="0"/>
              <a:cs typeface="Arial" panose="020B0604020202020204" pitchFamily="34" charset="0"/>
            </a:endParaRPr>
          </a:p>
        </p:txBody>
      </p:sp>
      <p:sp>
        <p:nvSpPr>
          <p:cNvPr id="12" name="Text 7"/>
          <p:cNvSpPr/>
          <p:nvPr/>
        </p:nvSpPr>
        <p:spPr>
          <a:xfrm>
            <a:off x="10641925" y="4318873"/>
            <a:ext cx="3194685" cy="145161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Tham gia các chiến dịch cộng đồng, giúp đỡ người kém may mắn. Lan tỏa yêu thương quanh mình.</a:t>
            </a:r>
            <a:endParaRPr lang="en-US" sz="1750" dirty="0">
              <a:latin typeface="Arial" panose="020B0604020202020204" pitchFamily="34" charset="0"/>
              <a:cs typeface="Arial" panose="020B0604020202020204" pitchFamily="34" charset="0"/>
            </a:endParaRPr>
          </a:p>
        </p:txBody>
      </p:sp>
      <p:sp>
        <p:nvSpPr>
          <p:cNvPr id="13" name="Text 8"/>
          <p:cNvSpPr/>
          <p:nvPr/>
        </p:nvSpPr>
        <p:spPr>
          <a:xfrm>
            <a:off x="1133951" y="6280785"/>
            <a:ext cx="12702659" cy="362903"/>
          </a:xfrm>
          <a:prstGeom prst="rect">
            <a:avLst/>
          </a:prstGeom>
          <a:noFill/>
          <a:ln/>
        </p:spPr>
        <p:txBody>
          <a:bodyPr wrap="none" lIns="0" tIns="0" rIns="0" bIns="0" rtlCol="0" anchor="t"/>
          <a:lstStyle/>
          <a:p>
            <a:pPr marL="0" indent="0" algn="l">
              <a:lnSpc>
                <a:spcPts val="28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"Hành động nhỏ hôm nay, tương lai tốt đẹp ngày mai"</a:t>
            </a:r>
            <a:endParaRPr lang="en-US" sz="1750" dirty="0">
              <a:latin typeface="Arial" panose="020B0604020202020204" pitchFamily="34" charset="0"/>
              <a:cs typeface="Arial" panose="020B0604020202020204" pitchFamily="34" charset="0"/>
            </a:endParaRPr>
          </a:p>
        </p:txBody>
      </p:sp>
      <p:sp>
        <p:nvSpPr>
          <p:cNvPr id="14" name="Shape 9"/>
          <p:cNvSpPr/>
          <p:nvPr/>
        </p:nvSpPr>
        <p:spPr>
          <a:xfrm>
            <a:off x="793790" y="6025634"/>
            <a:ext cx="30480" cy="873204"/>
          </a:xfrm>
          <a:prstGeom prst="rect">
            <a:avLst/>
          </a:prstGeom>
          <a:solidFill>
            <a:srgbClr val="403CCF"/>
          </a:solidFill>
          <a:ln/>
        </p:spPr>
      </p:sp>
      <p:sp>
        <p:nvSpPr>
          <p:cNvPr id="15" name="Rectangle 14">
            <a:extLst>
              <a:ext uri="{FF2B5EF4-FFF2-40B4-BE49-F238E27FC236}">
                <a16:creationId xmlns:a16="http://schemas.microsoft.com/office/drawing/2014/main" id="{3BF82668-7CD3-377E-3FFA-F4F5BE39D585}"/>
              </a:ext>
            </a:extLst>
          </p:cNvPr>
          <p:cNvSpPr/>
          <p:nvPr/>
        </p:nvSpPr>
        <p:spPr>
          <a:xfrm>
            <a:off x="12649163" y="7798085"/>
            <a:ext cx="1921267" cy="308225"/>
          </a:xfrm>
          <a:prstGeom prst="rect">
            <a:avLst/>
          </a:prstGeom>
          <a:solidFill>
            <a:srgbClr val="FB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17934" y="636746"/>
            <a:ext cx="6586180" cy="6956108"/>
          </a:xfrm>
          <a:prstGeom prst="roundRect">
            <a:avLst>
              <a:gd name="adj" fmla="val 506"/>
            </a:avLst>
          </a:prstGeom>
          <a:solidFill>
            <a:srgbClr val="4F4BE0"/>
          </a:solidFill>
          <a:ln/>
        </p:spPr>
      </p:sp>
      <p:sp>
        <p:nvSpPr>
          <p:cNvPr id="3" name="Text 1"/>
          <p:cNvSpPr/>
          <p:nvPr/>
        </p:nvSpPr>
        <p:spPr>
          <a:xfrm>
            <a:off x="840224" y="2684144"/>
            <a:ext cx="6141601" cy="1111329"/>
          </a:xfrm>
          <a:prstGeom prst="rect">
            <a:avLst/>
          </a:prstGeom>
          <a:noFill/>
          <a:ln/>
        </p:spPr>
        <p:txBody>
          <a:bodyPr wrap="square" lIns="0" tIns="0" rIns="0" bIns="0" rtlCol="0" anchor="t"/>
          <a:lstStyle/>
          <a:p>
            <a:pPr marL="0" indent="0" algn="ctr">
              <a:lnSpc>
                <a:spcPts val="4350"/>
              </a:lnSpc>
              <a:buNone/>
            </a:pPr>
            <a:r>
              <a:rPr lang="en-US" sz="3500" dirty="0">
                <a:latin typeface="Arial" panose="020B0604020202020204" pitchFamily="34" charset="0"/>
                <a:ea typeface="Libre Baskerville" pitchFamily="34" charset="-122"/>
                <a:cs typeface="Arial" panose="020B0604020202020204" pitchFamily="34" charset="0"/>
              </a:rPr>
              <a:t>Mỗi bạn </a:t>
            </a:r>
            <a:r>
              <a:rPr lang="en-US" sz="3500">
                <a:latin typeface="Arial" panose="020B0604020202020204" pitchFamily="34" charset="0"/>
                <a:ea typeface="Libre Baskerville" pitchFamily="34" charset="-122"/>
                <a:cs typeface="Arial" panose="020B0604020202020204" pitchFamily="34" charset="0"/>
              </a:rPr>
              <a:t>đều là mầm xanh của đất nước</a:t>
            </a:r>
            <a:endParaRPr lang="en-US" sz="3500" dirty="0">
              <a:latin typeface="Arial" panose="020B0604020202020204" pitchFamily="34" charset="0"/>
              <a:cs typeface="Arial" panose="020B0604020202020204" pitchFamily="34" charset="0"/>
            </a:endParaRPr>
          </a:p>
        </p:txBody>
      </p:sp>
      <p:sp>
        <p:nvSpPr>
          <p:cNvPr id="4" name="Text 2"/>
          <p:cNvSpPr/>
          <p:nvPr/>
        </p:nvSpPr>
        <p:spPr>
          <a:xfrm>
            <a:off x="840224" y="4013238"/>
            <a:ext cx="6141601" cy="1056203"/>
          </a:xfrm>
          <a:prstGeom prst="rect">
            <a:avLst/>
          </a:prstGeom>
          <a:noFill/>
          <a:ln/>
        </p:spPr>
        <p:txBody>
          <a:bodyPr wrap="square" lIns="0" tIns="0" rIns="0" bIns="0" rtlCol="0" anchor="t"/>
          <a:lstStyle/>
          <a:p>
            <a:pPr marL="0" indent="0" algn="ctr">
              <a:lnSpc>
                <a:spcPts val="2750"/>
              </a:lnSpc>
              <a:buNone/>
            </a:pPr>
            <a:r>
              <a:rPr lang="en-US" sz="1750" dirty="0">
                <a:latin typeface="Arial" panose="020B0604020202020204" pitchFamily="34" charset="0"/>
                <a:ea typeface="Open Sans" pitchFamily="34" charset="-122"/>
                <a:cs typeface="Arial" panose="020B0604020202020204" pitchFamily="34" charset="0"/>
              </a:rPr>
              <a:t>Bạn có sức mạnh to lớn để lan tỏa điều tích cực. Mỗi hành động tử tế, mỗi lời nói tốt đẹp đều tạo nên làn sóng lan tỏa trong cộng đồng.</a:t>
            </a:r>
            <a:endParaRPr lang="en-US" sz="1750" dirty="0">
              <a:latin typeface="Arial" panose="020B0604020202020204" pitchFamily="34" charset="0"/>
              <a:cs typeface="Arial" panose="020B0604020202020204" pitchFamily="34" charset="0"/>
            </a:endParaRPr>
          </a:p>
        </p:txBody>
      </p:sp>
      <p:sp>
        <p:nvSpPr>
          <p:cNvPr id="5" name="Shape 3"/>
          <p:cNvSpPr/>
          <p:nvPr/>
        </p:nvSpPr>
        <p:spPr>
          <a:xfrm>
            <a:off x="7593925" y="881777"/>
            <a:ext cx="3024188" cy="2950488"/>
          </a:xfrm>
          <a:prstGeom prst="roundRect">
            <a:avLst>
              <a:gd name="adj" fmla="val 1130"/>
            </a:avLst>
          </a:prstGeom>
          <a:solidFill>
            <a:srgbClr val="EAE8F3"/>
          </a:solidFill>
          <a:ln/>
        </p:spPr>
      </p:sp>
      <p:pic>
        <p:nvPicPr>
          <p:cNvPr id="6" name="Image 0" descr="preencoded.png"/>
          <p:cNvPicPr>
            <a:picLocks noChangeAspect="1"/>
          </p:cNvPicPr>
          <p:nvPr/>
        </p:nvPicPr>
        <p:blipFill>
          <a:blip r:embed="rId3"/>
          <a:stretch>
            <a:fillRect/>
          </a:stretch>
        </p:blipFill>
        <p:spPr>
          <a:xfrm>
            <a:off x="7816215" y="1104067"/>
            <a:ext cx="666869" cy="666869"/>
          </a:xfrm>
          <a:prstGeom prst="rect">
            <a:avLst/>
          </a:prstGeom>
        </p:spPr>
      </p:pic>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99571" y="1287423"/>
            <a:ext cx="300038" cy="300038"/>
          </a:xfrm>
          <a:prstGeom prst="rect">
            <a:avLst/>
          </a:prstGeom>
        </p:spPr>
      </p:pic>
      <p:sp>
        <p:nvSpPr>
          <p:cNvPr id="8" name="Text 4"/>
          <p:cNvSpPr/>
          <p:nvPr/>
        </p:nvSpPr>
        <p:spPr>
          <a:xfrm>
            <a:off x="7816215" y="1988701"/>
            <a:ext cx="2579608" cy="347305"/>
          </a:xfrm>
          <a:prstGeom prst="rect">
            <a:avLst/>
          </a:prstGeom>
          <a:noFill/>
          <a:ln/>
        </p:spPr>
        <p:txBody>
          <a:bodyPr wrap="none" lIns="0" tIns="0" rIns="0" bIns="0" rtlCol="0" anchor="t"/>
          <a:lstStyle/>
          <a:p>
            <a:pPr marL="0" indent="0" algn="l">
              <a:lnSpc>
                <a:spcPts val="2700"/>
              </a:lnSpc>
              <a:buNone/>
            </a:pPr>
            <a:r>
              <a:rPr lang="en-US" sz="2150" dirty="0">
                <a:solidFill>
                  <a:srgbClr val="49495A"/>
                </a:solidFill>
                <a:latin typeface="Arial" panose="020B0604020202020204" pitchFamily="34" charset="0"/>
                <a:ea typeface="Libre Baskerville" pitchFamily="34" charset="-122"/>
                <a:cs typeface="Arial" panose="020B0604020202020204" pitchFamily="34" charset="0"/>
              </a:rPr>
              <a:t>Giúp đỡ bạn bè</a:t>
            </a:r>
            <a:endParaRPr lang="en-US" sz="2150" dirty="0">
              <a:latin typeface="Arial" panose="020B0604020202020204" pitchFamily="34" charset="0"/>
              <a:cs typeface="Arial" panose="020B0604020202020204" pitchFamily="34" charset="0"/>
            </a:endParaRPr>
          </a:p>
        </p:txBody>
      </p:sp>
      <p:sp>
        <p:nvSpPr>
          <p:cNvPr id="9" name="Text 5"/>
          <p:cNvSpPr/>
          <p:nvPr/>
        </p:nvSpPr>
        <p:spPr>
          <a:xfrm>
            <a:off x="7816215" y="2553772"/>
            <a:ext cx="2579608" cy="704136"/>
          </a:xfrm>
          <a:prstGeom prst="rect">
            <a:avLst/>
          </a:prstGeom>
          <a:noFill/>
          <a:ln/>
        </p:spPr>
        <p:txBody>
          <a:bodyPr wrap="square" lIns="0" tIns="0" rIns="0" bIns="0" rtlCol="0" anchor="t"/>
          <a:lstStyle/>
          <a:p>
            <a:pPr marL="0" indent="0" algn="l">
              <a:lnSpc>
                <a:spcPts val="27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Chia sẻ kiến thức, động viên khi họ gặp khó khăn</a:t>
            </a:r>
            <a:endParaRPr lang="en-US" sz="1750" dirty="0">
              <a:latin typeface="Arial" panose="020B0604020202020204" pitchFamily="34" charset="0"/>
              <a:cs typeface="Arial" panose="020B0604020202020204" pitchFamily="34" charset="0"/>
            </a:endParaRPr>
          </a:p>
        </p:txBody>
      </p:sp>
      <p:sp>
        <p:nvSpPr>
          <p:cNvPr id="10" name="Shape 6"/>
          <p:cNvSpPr/>
          <p:nvPr/>
        </p:nvSpPr>
        <p:spPr>
          <a:xfrm>
            <a:off x="10835878" y="881777"/>
            <a:ext cx="3024188" cy="2950488"/>
          </a:xfrm>
          <a:prstGeom prst="roundRect">
            <a:avLst>
              <a:gd name="adj" fmla="val 1130"/>
            </a:avLst>
          </a:prstGeom>
          <a:solidFill>
            <a:srgbClr val="EAE8F3"/>
          </a:solidFill>
          <a:ln/>
        </p:spPr>
      </p:sp>
      <p:pic>
        <p:nvPicPr>
          <p:cNvPr id="11" name="Image 2" descr="preencoded.png"/>
          <p:cNvPicPr>
            <a:picLocks noChangeAspect="1"/>
          </p:cNvPicPr>
          <p:nvPr/>
        </p:nvPicPr>
        <p:blipFill>
          <a:blip r:embed="rId6"/>
          <a:stretch>
            <a:fillRect/>
          </a:stretch>
        </p:blipFill>
        <p:spPr>
          <a:xfrm>
            <a:off x="11058168" y="1104067"/>
            <a:ext cx="666869" cy="666869"/>
          </a:xfrm>
          <a:prstGeom prst="rect">
            <a:avLst/>
          </a:prstGeom>
        </p:spPr>
      </p:pic>
      <p:pic>
        <p:nvPicPr>
          <p:cNvPr id="12"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41524" y="1287423"/>
            <a:ext cx="300038" cy="300038"/>
          </a:xfrm>
          <a:prstGeom prst="rect">
            <a:avLst/>
          </a:prstGeom>
        </p:spPr>
      </p:pic>
      <p:sp>
        <p:nvSpPr>
          <p:cNvPr id="13" name="Text 7"/>
          <p:cNvSpPr/>
          <p:nvPr/>
        </p:nvSpPr>
        <p:spPr>
          <a:xfrm>
            <a:off x="11058168" y="1988701"/>
            <a:ext cx="2579608" cy="347305"/>
          </a:xfrm>
          <a:prstGeom prst="rect">
            <a:avLst/>
          </a:prstGeom>
          <a:noFill/>
          <a:ln/>
        </p:spPr>
        <p:txBody>
          <a:bodyPr wrap="none" lIns="0" tIns="0" rIns="0" bIns="0" rtlCol="0" anchor="t"/>
          <a:lstStyle/>
          <a:p>
            <a:pPr marL="0" indent="0" algn="l">
              <a:lnSpc>
                <a:spcPts val="2700"/>
              </a:lnSpc>
              <a:buNone/>
            </a:pPr>
            <a:r>
              <a:rPr lang="en-US" sz="2150" dirty="0">
                <a:solidFill>
                  <a:srgbClr val="49495A"/>
                </a:solidFill>
                <a:latin typeface="Arial" panose="020B0604020202020204" pitchFamily="34" charset="0"/>
                <a:ea typeface="Libre Baskerville" pitchFamily="34" charset="-122"/>
                <a:cs typeface="Arial" panose="020B0604020202020204" pitchFamily="34" charset="0"/>
              </a:rPr>
              <a:t>Nụ cười tử tế</a:t>
            </a:r>
            <a:endParaRPr lang="en-US" sz="2150" dirty="0">
              <a:latin typeface="Arial" panose="020B0604020202020204" pitchFamily="34" charset="0"/>
              <a:cs typeface="Arial" panose="020B0604020202020204" pitchFamily="34" charset="0"/>
            </a:endParaRPr>
          </a:p>
        </p:txBody>
      </p:sp>
      <p:sp>
        <p:nvSpPr>
          <p:cNvPr id="14" name="Text 8"/>
          <p:cNvSpPr/>
          <p:nvPr/>
        </p:nvSpPr>
        <p:spPr>
          <a:xfrm>
            <a:off x="11058168" y="2553772"/>
            <a:ext cx="2579608" cy="1056203"/>
          </a:xfrm>
          <a:prstGeom prst="rect">
            <a:avLst/>
          </a:prstGeom>
          <a:noFill/>
          <a:ln/>
        </p:spPr>
        <p:txBody>
          <a:bodyPr wrap="square" lIns="0" tIns="0" rIns="0" bIns="0" rtlCol="0" anchor="t"/>
          <a:lstStyle/>
          <a:p>
            <a:pPr marL="0" indent="0" algn="l">
              <a:lnSpc>
                <a:spcPts val="27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Một nụ cười chân thành có thể làm sáng cả ngày của ai đó</a:t>
            </a:r>
            <a:endParaRPr lang="en-US" sz="1750" dirty="0">
              <a:latin typeface="Arial" panose="020B0604020202020204" pitchFamily="34" charset="0"/>
              <a:cs typeface="Arial" panose="020B0604020202020204" pitchFamily="34" charset="0"/>
            </a:endParaRPr>
          </a:p>
        </p:txBody>
      </p:sp>
      <p:sp>
        <p:nvSpPr>
          <p:cNvPr id="15" name="Shape 9"/>
          <p:cNvSpPr/>
          <p:nvPr/>
        </p:nvSpPr>
        <p:spPr>
          <a:xfrm>
            <a:off x="7593925" y="4050030"/>
            <a:ext cx="3024188" cy="3297793"/>
          </a:xfrm>
          <a:prstGeom prst="roundRect">
            <a:avLst>
              <a:gd name="adj" fmla="val 1103"/>
            </a:avLst>
          </a:prstGeom>
          <a:solidFill>
            <a:srgbClr val="EAE8F3"/>
          </a:solidFill>
          <a:ln/>
        </p:spPr>
      </p:sp>
      <p:pic>
        <p:nvPicPr>
          <p:cNvPr id="16" name="Image 4" descr="preencoded.png"/>
          <p:cNvPicPr>
            <a:picLocks noChangeAspect="1"/>
          </p:cNvPicPr>
          <p:nvPr/>
        </p:nvPicPr>
        <p:blipFill>
          <a:blip r:embed="rId9"/>
          <a:stretch>
            <a:fillRect/>
          </a:stretch>
        </p:blipFill>
        <p:spPr>
          <a:xfrm>
            <a:off x="7816215" y="4272320"/>
            <a:ext cx="666869" cy="666869"/>
          </a:xfrm>
          <a:prstGeom prst="rect">
            <a:avLst/>
          </a:prstGeom>
        </p:spPr>
      </p:pic>
      <p:pic>
        <p:nvPicPr>
          <p:cNvPr id="17"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99571" y="4455676"/>
            <a:ext cx="300038" cy="300038"/>
          </a:xfrm>
          <a:prstGeom prst="rect">
            <a:avLst/>
          </a:prstGeom>
        </p:spPr>
      </p:pic>
      <p:sp>
        <p:nvSpPr>
          <p:cNvPr id="18" name="Text 10"/>
          <p:cNvSpPr/>
          <p:nvPr/>
        </p:nvSpPr>
        <p:spPr>
          <a:xfrm>
            <a:off x="7816215" y="5156954"/>
            <a:ext cx="2579608" cy="347305"/>
          </a:xfrm>
          <a:prstGeom prst="rect">
            <a:avLst/>
          </a:prstGeom>
          <a:noFill/>
          <a:ln/>
        </p:spPr>
        <p:txBody>
          <a:bodyPr wrap="none" lIns="0" tIns="0" rIns="0" bIns="0" rtlCol="0" anchor="t"/>
          <a:lstStyle/>
          <a:p>
            <a:pPr marL="0" indent="0" algn="l">
              <a:lnSpc>
                <a:spcPts val="2700"/>
              </a:lnSpc>
              <a:buNone/>
            </a:pPr>
            <a:r>
              <a:rPr lang="en-US" sz="2150" dirty="0">
                <a:solidFill>
                  <a:srgbClr val="49495A"/>
                </a:solidFill>
                <a:latin typeface="Arial" panose="020B0604020202020204" pitchFamily="34" charset="0"/>
                <a:ea typeface="Libre Baskerville" pitchFamily="34" charset="-122"/>
                <a:cs typeface="Arial" panose="020B0604020202020204" pitchFamily="34" charset="0"/>
              </a:rPr>
              <a:t>Lời nói tích cực</a:t>
            </a:r>
            <a:endParaRPr lang="en-US" sz="2150" dirty="0">
              <a:latin typeface="Arial" panose="020B0604020202020204" pitchFamily="34" charset="0"/>
              <a:cs typeface="Arial" panose="020B0604020202020204" pitchFamily="34" charset="0"/>
            </a:endParaRPr>
          </a:p>
        </p:txBody>
      </p:sp>
      <p:sp>
        <p:nvSpPr>
          <p:cNvPr id="19" name="Text 11"/>
          <p:cNvSpPr/>
          <p:nvPr/>
        </p:nvSpPr>
        <p:spPr>
          <a:xfrm>
            <a:off x="7816215" y="5722025"/>
            <a:ext cx="2579608" cy="704136"/>
          </a:xfrm>
          <a:prstGeom prst="rect">
            <a:avLst/>
          </a:prstGeom>
          <a:noFill/>
          <a:ln/>
        </p:spPr>
        <p:txBody>
          <a:bodyPr wrap="square" lIns="0" tIns="0" rIns="0" bIns="0" rtlCol="0" anchor="t"/>
          <a:lstStyle/>
          <a:p>
            <a:pPr marL="0" indent="0" algn="l">
              <a:lnSpc>
                <a:spcPts val="27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Khen ngợi, động viên thay vì chỉ trích tiêu cực</a:t>
            </a:r>
            <a:endParaRPr lang="en-US" sz="1750" dirty="0">
              <a:latin typeface="Arial" panose="020B0604020202020204" pitchFamily="34" charset="0"/>
              <a:cs typeface="Arial" panose="020B0604020202020204" pitchFamily="34" charset="0"/>
            </a:endParaRPr>
          </a:p>
        </p:txBody>
      </p:sp>
      <p:sp>
        <p:nvSpPr>
          <p:cNvPr id="20" name="Shape 12"/>
          <p:cNvSpPr/>
          <p:nvPr/>
        </p:nvSpPr>
        <p:spPr>
          <a:xfrm>
            <a:off x="10835878" y="4050030"/>
            <a:ext cx="3024188" cy="3297793"/>
          </a:xfrm>
          <a:prstGeom prst="roundRect">
            <a:avLst>
              <a:gd name="adj" fmla="val 1103"/>
            </a:avLst>
          </a:prstGeom>
          <a:solidFill>
            <a:srgbClr val="EAE8F3"/>
          </a:solidFill>
          <a:ln/>
        </p:spPr>
      </p:sp>
      <p:pic>
        <p:nvPicPr>
          <p:cNvPr id="21" name="Image 6" descr="preencoded.png"/>
          <p:cNvPicPr>
            <a:picLocks noChangeAspect="1"/>
          </p:cNvPicPr>
          <p:nvPr/>
        </p:nvPicPr>
        <p:blipFill>
          <a:blip r:embed="rId12"/>
          <a:stretch>
            <a:fillRect/>
          </a:stretch>
        </p:blipFill>
        <p:spPr>
          <a:xfrm>
            <a:off x="11058168" y="4272320"/>
            <a:ext cx="666869" cy="666869"/>
          </a:xfrm>
          <a:prstGeom prst="rect">
            <a:avLst/>
          </a:prstGeom>
        </p:spPr>
      </p:pic>
      <p:pic>
        <p:nvPicPr>
          <p:cNvPr id="22"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241524" y="4455676"/>
            <a:ext cx="300038" cy="300038"/>
          </a:xfrm>
          <a:prstGeom prst="rect">
            <a:avLst/>
          </a:prstGeom>
        </p:spPr>
      </p:pic>
      <p:sp>
        <p:nvSpPr>
          <p:cNvPr id="23" name="Text 13"/>
          <p:cNvSpPr/>
          <p:nvPr/>
        </p:nvSpPr>
        <p:spPr>
          <a:xfrm>
            <a:off x="11058168" y="5156954"/>
            <a:ext cx="2579608" cy="694611"/>
          </a:xfrm>
          <a:prstGeom prst="rect">
            <a:avLst/>
          </a:prstGeom>
          <a:noFill/>
          <a:ln/>
        </p:spPr>
        <p:txBody>
          <a:bodyPr wrap="square" lIns="0" tIns="0" rIns="0" bIns="0" rtlCol="0" anchor="t"/>
          <a:lstStyle/>
          <a:p>
            <a:pPr marL="0" indent="0" algn="l">
              <a:lnSpc>
                <a:spcPts val="2700"/>
              </a:lnSpc>
              <a:buNone/>
            </a:pPr>
            <a:r>
              <a:rPr lang="en-US" sz="2150" dirty="0">
                <a:solidFill>
                  <a:srgbClr val="49495A"/>
                </a:solidFill>
                <a:latin typeface="Arial" panose="020B0604020202020204" pitchFamily="34" charset="0"/>
                <a:ea typeface="Libre Baskerville" pitchFamily="34" charset="-122"/>
                <a:cs typeface="Arial" panose="020B0604020202020204" pitchFamily="34" charset="0"/>
              </a:rPr>
              <a:t>Xây dựng cộng đồng</a:t>
            </a:r>
            <a:endParaRPr lang="en-US" sz="2150" dirty="0">
              <a:latin typeface="Arial" panose="020B0604020202020204" pitchFamily="34" charset="0"/>
              <a:cs typeface="Arial" panose="020B0604020202020204" pitchFamily="34" charset="0"/>
            </a:endParaRPr>
          </a:p>
        </p:txBody>
      </p:sp>
      <p:sp>
        <p:nvSpPr>
          <p:cNvPr id="24" name="Text 14"/>
          <p:cNvSpPr/>
          <p:nvPr/>
        </p:nvSpPr>
        <p:spPr>
          <a:xfrm>
            <a:off x="11058168" y="6069330"/>
            <a:ext cx="2579608" cy="1056203"/>
          </a:xfrm>
          <a:prstGeom prst="rect">
            <a:avLst/>
          </a:prstGeom>
          <a:noFill/>
          <a:ln/>
        </p:spPr>
        <p:txBody>
          <a:bodyPr wrap="square" lIns="0" tIns="0" rIns="0" bIns="0" rtlCol="0" anchor="t"/>
          <a:lstStyle/>
          <a:p>
            <a:pPr marL="0" indent="0" algn="l">
              <a:lnSpc>
                <a:spcPts val="27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Tạo không gian an toàn, thân thiện cho mọi người</a:t>
            </a:r>
            <a:endParaRPr lang="en-US" sz="1750" dirty="0">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BB34EBE4-9773-01FD-A706-C063BB649D96}"/>
              </a:ext>
            </a:extLst>
          </p:cNvPr>
          <p:cNvSpPr/>
          <p:nvPr/>
        </p:nvSpPr>
        <p:spPr>
          <a:xfrm>
            <a:off x="12649163" y="7798085"/>
            <a:ext cx="1921267" cy="308225"/>
          </a:xfrm>
          <a:prstGeom prst="rect">
            <a:avLst/>
          </a:prstGeom>
          <a:solidFill>
            <a:srgbClr val="FB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 11">
            <a:extLst>
              <a:ext uri="{FF2B5EF4-FFF2-40B4-BE49-F238E27FC236}">
                <a16:creationId xmlns:a16="http://schemas.microsoft.com/office/drawing/2014/main" id="{DDB4DFFE-5CB3-8FB0-E678-0CAD42928A83}"/>
              </a:ext>
            </a:extLst>
          </p:cNvPr>
          <p:cNvSpPr/>
          <p:nvPr/>
        </p:nvSpPr>
        <p:spPr>
          <a:xfrm>
            <a:off x="3184207" y="6585048"/>
            <a:ext cx="5744036" cy="631865"/>
          </a:xfrm>
          <a:prstGeom prst="roundRect">
            <a:avLst>
              <a:gd name="adj" fmla="val 4139"/>
            </a:avLst>
          </a:prstGeom>
          <a:solidFill>
            <a:srgbClr val="C3C2F0"/>
          </a:solidFill>
          <a:ln/>
        </p:spPr>
      </p:sp>
      <p:sp>
        <p:nvSpPr>
          <p:cNvPr id="2" name="Text 0"/>
          <p:cNvSpPr/>
          <p:nvPr/>
        </p:nvSpPr>
        <p:spPr>
          <a:xfrm>
            <a:off x="793790" y="1328618"/>
            <a:ext cx="10246519"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Arial" panose="020B0604020202020204" pitchFamily="34" charset="0"/>
                <a:ea typeface="Libre Baskerville" pitchFamily="34" charset="-122"/>
                <a:cs typeface="Arial" panose="020B0604020202020204" pitchFamily="34" charset="0"/>
              </a:rPr>
              <a:t>Thảo luận mở - Cùng tìm giải pháp</a:t>
            </a:r>
            <a:endParaRPr lang="en-US" sz="4450" dirty="0">
              <a:latin typeface="Arial" panose="020B0604020202020204" pitchFamily="34" charset="0"/>
              <a:cs typeface="Arial" panose="020B0604020202020204" pitchFamily="34" charset="0"/>
            </a:endParaRPr>
          </a:p>
        </p:txBody>
      </p:sp>
      <p:sp>
        <p:nvSpPr>
          <p:cNvPr id="3" name="Text 1"/>
          <p:cNvSpPr/>
          <p:nvPr/>
        </p:nvSpPr>
        <p:spPr>
          <a:xfrm>
            <a:off x="793790" y="2491026"/>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Cuộc sống không phải lúc nào cũng dễ dàng. Hãy cùng nhau chia sẻ và tìm cách vượt qua những thách thức mà các bạn đang gặp phải.</a:t>
            </a:r>
            <a:endParaRPr lang="en-US" sz="1750" dirty="0">
              <a:latin typeface="Arial" panose="020B0604020202020204" pitchFamily="34" charset="0"/>
              <a:cs typeface="Arial" panose="020B0604020202020204" pitchFamily="34" charset="0"/>
            </a:endParaRPr>
          </a:p>
        </p:txBody>
      </p:sp>
      <p:sp>
        <p:nvSpPr>
          <p:cNvPr id="4" name="Shape 2"/>
          <p:cNvSpPr/>
          <p:nvPr/>
        </p:nvSpPr>
        <p:spPr>
          <a:xfrm>
            <a:off x="793790" y="3471982"/>
            <a:ext cx="4196358" cy="2810947"/>
          </a:xfrm>
          <a:prstGeom prst="roundRect">
            <a:avLst>
              <a:gd name="adj" fmla="val 5205"/>
            </a:avLst>
          </a:prstGeom>
          <a:solidFill>
            <a:srgbClr val="FBFAFF"/>
          </a:solidFill>
          <a:ln w="30480">
            <a:solidFill>
              <a:srgbClr val="D0CED9"/>
            </a:solidFill>
            <a:prstDash val="solid"/>
          </a:ln>
        </p:spPr>
      </p:sp>
      <p:pic>
        <p:nvPicPr>
          <p:cNvPr id="5" name="Image 0" descr="preencoded.png"/>
          <p:cNvPicPr>
            <a:picLocks noChangeAspect="1"/>
          </p:cNvPicPr>
          <p:nvPr/>
        </p:nvPicPr>
        <p:blipFill>
          <a:blip r:embed="rId3"/>
          <a:stretch>
            <a:fillRect/>
          </a:stretch>
        </p:blipFill>
        <p:spPr>
          <a:xfrm>
            <a:off x="763310" y="3471982"/>
            <a:ext cx="121920" cy="2810947"/>
          </a:xfrm>
          <a:prstGeom prst="rect">
            <a:avLst/>
          </a:prstGeom>
        </p:spPr>
      </p:pic>
      <p:sp>
        <p:nvSpPr>
          <p:cNvPr id="6" name="Text 3"/>
          <p:cNvSpPr/>
          <p:nvPr/>
        </p:nvSpPr>
        <p:spPr>
          <a:xfrm>
            <a:off x="1142524" y="372927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Arial" panose="020B0604020202020204" pitchFamily="34" charset="0"/>
                <a:ea typeface="Libre Baskerville" pitchFamily="34" charset="-122"/>
                <a:cs typeface="Arial" panose="020B0604020202020204" pitchFamily="34" charset="0"/>
              </a:rPr>
              <a:t>💭</a:t>
            </a:r>
            <a:r>
              <a:rPr lang="en-US" sz="2200" dirty="0">
                <a:solidFill>
                  <a:srgbClr val="49495A"/>
                </a:solidFill>
                <a:latin typeface="Arial" panose="020B0604020202020204" pitchFamily="34" charset="0"/>
                <a:ea typeface="Libre Baskerville" pitchFamily="34" charset="-122"/>
                <a:cs typeface="Arial" panose="020B0604020202020204" pitchFamily="34" charset="0"/>
              </a:rPr>
              <a:t> Áp lực từ bạn bè</a:t>
            </a:r>
            <a:endParaRPr lang="en-US" sz="2200" dirty="0">
              <a:latin typeface="Arial" panose="020B0604020202020204" pitchFamily="34" charset="0"/>
              <a:cs typeface="Arial" panose="020B0604020202020204" pitchFamily="34" charset="0"/>
            </a:endParaRPr>
          </a:p>
        </p:txBody>
      </p:sp>
      <p:sp>
        <p:nvSpPr>
          <p:cNvPr id="7" name="Text 4"/>
          <p:cNvSpPr/>
          <p:nvPr/>
        </p:nvSpPr>
        <p:spPr>
          <a:xfrm>
            <a:off x="1142524" y="4219694"/>
            <a:ext cx="3590330" cy="145161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Làm sao để giữ vững bản thân khi bị rủ rê làm điều sai? Hãy nhớ: Bạn thật sự luôn tôn trọng quyết định đúng đắn của bạn.</a:t>
            </a:r>
            <a:endParaRPr lang="en-US" sz="1750" dirty="0">
              <a:latin typeface="Arial" panose="020B0604020202020204" pitchFamily="34" charset="0"/>
              <a:cs typeface="Arial" panose="020B0604020202020204" pitchFamily="34" charset="0"/>
            </a:endParaRPr>
          </a:p>
        </p:txBody>
      </p:sp>
      <p:sp>
        <p:nvSpPr>
          <p:cNvPr id="8" name="Shape 5"/>
          <p:cNvSpPr/>
          <p:nvPr/>
        </p:nvSpPr>
        <p:spPr>
          <a:xfrm>
            <a:off x="5216962" y="3471982"/>
            <a:ext cx="4196358" cy="2810947"/>
          </a:xfrm>
          <a:prstGeom prst="roundRect">
            <a:avLst>
              <a:gd name="adj" fmla="val 5205"/>
            </a:avLst>
          </a:prstGeom>
          <a:solidFill>
            <a:srgbClr val="FBFAFF"/>
          </a:solidFill>
          <a:ln w="30480">
            <a:solidFill>
              <a:srgbClr val="D0CED9"/>
            </a:solidFill>
            <a:prstDash val="solid"/>
          </a:ln>
        </p:spPr>
      </p:sp>
      <p:pic>
        <p:nvPicPr>
          <p:cNvPr id="9" name="Image 1" descr="preencoded.png"/>
          <p:cNvPicPr>
            <a:picLocks noChangeAspect="1"/>
          </p:cNvPicPr>
          <p:nvPr/>
        </p:nvPicPr>
        <p:blipFill>
          <a:blip r:embed="rId3"/>
          <a:stretch>
            <a:fillRect/>
          </a:stretch>
        </p:blipFill>
        <p:spPr>
          <a:xfrm>
            <a:off x="5186482" y="3471982"/>
            <a:ext cx="121920" cy="2810947"/>
          </a:xfrm>
          <a:prstGeom prst="rect">
            <a:avLst/>
          </a:prstGeom>
        </p:spPr>
      </p:pic>
      <p:sp>
        <p:nvSpPr>
          <p:cNvPr id="10" name="Text 6"/>
          <p:cNvSpPr/>
          <p:nvPr/>
        </p:nvSpPr>
        <p:spPr>
          <a:xfrm>
            <a:off x="5565696" y="3729276"/>
            <a:ext cx="3590330" cy="708660"/>
          </a:xfrm>
          <a:prstGeom prst="rect">
            <a:avLst/>
          </a:prstGeom>
          <a:noFill/>
          <a:ln/>
        </p:spPr>
        <p:txBody>
          <a:bodyPr wrap="square" lIns="0" tIns="0" rIns="0" bIns="0" rtlCol="0" anchor="t"/>
          <a:lstStyle/>
          <a:p>
            <a:pPr marL="0" indent="0" algn="l">
              <a:lnSpc>
                <a:spcPts val="2750"/>
              </a:lnSpc>
              <a:buNone/>
            </a:pPr>
            <a:r>
              <a:rPr lang="en-US" sz="2200" dirty="0">
                <a:solidFill>
                  <a:srgbClr val="000000"/>
                </a:solidFill>
                <a:latin typeface="Arial" panose="020B0604020202020204" pitchFamily="34" charset="0"/>
                <a:ea typeface="Libre Baskerville" pitchFamily="34" charset="-122"/>
                <a:cs typeface="Arial" panose="020B0604020202020204" pitchFamily="34" charset="0"/>
              </a:rPr>
              <a:t>⚖️</a:t>
            </a:r>
            <a:r>
              <a:rPr lang="en-US" sz="2200" dirty="0">
                <a:solidFill>
                  <a:srgbClr val="49495A"/>
                </a:solidFill>
                <a:latin typeface="Arial" panose="020B0604020202020204" pitchFamily="34" charset="0"/>
                <a:ea typeface="Libre Baskerville" pitchFamily="34" charset="-122"/>
                <a:cs typeface="Arial" panose="020B0604020202020204" pitchFamily="34" charset="0"/>
              </a:rPr>
              <a:t> Cân bằng đam mê và học tập</a:t>
            </a:r>
            <a:endParaRPr lang="en-US" sz="2200" dirty="0">
              <a:latin typeface="Arial" panose="020B0604020202020204" pitchFamily="34" charset="0"/>
              <a:cs typeface="Arial" panose="020B0604020202020204" pitchFamily="34" charset="0"/>
            </a:endParaRPr>
          </a:p>
        </p:txBody>
      </p:sp>
      <p:sp>
        <p:nvSpPr>
          <p:cNvPr id="11" name="Text 7"/>
          <p:cNvSpPr/>
          <p:nvPr/>
        </p:nvSpPr>
        <p:spPr>
          <a:xfrm>
            <a:off x="5565696" y="4574024"/>
            <a:ext cx="3590330" cy="145161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Làm thế nào để theo đuổi đam mê mà không ảnh hưởng đến học tập? Bí quyết là quản lý thời gian và đặt mục tiêu rõ ràng.</a:t>
            </a:r>
            <a:endParaRPr lang="en-US" sz="1750" dirty="0">
              <a:latin typeface="Arial" panose="020B0604020202020204" pitchFamily="34" charset="0"/>
              <a:cs typeface="Arial" panose="020B0604020202020204" pitchFamily="34" charset="0"/>
            </a:endParaRPr>
          </a:p>
        </p:txBody>
      </p:sp>
      <p:sp>
        <p:nvSpPr>
          <p:cNvPr id="12" name="Shape 8"/>
          <p:cNvSpPr/>
          <p:nvPr/>
        </p:nvSpPr>
        <p:spPr>
          <a:xfrm>
            <a:off x="9640133" y="3471982"/>
            <a:ext cx="4196358" cy="2810947"/>
          </a:xfrm>
          <a:prstGeom prst="roundRect">
            <a:avLst>
              <a:gd name="adj" fmla="val 5205"/>
            </a:avLst>
          </a:prstGeom>
          <a:solidFill>
            <a:srgbClr val="FBFAFF"/>
          </a:solidFill>
          <a:ln w="30480">
            <a:solidFill>
              <a:srgbClr val="D0CED9"/>
            </a:solidFill>
            <a:prstDash val="solid"/>
          </a:ln>
        </p:spPr>
      </p:sp>
      <p:pic>
        <p:nvPicPr>
          <p:cNvPr id="13" name="Image 2" descr="preencoded.png"/>
          <p:cNvPicPr>
            <a:picLocks noChangeAspect="1"/>
          </p:cNvPicPr>
          <p:nvPr/>
        </p:nvPicPr>
        <p:blipFill>
          <a:blip r:embed="rId3"/>
          <a:stretch>
            <a:fillRect/>
          </a:stretch>
        </p:blipFill>
        <p:spPr>
          <a:xfrm>
            <a:off x="9609653" y="3471982"/>
            <a:ext cx="121920" cy="2810947"/>
          </a:xfrm>
          <a:prstGeom prst="rect">
            <a:avLst/>
          </a:prstGeom>
        </p:spPr>
      </p:pic>
      <p:sp>
        <p:nvSpPr>
          <p:cNvPr id="14" name="Text 9"/>
          <p:cNvSpPr/>
          <p:nvPr/>
        </p:nvSpPr>
        <p:spPr>
          <a:xfrm>
            <a:off x="9988868" y="3729276"/>
            <a:ext cx="3366849" cy="354330"/>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Arial" panose="020B0604020202020204" pitchFamily="34" charset="0"/>
                <a:ea typeface="Libre Baskerville" pitchFamily="34" charset="-122"/>
                <a:cs typeface="Arial" panose="020B0604020202020204" pitchFamily="34" charset="0"/>
              </a:rPr>
              <a:t>📱</a:t>
            </a:r>
            <a:r>
              <a:rPr lang="en-US" sz="2200" dirty="0">
                <a:solidFill>
                  <a:srgbClr val="49495A"/>
                </a:solidFill>
                <a:latin typeface="Arial" panose="020B0604020202020204" pitchFamily="34" charset="0"/>
                <a:ea typeface="Libre Baskerville" pitchFamily="34" charset="-122"/>
                <a:cs typeface="Arial" panose="020B0604020202020204" pitchFamily="34" charset="0"/>
              </a:rPr>
              <a:t> Nghiện mạng xã hội</a:t>
            </a:r>
            <a:endParaRPr lang="en-US" sz="2200" dirty="0">
              <a:latin typeface="Arial" panose="020B0604020202020204" pitchFamily="34" charset="0"/>
              <a:cs typeface="Arial" panose="020B0604020202020204" pitchFamily="34" charset="0"/>
            </a:endParaRPr>
          </a:p>
        </p:txBody>
      </p:sp>
      <p:sp>
        <p:nvSpPr>
          <p:cNvPr id="15" name="Text 10"/>
          <p:cNvSpPr/>
          <p:nvPr/>
        </p:nvSpPr>
        <p:spPr>
          <a:xfrm>
            <a:off x="9988868" y="4219694"/>
            <a:ext cx="3590330" cy="1451610"/>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Arial" panose="020B0604020202020204" pitchFamily="34" charset="0"/>
                <a:ea typeface="Open Sans" pitchFamily="34" charset="-122"/>
                <a:cs typeface="Arial" panose="020B0604020202020204" pitchFamily="34" charset="0"/>
              </a:rPr>
              <a:t>Cảm thấy lệ thuộc vào điện thoại? Thử đặt giới hạn thời gian sử dụng và tạo thói quen tốt hơn mỗi ngày.</a:t>
            </a:r>
            <a:endParaRPr lang="en-US" sz="1750" dirty="0">
              <a:latin typeface="Arial" panose="020B0604020202020204" pitchFamily="34" charset="0"/>
              <a:cs typeface="Arial" panose="020B0604020202020204" pitchFamily="34" charset="0"/>
            </a:endParaRPr>
          </a:p>
        </p:txBody>
      </p:sp>
      <p:sp>
        <p:nvSpPr>
          <p:cNvPr id="16" name="Text 11"/>
          <p:cNvSpPr/>
          <p:nvPr/>
        </p:nvSpPr>
        <p:spPr>
          <a:xfrm>
            <a:off x="793790" y="6719530"/>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49495A"/>
                </a:solidFill>
                <a:latin typeface="Arial" panose="020B0604020202020204" pitchFamily="34" charset="0"/>
                <a:ea typeface="Open Sans" pitchFamily="34" charset="-122"/>
                <a:cs typeface="Arial" panose="020B0604020202020204" pitchFamily="34" charset="0"/>
              </a:rPr>
              <a:t>Câu hỏi của bạn là gì?</a:t>
            </a:r>
            <a:r>
              <a:rPr lang="en-US" sz="1750" dirty="0">
                <a:solidFill>
                  <a:srgbClr val="49495A"/>
                </a:solidFill>
                <a:latin typeface="Arial" panose="020B0604020202020204" pitchFamily="34" charset="0"/>
                <a:ea typeface="Open Sans" pitchFamily="34" charset="-122"/>
                <a:cs typeface="Arial" panose="020B0604020202020204" pitchFamily="34" charset="0"/>
              </a:rPr>
              <a:t> Đừng ngại chia sẻ - không có câu hỏi nào là ngớ ngẩn!</a:t>
            </a:r>
            <a:endParaRPr lang="en-US" sz="175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3A0DB3D6-A435-6839-151D-FCEBACA5BCBF}"/>
              </a:ext>
            </a:extLst>
          </p:cNvPr>
          <p:cNvSpPr/>
          <p:nvPr/>
        </p:nvSpPr>
        <p:spPr>
          <a:xfrm>
            <a:off x="12649163" y="7798085"/>
            <a:ext cx="1921267" cy="308225"/>
          </a:xfrm>
          <a:prstGeom prst="rect">
            <a:avLst/>
          </a:prstGeom>
          <a:solidFill>
            <a:srgbClr val="FB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59249" y="1408986"/>
            <a:ext cx="7825502" cy="977979"/>
          </a:xfrm>
          <a:prstGeom prst="rect">
            <a:avLst/>
          </a:prstGeom>
          <a:noFill/>
          <a:ln/>
        </p:spPr>
        <p:txBody>
          <a:bodyPr wrap="square" lIns="0" tIns="0" rIns="0" bIns="0" rtlCol="0" anchor="t"/>
          <a:lstStyle/>
          <a:p>
            <a:pPr marL="0" indent="0" algn="ctr">
              <a:lnSpc>
                <a:spcPts val="3850"/>
              </a:lnSpc>
              <a:buNone/>
            </a:pPr>
            <a:r>
              <a:rPr lang="en-US" sz="3050" dirty="0">
                <a:solidFill>
                  <a:srgbClr val="403CCF"/>
                </a:solidFill>
                <a:latin typeface="Arial" panose="020B0604020202020204" pitchFamily="34" charset="0"/>
                <a:ea typeface="Libre Baskerville" pitchFamily="34" charset="-122"/>
                <a:cs typeface="Arial" panose="020B0604020202020204" pitchFamily="34" charset="0"/>
              </a:rPr>
              <a:t>Thời đại mới không cần những con rô-bốt học giỏi</a:t>
            </a:r>
            <a:endParaRPr lang="en-US" sz="3050" dirty="0">
              <a:latin typeface="Arial" panose="020B0604020202020204" pitchFamily="34" charset="0"/>
              <a:cs typeface="Arial" panose="020B0604020202020204" pitchFamily="34" charset="0"/>
            </a:endParaRPr>
          </a:p>
        </p:txBody>
      </p:sp>
      <p:sp>
        <p:nvSpPr>
          <p:cNvPr id="4" name="Text 1"/>
          <p:cNvSpPr/>
          <p:nvPr/>
        </p:nvSpPr>
        <p:spPr>
          <a:xfrm>
            <a:off x="659249" y="2471976"/>
            <a:ext cx="7825502" cy="708660"/>
          </a:xfrm>
          <a:prstGeom prst="rect">
            <a:avLst/>
          </a:prstGeom>
          <a:noFill/>
          <a:ln/>
        </p:spPr>
        <p:txBody>
          <a:bodyPr wrap="square" lIns="0" tIns="0" rIns="0" bIns="0" rtlCol="0" anchor="t"/>
          <a:lstStyle/>
          <a:p>
            <a:pPr marL="0" indent="0" algn="ctr">
              <a:lnSpc>
                <a:spcPts val="2750"/>
              </a:lnSpc>
              <a:buNone/>
            </a:pPr>
            <a:r>
              <a:rPr lang="en-US" sz="2200" dirty="0">
                <a:solidFill>
                  <a:srgbClr val="403CCF"/>
                </a:solidFill>
                <a:latin typeface="Arial" panose="020B0604020202020204" pitchFamily="34" charset="0"/>
                <a:ea typeface="Libre Baskerville" pitchFamily="34" charset="-122"/>
                <a:cs typeface="Arial" panose="020B0604020202020204" pitchFamily="34" charset="0"/>
              </a:rPr>
              <a:t>Thời đại mới cần những con người có trách nhiệm và tâm hồn</a:t>
            </a:r>
            <a:endParaRPr lang="en-US" sz="2200" dirty="0">
              <a:latin typeface="Arial" panose="020B0604020202020204" pitchFamily="34" charset="0"/>
              <a:cs typeface="Arial" panose="020B0604020202020204" pitchFamily="34" charset="0"/>
            </a:endParaRPr>
          </a:p>
        </p:txBody>
      </p:sp>
      <p:sp>
        <p:nvSpPr>
          <p:cNvPr id="6" name="Shape 3"/>
          <p:cNvSpPr/>
          <p:nvPr/>
        </p:nvSpPr>
        <p:spPr>
          <a:xfrm>
            <a:off x="659249" y="3601522"/>
            <a:ext cx="453628" cy="680442"/>
          </a:xfrm>
          <a:prstGeom prst="roundRect">
            <a:avLst>
              <a:gd name="adj" fmla="val 360023"/>
            </a:avLst>
          </a:prstGeom>
          <a:solidFill>
            <a:srgbClr val="EAE8F3"/>
          </a:solidFill>
          <a:ln/>
        </p:spPr>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1053" y="3856672"/>
            <a:ext cx="170021" cy="170021"/>
          </a:xfrm>
          <a:prstGeom prst="rect">
            <a:avLst/>
          </a:prstGeom>
        </p:spPr>
      </p:pic>
      <p:sp>
        <p:nvSpPr>
          <p:cNvPr id="8" name="Text 4"/>
          <p:cNvSpPr/>
          <p:nvPr/>
        </p:nvSpPr>
        <p:spPr>
          <a:xfrm>
            <a:off x="1169551" y="3892034"/>
            <a:ext cx="1505307" cy="177165"/>
          </a:xfrm>
          <a:prstGeom prst="rect">
            <a:avLst/>
          </a:prstGeom>
          <a:noFill/>
          <a:ln/>
        </p:spPr>
        <p:txBody>
          <a:bodyPr wrap="none" lIns="0" tIns="0" rIns="0" bIns="0" rtlCol="0" anchor="t"/>
          <a:lstStyle/>
          <a:p>
            <a:pPr marL="0" indent="0" algn="l">
              <a:lnSpc>
                <a:spcPts val="1350"/>
              </a:lnSpc>
              <a:buNone/>
            </a:pPr>
            <a:r>
              <a:rPr lang="en-US" sz="1600" dirty="0">
                <a:solidFill>
                  <a:srgbClr val="49495A"/>
                </a:solidFill>
                <a:latin typeface="Arial" panose="020B0604020202020204" pitchFamily="34" charset="0"/>
                <a:ea typeface="Libre Baskerville" pitchFamily="34" charset="-122"/>
                <a:cs typeface="Arial" panose="020B0604020202020204" pitchFamily="34" charset="0"/>
              </a:rPr>
              <a:t>Sống có trách nhiệm</a:t>
            </a:r>
            <a:endParaRPr lang="en-US" sz="1600" dirty="0">
              <a:latin typeface="Arial" panose="020B0604020202020204" pitchFamily="34" charset="0"/>
              <a:cs typeface="Arial" panose="020B0604020202020204" pitchFamily="34" charset="0"/>
            </a:endParaRPr>
          </a:p>
        </p:txBody>
      </p:sp>
      <p:sp>
        <p:nvSpPr>
          <p:cNvPr id="9" name="Shape 5"/>
          <p:cNvSpPr/>
          <p:nvPr/>
        </p:nvSpPr>
        <p:spPr>
          <a:xfrm>
            <a:off x="659249" y="4338638"/>
            <a:ext cx="453628" cy="680442"/>
          </a:xfrm>
          <a:prstGeom prst="roundRect">
            <a:avLst>
              <a:gd name="adj" fmla="val 360023"/>
            </a:avLst>
          </a:prstGeom>
          <a:solidFill>
            <a:srgbClr val="EAE8F3"/>
          </a:solidFill>
          <a:ln/>
        </p:spPr>
      </p:sp>
      <p:pic>
        <p:nvPicPr>
          <p:cNvPr id="10"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1053" y="4593788"/>
            <a:ext cx="170021" cy="170021"/>
          </a:xfrm>
          <a:prstGeom prst="rect">
            <a:avLst/>
          </a:prstGeom>
        </p:spPr>
      </p:pic>
      <p:sp>
        <p:nvSpPr>
          <p:cNvPr id="11" name="Text 6"/>
          <p:cNvSpPr/>
          <p:nvPr/>
        </p:nvSpPr>
        <p:spPr>
          <a:xfrm>
            <a:off x="1178481" y="4678798"/>
            <a:ext cx="1417558" cy="177165"/>
          </a:xfrm>
          <a:prstGeom prst="rect">
            <a:avLst/>
          </a:prstGeom>
          <a:noFill/>
          <a:ln/>
        </p:spPr>
        <p:txBody>
          <a:bodyPr wrap="none" lIns="0" tIns="0" rIns="0" bIns="0" rtlCol="0" anchor="t"/>
          <a:lstStyle/>
          <a:p>
            <a:pPr marL="0" indent="0" algn="l">
              <a:lnSpc>
                <a:spcPts val="1350"/>
              </a:lnSpc>
              <a:buNone/>
            </a:pPr>
            <a:r>
              <a:rPr lang="en-US" sz="1600" dirty="0">
                <a:solidFill>
                  <a:srgbClr val="49495A"/>
                </a:solidFill>
                <a:latin typeface="Arial" panose="020B0604020202020204" pitchFamily="34" charset="0"/>
                <a:ea typeface="Libre Baskerville" pitchFamily="34" charset="-122"/>
                <a:cs typeface="Arial" panose="020B0604020202020204" pitchFamily="34" charset="0"/>
              </a:rPr>
              <a:t>Tư duy phản biện</a:t>
            </a:r>
            <a:endParaRPr lang="en-US" sz="1600" dirty="0">
              <a:latin typeface="Arial" panose="020B0604020202020204" pitchFamily="34" charset="0"/>
              <a:cs typeface="Arial" panose="020B0604020202020204" pitchFamily="34" charset="0"/>
            </a:endParaRPr>
          </a:p>
        </p:txBody>
      </p:sp>
      <p:sp>
        <p:nvSpPr>
          <p:cNvPr id="12" name="Shape 7"/>
          <p:cNvSpPr/>
          <p:nvPr/>
        </p:nvSpPr>
        <p:spPr>
          <a:xfrm>
            <a:off x="659249" y="5075753"/>
            <a:ext cx="453628" cy="680442"/>
          </a:xfrm>
          <a:prstGeom prst="roundRect">
            <a:avLst>
              <a:gd name="adj" fmla="val 360023"/>
            </a:avLst>
          </a:prstGeom>
          <a:solidFill>
            <a:srgbClr val="EAE8F3"/>
          </a:solidFill>
          <a:ln/>
        </p:spPr>
      </p:sp>
      <p:pic>
        <p:nvPicPr>
          <p:cNvPr id="13"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1053" y="5330904"/>
            <a:ext cx="170021" cy="170021"/>
          </a:xfrm>
          <a:prstGeom prst="rect">
            <a:avLst/>
          </a:prstGeom>
        </p:spPr>
      </p:pic>
      <p:sp>
        <p:nvSpPr>
          <p:cNvPr id="14" name="Text 8"/>
          <p:cNvSpPr/>
          <p:nvPr/>
        </p:nvSpPr>
        <p:spPr>
          <a:xfrm>
            <a:off x="1178481" y="5382926"/>
            <a:ext cx="1426488" cy="177165"/>
          </a:xfrm>
          <a:prstGeom prst="rect">
            <a:avLst/>
          </a:prstGeom>
          <a:noFill/>
          <a:ln/>
        </p:spPr>
        <p:txBody>
          <a:bodyPr wrap="none" lIns="0" tIns="0" rIns="0" bIns="0" rtlCol="0" anchor="t"/>
          <a:lstStyle/>
          <a:p>
            <a:pPr marL="0" indent="0" algn="l">
              <a:lnSpc>
                <a:spcPts val="1350"/>
              </a:lnSpc>
              <a:buNone/>
            </a:pPr>
            <a:r>
              <a:rPr lang="en-US" sz="1600" dirty="0">
                <a:solidFill>
                  <a:srgbClr val="49495A"/>
                </a:solidFill>
                <a:latin typeface="Arial" panose="020B0604020202020204" pitchFamily="34" charset="0"/>
                <a:ea typeface="Libre Baskerville" pitchFamily="34" charset="-122"/>
                <a:cs typeface="Arial" panose="020B0604020202020204" pitchFamily="34" charset="0"/>
              </a:rPr>
              <a:t>Tử tế với mọi người</a:t>
            </a:r>
            <a:endParaRPr lang="en-US" sz="1600" dirty="0">
              <a:latin typeface="Arial" panose="020B0604020202020204" pitchFamily="34" charset="0"/>
              <a:cs typeface="Arial" panose="020B0604020202020204" pitchFamily="34" charset="0"/>
            </a:endParaRPr>
          </a:p>
        </p:txBody>
      </p:sp>
      <p:sp>
        <p:nvSpPr>
          <p:cNvPr id="15" name="Shape 9"/>
          <p:cNvSpPr/>
          <p:nvPr/>
        </p:nvSpPr>
        <p:spPr>
          <a:xfrm>
            <a:off x="659249" y="5812869"/>
            <a:ext cx="453628" cy="680442"/>
          </a:xfrm>
          <a:prstGeom prst="roundRect">
            <a:avLst>
              <a:gd name="adj" fmla="val 360023"/>
            </a:avLst>
          </a:prstGeom>
          <a:solidFill>
            <a:srgbClr val="EAE8F3"/>
          </a:solidFill>
          <a:ln/>
        </p:spPr>
      </p:sp>
      <p:pic>
        <p:nvPicPr>
          <p:cNvPr id="16"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1053" y="6068020"/>
            <a:ext cx="170021" cy="170021"/>
          </a:xfrm>
          <a:prstGeom prst="rect">
            <a:avLst/>
          </a:prstGeom>
        </p:spPr>
      </p:pic>
      <p:sp>
        <p:nvSpPr>
          <p:cNvPr id="17" name="Text 10"/>
          <p:cNvSpPr/>
          <p:nvPr/>
        </p:nvSpPr>
        <p:spPr>
          <a:xfrm>
            <a:off x="1187411" y="6132233"/>
            <a:ext cx="1417558" cy="177165"/>
          </a:xfrm>
          <a:prstGeom prst="rect">
            <a:avLst/>
          </a:prstGeom>
          <a:noFill/>
          <a:ln/>
        </p:spPr>
        <p:txBody>
          <a:bodyPr wrap="none" lIns="0" tIns="0" rIns="0" bIns="0" rtlCol="0" anchor="t"/>
          <a:lstStyle/>
          <a:p>
            <a:pPr marL="0" indent="0" algn="l">
              <a:lnSpc>
                <a:spcPts val="1350"/>
              </a:lnSpc>
              <a:buNone/>
            </a:pPr>
            <a:r>
              <a:rPr lang="en-US" sz="1600" dirty="0">
                <a:solidFill>
                  <a:srgbClr val="49495A"/>
                </a:solidFill>
                <a:latin typeface="Arial" panose="020B0604020202020204" pitchFamily="34" charset="0"/>
                <a:ea typeface="Libre Baskerville" pitchFamily="34" charset="-122"/>
                <a:cs typeface="Arial" panose="020B0604020202020204" pitchFamily="34" charset="0"/>
              </a:rPr>
              <a:t>Lan tỏa điều tốt</a:t>
            </a:r>
            <a:endParaRPr lang="en-US" sz="1600" dirty="0">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636D8E09-21DD-0498-890C-038CA229F54B}"/>
              </a:ext>
            </a:extLst>
          </p:cNvPr>
          <p:cNvSpPr/>
          <p:nvPr/>
        </p:nvSpPr>
        <p:spPr>
          <a:xfrm>
            <a:off x="12649163" y="7798085"/>
            <a:ext cx="1921267" cy="308225"/>
          </a:xfrm>
          <a:prstGeom prst="rect">
            <a:avLst/>
          </a:prstGeom>
          <a:solidFill>
            <a:srgbClr val="FB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pic>
        <p:nvPicPr>
          <p:cNvPr id="22" name="Image 0" descr="preencoded.png">
            <a:extLst>
              <a:ext uri="{FF2B5EF4-FFF2-40B4-BE49-F238E27FC236}">
                <a16:creationId xmlns:a16="http://schemas.microsoft.com/office/drawing/2014/main" id="{CFF6EF91-0EA2-1CCF-25C8-D247DDA49074}"/>
              </a:ext>
            </a:extLst>
          </p:cNvPr>
          <p:cNvPicPr>
            <a:picLocks noChangeAspect="1"/>
          </p:cNvPicPr>
          <p:nvPr/>
        </p:nvPicPr>
        <p:blipFill>
          <a:blip r:embed="rId11"/>
          <a:stretch>
            <a:fillRect/>
          </a:stretch>
        </p:blipFill>
        <p:spPr>
          <a:xfrm>
            <a:off x="9144000" y="0"/>
            <a:ext cx="5486400" cy="8229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3F090-DBA3-E038-969E-14A514E07354}"/>
            </a:ext>
          </a:extLst>
        </p:cNvPr>
        <p:cNvGrpSpPr/>
        <p:nvPr/>
      </p:nvGrpSpPr>
      <p:grpSpPr>
        <a:xfrm>
          <a:off x="0" y="0"/>
          <a:ext cx="0" cy="0"/>
          <a:chOff x="0" y="0"/>
          <a:chExt cx="0" cy="0"/>
        </a:xfrm>
      </p:grpSpPr>
      <p:pic>
        <p:nvPicPr>
          <p:cNvPr id="22" name="Image 0" descr="preencoded.png">
            <a:extLst>
              <a:ext uri="{FF2B5EF4-FFF2-40B4-BE49-F238E27FC236}">
                <a16:creationId xmlns:a16="http://schemas.microsoft.com/office/drawing/2014/main" id="{28F71E3B-3F16-3BB6-F8DB-5393E218F737}"/>
              </a:ext>
            </a:extLst>
          </p:cNvPr>
          <p:cNvPicPr>
            <a:picLocks noChangeAspect="1"/>
          </p:cNvPicPr>
          <p:nvPr/>
        </p:nvPicPr>
        <p:blipFill>
          <a:blip r:embed="rId3"/>
          <a:stretch>
            <a:fillRect/>
          </a:stretch>
        </p:blipFill>
        <p:spPr>
          <a:xfrm>
            <a:off x="-32524" y="0"/>
            <a:ext cx="14662924" cy="8229600"/>
          </a:xfrm>
          <a:prstGeom prst="rect">
            <a:avLst/>
          </a:prstGeom>
        </p:spPr>
      </p:pic>
      <p:sp>
        <p:nvSpPr>
          <p:cNvPr id="3" name="Text 0">
            <a:extLst>
              <a:ext uri="{FF2B5EF4-FFF2-40B4-BE49-F238E27FC236}">
                <a16:creationId xmlns:a16="http://schemas.microsoft.com/office/drawing/2014/main" id="{49B5F856-0D0A-F77F-F966-CE8293BEBC4A}"/>
              </a:ext>
            </a:extLst>
          </p:cNvPr>
          <p:cNvSpPr/>
          <p:nvPr/>
        </p:nvSpPr>
        <p:spPr>
          <a:xfrm>
            <a:off x="4398191" y="5608722"/>
            <a:ext cx="10066971" cy="977979"/>
          </a:xfrm>
          <a:prstGeom prst="rect">
            <a:avLst/>
          </a:prstGeom>
          <a:noFill/>
          <a:ln>
            <a:noFill/>
          </a:ln>
          <a:effectLst>
            <a:glow rad="101600">
              <a:schemeClr val="accent4">
                <a:satMod val="175000"/>
                <a:alpha val="40000"/>
              </a:schemeClr>
            </a:glow>
            <a:outerShdw blurRad="190500" dist="228600" dir="2700000" algn="ctr">
              <a:srgbClr val="000000">
                <a:alpha val="30000"/>
              </a:srgbClr>
            </a:outerShdw>
            <a:reflection blurRad="6350" stA="50000" endA="300" endPos="55000" dir="5400000" sy="-100000" algn="bl" rotWithShape="0"/>
          </a:effectLst>
          <a:scene3d>
            <a:camera prst="orthographicFront">
              <a:rot lat="0" lon="0" rev="0"/>
            </a:camera>
            <a:lightRig rig="glow" dir="t">
              <a:rot lat="0" lon="0" rev="4800000"/>
            </a:lightRig>
          </a:scene3d>
          <a:sp3d prstMaterial="matte">
            <a:bevelT w="127000" h="63500"/>
          </a:sp3d>
        </p:spPr>
        <p:txBody>
          <a:bodyPr wrap="square" lIns="0" tIns="0" rIns="0" bIns="0" rtlCol="0" anchor="t"/>
          <a:lstStyle/>
          <a:p>
            <a:pPr marL="0" indent="0" algn="ctr">
              <a:buNone/>
            </a:pPr>
            <a:r>
              <a:rPr lang="en-US" sz="4800">
                <a:latin typeface="Arial" panose="020B0604020202020204" pitchFamily="34" charset="0"/>
                <a:ea typeface="Libre Baskerville" pitchFamily="34" charset="-122"/>
                <a:cs typeface="Arial" panose="020B0604020202020204" pitchFamily="34" charset="0"/>
              </a:rPr>
              <a:t>Cảm ơn thầy cô và các bạn đã lắng nghe</a:t>
            </a:r>
            <a:endParaRPr lang="en-US" sz="4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976330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1598</Words>
  <Application>Microsoft Office PowerPoint</Application>
  <PresentationFormat>Custom</PresentationFormat>
  <Paragraphs>165</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Open Sans</vt:lpstr>
      <vt:lpstr>Libre Baskerville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nguyenducanh12a10@gmail.com</cp:lastModifiedBy>
  <cp:revision>3</cp:revision>
  <dcterms:created xsi:type="dcterms:W3CDTF">2026-01-29T13:24:13Z</dcterms:created>
  <dcterms:modified xsi:type="dcterms:W3CDTF">2026-01-29T13:40:26Z</dcterms:modified>
</cp:coreProperties>
</file>