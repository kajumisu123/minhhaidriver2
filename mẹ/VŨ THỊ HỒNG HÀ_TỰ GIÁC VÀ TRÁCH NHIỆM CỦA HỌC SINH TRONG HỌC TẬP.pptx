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72"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Lst>
  <p:sldSz cx="14630400" cy="8229600"/>
  <p:notesSz cx="8229600" cy="14630400"/>
  <p:embeddedFontLst>
    <p:embeddedFont>
      <p:font typeface="Inter"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A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13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22515"/>
            <a:ext cx="7788350" cy="3118485"/>
          </a:xfrm>
          <a:prstGeom prst="rect">
            <a:avLst/>
          </a:prstGeom>
          <a:noFill/>
          <a:ln/>
        </p:spPr>
        <p:txBody>
          <a:bodyPr wrap="square" lIns="0" tIns="0" rIns="0" bIns="0" rtlCol="0" anchor="t"/>
          <a:lstStyle/>
          <a:p>
            <a:pPr marL="0" indent="0" algn="ctr">
              <a:lnSpc>
                <a:spcPts val="6100"/>
              </a:lnSpc>
              <a:buNone/>
            </a:pPr>
            <a:r>
              <a:rPr lang="en-US" sz="4900" b="1">
                <a:solidFill>
                  <a:srgbClr val="F95F88"/>
                </a:solidFill>
                <a:latin typeface="Inter" panose="020B0604020202020204" charset="0"/>
                <a:ea typeface="Inter" panose="020B0604020202020204" charset="0"/>
              </a:rPr>
              <a:t>TỰ GIÁC &amp; TRÁCH NHIỆM</a:t>
            </a:r>
            <a:br>
              <a:rPr lang="en-US" sz="4900" b="1">
                <a:solidFill>
                  <a:srgbClr val="F95F88"/>
                </a:solidFill>
                <a:latin typeface="Inter" panose="020B0604020202020204" charset="0"/>
                <a:ea typeface="Inter" panose="020B0604020202020204" charset="0"/>
              </a:rPr>
            </a:br>
            <a:r>
              <a:rPr lang="en-US" sz="4900" b="1">
                <a:solidFill>
                  <a:srgbClr val="F95F88"/>
                </a:solidFill>
                <a:latin typeface="Inter" panose="020B0604020202020204" charset="0"/>
                <a:ea typeface="Inter" panose="020B0604020202020204" charset="0"/>
              </a:rPr>
              <a:t>CỦA HỌC SINH TRONG HỌC TẬP</a:t>
            </a:r>
            <a:endParaRPr lang="en-US" sz="4900" dirty="0">
              <a:latin typeface="Inter" panose="020B0604020202020204" charset="0"/>
              <a:ea typeface="Inter" panose="020B0604020202020204" charset="0"/>
            </a:endParaRPr>
          </a:p>
        </p:txBody>
      </p:sp>
      <p:sp>
        <p:nvSpPr>
          <p:cNvPr id="4" name="Text 1"/>
          <p:cNvSpPr/>
          <p:nvPr/>
        </p:nvSpPr>
        <p:spPr>
          <a:xfrm>
            <a:off x="6280190" y="5481161"/>
            <a:ext cx="7556421" cy="725805"/>
          </a:xfrm>
          <a:prstGeom prst="rect">
            <a:avLst/>
          </a:prstGeom>
          <a:noFill/>
          <a:ln/>
        </p:spPr>
        <p:txBody>
          <a:bodyPr wrap="square" lIns="0" tIns="0" rIns="0" bIns="0" rtlCol="0" anchor="t"/>
          <a:lstStyle/>
          <a:p>
            <a:pPr marL="0" indent="0" algn="l">
              <a:lnSpc>
                <a:spcPts val="2850"/>
              </a:lnSpc>
              <a:buNone/>
            </a:pPr>
            <a:r>
              <a:rPr lang="en-US" sz="1750">
                <a:latin typeface="Inter" panose="020B0604020202020204" charset="0"/>
                <a:ea typeface="Inter" panose="020B0604020202020204" charset="0"/>
              </a:rPr>
              <a:t>Buổi trò chuyện của giáo viên và học sinh trong quá trình trở thành người học tự chủ và độc lập trong thế giới hiện đại</a:t>
            </a:r>
            <a:br>
              <a:rPr lang="en-US" sz="1750">
                <a:latin typeface="Inter" panose="020B0604020202020204" charset="0"/>
                <a:ea typeface="Inter" panose="020B0604020202020204" charset="0"/>
              </a:rPr>
            </a:br>
            <a:br>
              <a:rPr lang="en-US" sz="1750">
                <a:latin typeface="Inter" panose="020B0604020202020204" charset="0"/>
                <a:ea typeface="Inter" panose="020B0604020202020204" charset="0"/>
              </a:rPr>
            </a:br>
            <a:r>
              <a:rPr lang="en-US" sz="1750">
                <a:latin typeface="Inter" panose="020B0604020202020204" charset="0"/>
                <a:ea typeface="Inter" panose="020B0604020202020204" charset="0"/>
              </a:rPr>
              <a:t>Thực hiện bởi Cô VŨ THỊ HỒNG HÀ</a:t>
            </a:r>
            <a:endParaRPr lang="en-US" sz="1750" dirty="0">
              <a:latin typeface="Inter" panose="020B0604020202020204" charset="0"/>
              <a:ea typeface="Inter" panose="020B0604020202020204" charset="0"/>
            </a:endParaRPr>
          </a:p>
        </p:txBody>
      </p:sp>
      <p:sp>
        <p:nvSpPr>
          <p:cNvPr id="5" name="Rectangle 4">
            <a:extLst>
              <a:ext uri="{FF2B5EF4-FFF2-40B4-BE49-F238E27FC236}">
                <a16:creationId xmlns:a16="http://schemas.microsoft.com/office/drawing/2014/main" id="{49D5BD83-BF21-DAB9-242D-6BCA0D99921D}"/>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984719" y="3182360"/>
            <a:ext cx="6237684" cy="779621"/>
          </a:xfrm>
          <a:prstGeom prst="rect">
            <a:avLst/>
          </a:prstGeom>
          <a:noFill/>
          <a:ln/>
        </p:spPr>
        <p:txBody>
          <a:bodyPr wrap="none" lIns="0" tIns="0" rIns="0" bIns="0" rtlCol="0" anchor="t"/>
          <a:lstStyle/>
          <a:p>
            <a:pPr marL="0" indent="0" algn="l">
              <a:lnSpc>
                <a:spcPts val="6100"/>
              </a:lnSpc>
              <a:buNone/>
            </a:pPr>
            <a:r>
              <a:rPr lang="en-US" sz="4900" b="1">
                <a:solidFill>
                  <a:srgbClr val="F95F88"/>
                </a:solidFill>
                <a:latin typeface="Inter" panose="020B0604020202020204" charset="0"/>
                <a:ea typeface="Inter" panose="020B0604020202020204" charset="0"/>
              </a:rPr>
              <a:t>Mục tiêu của bài học hôm nay</a:t>
            </a:r>
            <a:endParaRPr lang="en-US" sz="4900" dirty="0">
              <a:latin typeface="Inter" panose="020B0604020202020204" charset="0"/>
              <a:ea typeface="Inter" panose="020B0604020202020204" charset="0"/>
            </a:endParaRPr>
          </a:p>
        </p:txBody>
      </p:sp>
      <p:sp>
        <p:nvSpPr>
          <p:cNvPr id="3" name="Shape 1"/>
          <p:cNvSpPr/>
          <p:nvPr/>
        </p:nvSpPr>
        <p:spPr>
          <a:xfrm>
            <a:off x="793909" y="4330830"/>
            <a:ext cx="6407944" cy="1720691"/>
          </a:xfrm>
          <a:prstGeom prst="roundRect">
            <a:avLst>
              <a:gd name="adj" fmla="val 5537"/>
            </a:avLst>
          </a:prstGeom>
          <a:solidFill>
            <a:srgbClr val="E0D7F4"/>
          </a:solidFill>
          <a:ln w="7620">
            <a:solidFill>
              <a:srgbClr val="C6BDDA"/>
            </a:solidFill>
            <a:prstDash val="solid"/>
          </a:ln>
        </p:spPr>
      </p:sp>
      <p:sp>
        <p:nvSpPr>
          <p:cNvPr id="4" name="Text 2"/>
          <p:cNvSpPr/>
          <p:nvPr/>
        </p:nvSpPr>
        <p:spPr>
          <a:xfrm>
            <a:off x="1028224" y="4565264"/>
            <a:ext cx="3118842" cy="389930"/>
          </a:xfrm>
          <a:prstGeom prst="rect">
            <a:avLst/>
          </a:prstGeom>
          <a:noFill/>
          <a:ln/>
        </p:spPr>
        <p:txBody>
          <a:bodyPr wrap="none" lIns="0" tIns="0" rIns="0" bIns="0" rtlCol="0" anchor="t"/>
          <a:lstStyle/>
          <a:p>
            <a:pPr>
              <a:lnSpc>
                <a:spcPts val="3050"/>
              </a:lnSpc>
            </a:pPr>
            <a:r>
              <a:rPr lang="vi-VN" sz="2800">
                <a:latin typeface="Inter" panose="020B0604020202020204" charset="0"/>
                <a:ea typeface="Inter" panose="020B0604020202020204" charset="0"/>
              </a:rPr>
              <a:t>Khơi nguồn tự </a:t>
            </a:r>
            <a:r>
              <a:rPr lang="en-US" sz="2800">
                <a:latin typeface="Inter" panose="020B0604020202020204" charset="0"/>
                <a:ea typeface="Inter" panose="020B0604020202020204" charset="0"/>
              </a:rPr>
              <a:t>giác học tập</a:t>
            </a:r>
            <a:endParaRPr lang="en-US" sz="2450" dirty="0">
              <a:latin typeface="Inter" panose="020B0604020202020204" charset="0"/>
              <a:ea typeface="Inter" panose="020B0604020202020204" charset="0"/>
            </a:endParaRPr>
          </a:p>
        </p:txBody>
      </p:sp>
      <p:sp>
        <p:nvSpPr>
          <p:cNvPr id="5" name="Text 3"/>
          <p:cNvSpPr/>
          <p:nvPr/>
        </p:nvSpPr>
        <p:spPr>
          <a:xfrm>
            <a:off x="1028224" y="5091282"/>
            <a:ext cx="5939076" cy="725805"/>
          </a:xfrm>
          <a:prstGeom prst="rect">
            <a:avLst/>
          </a:prstGeom>
          <a:noFill/>
          <a:ln/>
        </p:spPr>
        <p:txBody>
          <a:bodyPr wrap="square" lIns="0" tIns="0" rIns="0" bIns="0" rtlCol="0" anchor="t"/>
          <a:lstStyle/>
          <a:p>
            <a:pPr>
              <a:lnSpc>
                <a:spcPts val="2850"/>
              </a:lnSpc>
            </a:pPr>
            <a:r>
              <a:rPr lang="en-US" sz="1600">
                <a:latin typeface="Inter" panose="020B0604020202020204" charset="0"/>
                <a:ea typeface="Inter" panose="020B0604020202020204" charset="0"/>
              </a:rPr>
              <a:t>Khám phá sức mạnh của việc học bằng sự tò mò và động lực cá nhân, thay vì chỉ vì điểm số hay sự bắt buộc.</a:t>
            </a:r>
            <a:endParaRPr lang="en-US" sz="1750" dirty="0">
              <a:latin typeface="Inter" panose="020B0604020202020204" charset="0"/>
              <a:ea typeface="Inter" panose="020B0604020202020204" charset="0"/>
            </a:endParaRPr>
          </a:p>
        </p:txBody>
      </p:sp>
      <p:sp>
        <p:nvSpPr>
          <p:cNvPr id="6" name="Shape 4"/>
          <p:cNvSpPr/>
          <p:nvPr/>
        </p:nvSpPr>
        <p:spPr>
          <a:xfrm>
            <a:off x="7428548" y="4330830"/>
            <a:ext cx="6408063" cy="1720691"/>
          </a:xfrm>
          <a:prstGeom prst="roundRect">
            <a:avLst>
              <a:gd name="adj" fmla="val 5537"/>
            </a:avLst>
          </a:prstGeom>
          <a:solidFill>
            <a:srgbClr val="E0D7F4"/>
          </a:solidFill>
          <a:ln w="7620">
            <a:solidFill>
              <a:srgbClr val="C6BDDA"/>
            </a:solidFill>
            <a:prstDash val="solid"/>
          </a:ln>
        </p:spPr>
      </p:sp>
      <p:sp>
        <p:nvSpPr>
          <p:cNvPr id="7" name="Text 5"/>
          <p:cNvSpPr/>
          <p:nvPr/>
        </p:nvSpPr>
        <p:spPr>
          <a:xfrm>
            <a:off x="7662982" y="4565264"/>
            <a:ext cx="3118842" cy="389930"/>
          </a:xfrm>
          <a:prstGeom prst="rect">
            <a:avLst/>
          </a:prstGeom>
          <a:noFill/>
          <a:ln/>
        </p:spPr>
        <p:txBody>
          <a:bodyPr wrap="none" lIns="0" tIns="0" rIns="0" bIns="0" rtlCol="0" anchor="t"/>
          <a:lstStyle/>
          <a:p>
            <a:pPr>
              <a:lnSpc>
                <a:spcPts val="3050"/>
              </a:lnSpc>
            </a:pPr>
            <a:r>
              <a:rPr lang="en-US" sz="2800">
                <a:latin typeface="Inter" panose="020B0604020202020204" charset="0"/>
                <a:ea typeface="Inter" panose="020B0604020202020204" charset="0"/>
              </a:rPr>
              <a:t>Định vị lại bản thân</a:t>
            </a:r>
            <a:endParaRPr lang="en-US" sz="2450" dirty="0">
              <a:latin typeface="Inter" panose="020B0604020202020204" charset="0"/>
              <a:ea typeface="Inter" panose="020B0604020202020204" charset="0"/>
            </a:endParaRPr>
          </a:p>
        </p:txBody>
      </p:sp>
      <p:sp>
        <p:nvSpPr>
          <p:cNvPr id="8" name="Text 6"/>
          <p:cNvSpPr/>
          <p:nvPr/>
        </p:nvSpPr>
        <p:spPr>
          <a:xfrm>
            <a:off x="7662982" y="5091282"/>
            <a:ext cx="5939195" cy="725805"/>
          </a:xfrm>
          <a:prstGeom prst="rect">
            <a:avLst/>
          </a:prstGeom>
          <a:noFill/>
          <a:ln/>
        </p:spPr>
        <p:txBody>
          <a:bodyPr wrap="square" lIns="0" tIns="0" rIns="0" bIns="0" rtlCol="0" anchor="t"/>
          <a:lstStyle/>
          <a:p>
            <a:pPr>
              <a:lnSpc>
                <a:spcPts val="2850"/>
              </a:lnSpc>
            </a:pPr>
            <a:r>
              <a:rPr lang="vi-VN" sz="1600">
                <a:latin typeface="Inter" panose="020B0604020202020204" charset="0"/>
                <a:ea typeface="Inter" panose="020B0604020202020204" charset="0"/>
              </a:rPr>
              <a:t>Thấu hiểu cách học sinh làm chủ hành trình tri thức trong kỷ nguyên số đầy rẫy thông tin và cơ hội.</a:t>
            </a:r>
            <a:endParaRPr lang="en-US" sz="1750" dirty="0">
              <a:latin typeface="Inter" panose="020B0604020202020204" charset="0"/>
              <a:ea typeface="Inter" panose="020B0604020202020204" charset="0"/>
            </a:endParaRPr>
          </a:p>
        </p:txBody>
      </p:sp>
      <p:sp>
        <p:nvSpPr>
          <p:cNvPr id="9" name="Rectangle 8">
            <a:extLst>
              <a:ext uri="{FF2B5EF4-FFF2-40B4-BE49-F238E27FC236}">
                <a16:creationId xmlns:a16="http://schemas.microsoft.com/office/drawing/2014/main" id="{47FBEC66-3DDC-4E38-82E1-83AA4C723481}"/>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pic>
        <p:nvPicPr>
          <p:cNvPr id="10" name="Image 0" descr="preencoded.png">
            <a:extLst>
              <a:ext uri="{FF2B5EF4-FFF2-40B4-BE49-F238E27FC236}">
                <a16:creationId xmlns:a16="http://schemas.microsoft.com/office/drawing/2014/main" id="{55D8B085-912A-A973-35FC-4B57487AE103}"/>
              </a:ext>
            </a:extLst>
          </p:cNvPr>
          <p:cNvPicPr>
            <a:picLocks noChangeAspect="1"/>
          </p:cNvPicPr>
          <p:nvPr/>
        </p:nvPicPr>
        <p:blipFill>
          <a:blip r:embed="rId3"/>
          <a:stretch>
            <a:fillRect/>
          </a:stretch>
        </p:blipFill>
        <p:spPr>
          <a:xfrm>
            <a:off x="0" y="0"/>
            <a:ext cx="14630400" cy="20034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966079" y="447556"/>
            <a:ext cx="5085636" cy="532924"/>
          </a:xfrm>
          <a:prstGeom prst="rect">
            <a:avLst/>
          </a:prstGeom>
          <a:noFill/>
          <a:ln/>
        </p:spPr>
        <p:txBody>
          <a:bodyPr wrap="none" lIns="0" tIns="0" rIns="0" bIns="0" rtlCol="0" anchor="t"/>
          <a:lstStyle/>
          <a:p>
            <a:pPr marL="0" indent="0" algn="l">
              <a:lnSpc>
                <a:spcPts val="4150"/>
              </a:lnSpc>
              <a:buNone/>
            </a:pPr>
            <a:r>
              <a:rPr lang="en-US" sz="3350" b="1">
                <a:solidFill>
                  <a:srgbClr val="F95F88"/>
                </a:solidFill>
                <a:latin typeface="Inter" panose="020B0604020202020204" charset="0"/>
                <a:ea typeface="Inter" panose="020B0604020202020204" charset="0"/>
                <a:cs typeface="Petrona Bold" pitchFamily="34" charset="-120"/>
              </a:rPr>
              <a:t>Câu hỏi đặt ra:</a:t>
            </a:r>
            <a:endParaRPr lang="en-US" sz="3350" dirty="0">
              <a:latin typeface="Inter" panose="020B0604020202020204" charset="0"/>
              <a:ea typeface="Inter" panose="020B0604020202020204" charset="0"/>
            </a:endParaRPr>
          </a:p>
        </p:txBody>
      </p:sp>
      <p:sp>
        <p:nvSpPr>
          <p:cNvPr id="3" name="Text 1"/>
          <p:cNvSpPr/>
          <p:nvPr/>
        </p:nvSpPr>
        <p:spPr>
          <a:xfrm>
            <a:off x="2198608" y="1351359"/>
            <a:ext cx="9077325" cy="426363"/>
          </a:xfrm>
          <a:prstGeom prst="rect">
            <a:avLst/>
          </a:prstGeom>
          <a:noFill/>
          <a:ln/>
        </p:spPr>
        <p:txBody>
          <a:bodyPr wrap="none" lIns="0" tIns="0" rIns="0" bIns="0" rtlCol="0" anchor="t"/>
          <a:lstStyle/>
          <a:p>
            <a:pPr marL="0" indent="0" algn="l">
              <a:lnSpc>
                <a:spcPts val="3350"/>
              </a:lnSpc>
              <a:buNone/>
            </a:pPr>
            <a:r>
              <a:rPr lang="en-US" sz="2650" b="1">
                <a:solidFill>
                  <a:srgbClr val="F95F88"/>
                </a:solidFill>
                <a:latin typeface="Inter" panose="020B0604020202020204" charset="0"/>
                <a:ea typeface="Inter" panose="020B0604020202020204" charset="0"/>
                <a:cs typeface="Petrona Bold" pitchFamily="34" charset="-120"/>
              </a:rPr>
              <a:t>“Học tập có phải là quyền và nghĩa vụ, hay là điều bị ép buộc ?”</a:t>
            </a:r>
            <a:endParaRPr lang="en-US" sz="2650" dirty="0">
              <a:latin typeface="Inter" panose="020B0604020202020204" charset="0"/>
              <a:ea typeface="Inter" panose="020B0604020202020204" charset="0"/>
            </a:endParaRPr>
          </a:p>
        </p:txBody>
      </p:sp>
      <p:sp>
        <p:nvSpPr>
          <p:cNvPr id="4" name="Shape 2"/>
          <p:cNvSpPr/>
          <p:nvPr/>
        </p:nvSpPr>
        <p:spPr>
          <a:xfrm>
            <a:off x="1966079" y="1192411"/>
            <a:ext cx="22860" cy="744260"/>
          </a:xfrm>
          <a:prstGeom prst="rect">
            <a:avLst/>
          </a:prstGeom>
          <a:solidFill>
            <a:srgbClr val="6237C8"/>
          </a:solidFill>
          <a:ln/>
        </p:spPr>
      </p:sp>
      <p:pic>
        <p:nvPicPr>
          <p:cNvPr id="5" name="Image 0" descr="preencoded.png"/>
          <p:cNvPicPr>
            <a:picLocks noChangeAspect="1"/>
          </p:cNvPicPr>
          <p:nvPr/>
        </p:nvPicPr>
        <p:blipFill>
          <a:blip r:embed="rId3"/>
          <a:stretch>
            <a:fillRect/>
          </a:stretch>
        </p:blipFill>
        <p:spPr>
          <a:xfrm>
            <a:off x="1966079" y="2175034"/>
            <a:ext cx="5159931" cy="5159931"/>
          </a:xfrm>
          <a:prstGeom prst="rect">
            <a:avLst/>
          </a:prstGeom>
        </p:spPr>
      </p:pic>
      <p:pic>
        <p:nvPicPr>
          <p:cNvPr id="6" name="Image 1" descr="preencoded.png"/>
          <p:cNvPicPr>
            <a:picLocks noChangeAspect="1"/>
          </p:cNvPicPr>
          <p:nvPr/>
        </p:nvPicPr>
        <p:blipFill>
          <a:blip r:embed="rId4"/>
          <a:stretch>
            <a:fillRect/>
          </a:stretch>
        </p:blipFill>
        <p:spPr>
          <a:xfrm>
            <a:off x="7511772" y="2175034"/>
            <a:ext cx="5159931" cy="5159931"/>
          </a:xfrm>
          <a:prstGeom prst="rect">
            <a:avLst/>
          </a:prstGeom>
        </p:spPr>
      </p:pic>
      <p:sp>
        <p:nvSpPr>
          <p:cNvPr id="9" name="Rectangle 8">
            <a:extLst>
              <a:ext uri="{FF2B5EF4-FFF2-40B4-BE49-F238E27FC236}">
                <a16:creationId xmlns:a16="http://schemas.microsoft.com/office/drawing/2014/main" id="{620C6F8C-E414-F3CE-2797-85A72164DA81}"/>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78418"/>
            <a:ext cx="7517725" cy="779621"/>
          </a:xfrm>
          <a:prstGeom prst="rect">
            <a:avLst/>
          </a:prstGeom>
          <a:noFill/>
          <a:ln/>
        </p:spPr>
        <p:txBody>
          <a:bodyPr wrap="none" lIns="0" tIns="0" rIns="0" bIns="0" rtlCol="0" anchor="t"/>
          <a:lstStyle/>
          <a:p>
            <a:pPr marL="0" indent="0" algn="l">
              <a:lnSpc>
                <a:spcPts val="6100"/>
              </a:lnSpc>
              <a:buNone/>
            </a:pPr>
            <a:r>
              <a:rPr lang="en-US" sz="4900" b="1">
                <a:solidFill>
                  <a:srgbClr val="F95F88"/>
                </a:solidFill>
                <a:latin typeface="Inter" panose="020B0604020202020204" charset="0"/>
                <a:ea typeface="Inter" panose="020B0604020202020204" charset="0"/>
                <a:cs typeface="Petrona Bold" pitchFamily="34" charset="-120"/>
              </a:rPr>
              <a:t>Hiện thực xã hội</a:t>
            </a:r>
            <a:endParaRPr lang="en-US" sz="4900" dirty="0">
              <a:latin typeface="Inter" panose="020B0604020202020204" charset="0"/>
              <a:ea typeface="Inter" panose="020B0604020202020204" charset="0"/>
            </a:endParaRPr>
          </a:p>
        </p:txBody>
      </p:sp>
      <p:sp>
        <p:nvSpPr>
          <p:cNvPr id="4" name="Shape 1"/>
          <p:cNvSpPr/>
          <p:nvPr/>
        </p:nvSpPr>
        <p:spPr>
          <a:xfrm>
            <a:off x="6280190" y="1798201"/>
            <a:ext cx="7556421" cy="1766411"/>
          </a:xfrm>
          <a:prstGeom prst="roundRect">
            <a:avLst>
              <a:gd name="adj" fmla="val 8283"/>
            </a:avLst>
          </a:prstGeom>
          <a:solidFill>
            <a:srgbClr val="FDFAF7"/>
          </a:solidFill>
          <a:ln w="30480">
            <a:solidFill>
              <a:srgbClr val="C6BDDA"/>
            </a:solidFill>
            <a:prstDash val="solid"/>
          </a:ln>
        </p:spPr>
      </p:sp>
      <p:sp>
        <p:nvSpPr>
          <p:cNvPr id="5" name="Shape 2"/>
          <p:cNvSpPr/>
          <p:nvPr/>
        </p:nvSpPr>
        <p:spPr>
          <a:xfrm>
            <a:off x="6249710" y="1798201"/>
            <a:ext cx="121920" cy="1766411"/>
          </a:xfrm>
          <a:prstGeom prst="roundRect">
            <a:avLst>
              <a:gd name="adj" fmla="val 78139"/>
            </a:avLst>
          </a:prstGeom>
          <a:solidFill>
            <a:srgbClr val="6237C8"/>
          </a:solidFill>
          <a:ln/>
        </p:spPr>
      </p:sp>
      <p:sp>
        <p:nvSpPr>
          <p:cNvPr id="6" name="Text 3"/>
          <p:cNvSpPr/>
          <p:nvPr/>
        </p:nvSpPr>
        <p:spPr>
          <a:xfrm>
            <a:off x="6628924" y="2055495"/>
            <a:ext cx="5514975" cy="389930"/>
          </a:xfrm>
          <a:prstGeom prst="rect">
            <a:avLst/>
          </a:prstGeom>
          <a:noFill/>
          <a:ln/>
        </p:spPr>
        <p:txBody>
          <a:bodyPr wrap="none" lIns="0" tIns="0" rIns="0" bIns="0" rtlCol="0" anchor="t"/>
          <a:lstStyle/>
          <a:p>
            <a:pPr marL="0" indent="0" algn="l">
              <a:lnSpc>
                <a:spcPts val="3050"/>
              </a:lnSpc>
              <a:buNone/>
            </a:pPr>
            <a:r>
              <a:rPr lang="en-US" sz="2450" b="1">
                <a:solidFill>
                  <a:srgbClr val="272525"/>
                </a:solidFill>
                <a:latin typeface="Inter" panose="020B0604020202020204" charset="0"/>
                <a:ea typeface="Inter" panose="020B0604020202020204" charset="0"/>
                <a:cs typeface="Petrona Bold" pitchFamily="34" charset="-120"/>
              </a:rPr>
              <a:t>Học thuộc lòng nhưng không hiểu </a:t>
            </a:r>
            <a:endParaRPr lang="en-US" sz="2450" dirty="0">
              <a:latin typeface="Inter" panose="020B0604020202020204" charset="0"/>
              <a:ea typeface="Inter" panose="020B0604020202020204" charset="0"/>
            </a:endParaRPr>
          </a:p>
        </p:txBody>
      </p:sp>
      <p:sp>
        <p:nvSpPr>
          <p:cNvPr id="7" name="Text 4"/>
          <p:cNvSpPr/>
          <p:nvPr/>
        </p:nvSpPr>
        <p:spPr>
          <a:xfrm>
            <a:off x="6628924" y="2581513"/>
            <a:ext cx="6950393" cy="725805"/>
          </a:xfrm>
          <a:prstGeom prst="rect">
            <a:avLst/>
          </a:prstGeom>
          <a:noFill/>
          <a:ln/>
        </p:spPr>
        <p:txBody>
          <a:bodyPr wrap="square" lIns="0" tIns="0" rIns="0" bIns="0" rtlCol="0" anchor="t"/>
          <a:lstStyle/>
          <a:p>
            <a:pPr marL="0" indent="0" algn="l">
              <a:lnSpc>
                <a:spcPts val="2850"/>
              </a:lnSpc>
              <a:buNone/>
            </a:pPr>
            <a:r>
              <a:rPr lang="en-US" sz="1750">
                <a:solidFill>
                  <a:srgbClr val="272525"/>
                </a:solidFill>
                <a:latin typeface="Inter" panose="020B0604020202020204" charset="0"/>
                <a:ea typeface="Inter" panose="020B0604020202020204" charset="0"/>
                <a:cs typeface="Inter" pitchFamily="34" charset="-120"/>
              </a:rPr>
              <a:t>- Tình trạng chung của học sinh hiện nay đó là học để kiểm tra và sau đó không còn nhớ gì về kiến thức đã học (học vẹt)</a:t>
            </a:r>
            <a:endParaRPr lang="en-US" sz="1750" dirty="0">
              <a:latin typeface="Inter" panose="020B0604020202020204" charset="0"/>
              <a:ea typeface="Inter" panose="020B0604020202020204" charset="0"/>
            </a:endParaRPr>
          </a:p>
        </p:txBody>
      </p:sp>
      <p:sp>
        <p:nvSpPr>
          <p:cNvPr id="8" name="Shape 5"/>
          <p:cNvSpPr/>
          <p:nvPr/>
        </p:nvSpPr>
        <p:spPr>
          <a:xfrm>
            <a:off x="6280190" y="3791426"/>
            <a:ext cx="7556421" cy="1766411"/>
          </a:xfrm>
          <a:prstGeom prst="roundRect">
            <a:avLst>
              <a:gd name="adj" fmla="val 8283"/>
            </a:avLst>
          </a:prstGeom>
          <a:solidFill>
            <a:srgbClr val="FDFAF7"/>
          </a:solidFill>
          <a:ln w="30480">
            <a:solidFill>
              <a:srgbClr val="C6BDDA"/>
            </a:solidFill>
            <a:prstDash val="solid"/>
          </a:ln>
        </p:spPr>
      </p:sp>
      <p:sp>
        <p:nvSpPr>
          <p:cNvPr id="9" name="Shape 6"/>
          <p:cNvSpPr/>
          <p:nvPr/>
        </p:nvSpPr>
        <p:spPr>
          <a:xfrm>
            <a:off x="6249710" y="3791426"/>
            <a:ext cx="121920" cy="1766411"/>
          </a:xfrm>
          <a:prstGeom prst="roundRect">
            <a:avLst>
              <a:gd name="adj" fmla="val 78139"/>
            </a:avLst>
          </a:prstGeom>
          <a:solidFill>
            <a:srgbClr val="6237C8"/>
          </a:solidFill>
          <a:ln/>
        </p:spPr>
      </p:sp>
      <p:sp>
        <p:nvSpPr>
          <p:cNvPr id="10" name="Text 7"/>
          <p:cNvSpPr/>
          <p:nvPr/>
        </p:nvSpPr>
        <p:spPr>
          <a:xfrm>
            <a:off x="6628924" y="4048720"/>
            <a:ext cx="3118842" cy="389930"/>
          </a:xfrm>
          <a:prstGeom prst="rect">
            <a:avLst/>
          </a:prstGeom>
          <a:noFill/>
          <a:ln/>
        </p:spPr>
        <p:txBody>
          <a:bodyPr wrap="none" lIns="0" tIns="0" rIns="0" bIns="0" rtlCol="0" anchor="t"/>
          <a:lstStyle/>
          <a:p>
            <a:pPr marL="0" indent="0" algn="l">
              <a:lnSpc>
                <a:spcPts val="3050"/>
              </a:lnSpc>
              <a:buNone/>
            </a:pPr>
            <a:r>
              <a:rPr lang="en-US" sz="2450" b="1">
                <a:solidFill>
                  <a:srgbClr val="272525"/>
                </a:solidFill>
                <a:latin typeface="Inter" panose="020B0604020202020204" charset="0"/>
                <a:ea typeface="Inter" panose="020B0604020202020204" charset="0"/>
              </a:rPr>
              <a:t>Học để đối phó</a:t>
            </a:r>
            <a:endParaRPr lang="en-US" sz="2450" dirty="0">
              <a:latin typeface="Inter" panose="020B0604020202020204" charset="0"/>
              <a:ea typeface="Inter" panose="020B0604020202020204" charset="0"/>
            </a:endParaRPr>
          </a:p>
        </p:txBody>
      </p:sp>
      <p:sp>
        <p:nvSpPr>
          <p:cNvPr id="11" name="Text 8"/>
          <p:cNvSpPr/>
          <p:nvPr/>
        </p:nvSpPr>
        <p:spPr>
          <a:xfrm>
            <a:off x="6628924" y="4574738"/>
            <a:ext cx="6950393" cy="725805"/>
          </a:xfrm>
          <a:prstGeom prst="rect">
            <a:avLst/>
          </a:prstGeom>
          <a:noFill/>
          <a:ln/>
        </p:spPr>
        <p:txBody>
          <a:bodyPr wrap="square" lIns="0" tIns="0" rIns="0" bIns="0" rtlCol="0" anchor="t"/>
          <a:lstStyle/>
          <a:p>
            <a:pPr marL="0" indent="0" algn="l">
              <a:lnSpc>
                <a:spcPts val="2850"/>
              </a:lnSpc>
              <a:buNone/>
            </a:pPr>
            <a:r>
              <a:rPr lang="en-US" sz="1750">
                <a:solidFill>
                  <a:srgbClr val="272525"/>
                </a:solidFill>
                <a:latin typeface="Inter" panose="020B0604020202020204" charset="0"/>
                <a:ea typeface="Inter" panose="020B0604020202020204" charset="0"/>
              </a:rPr>
              <a:t>- Chỉ học đủ điểm chứ chưa thực sự đào sao vào gốc rễ của bài học, của vấn đề.</a:t>
            </a:r>
            <a:endParaRPr lang="en-US" sz="1750" dirty="0">
              <a:latin typeface="Inter" panose="020B0604020202020204" charset="0"/>
              <a:ea typeface="Inter" panose="020B0604020202020204" charset="0"/>
            </a:endParaRPr>
          </a:p>
        </p:txBody>
      </p:sp>
      <p:sp>
        <p:nvSpPr>
          <p:cNvPr id="12" name="Shape 9"/>
          <p:cNvSpPr/>
          <p:nvPr/>
        </p:nvSpPr>
        <p:spPr>
          <a:xfrm>
            <a:off x="6280190" y="5784652"/>
            <a:ext cx="7556421" cy="1766411"/>
          </a:xfrm>
          <a:prstGeom prst="roundRect">
            <a:avLst>
              <a:gd name="adj" fmla="val 8283"/>
            </a:avLst>
          </a:prstGeom>
          <a:solidFill>
            <a:srgbClr val="FDFAF7"/>
          </a:solidFill>
          <a:ln w="30480">
            <a:solidFill>
              <a:srgbClr val="C6BDDA"/>
            </a:solidFill>
            <a:prstDash val="solid"/>
          </a:ln>
        </p:spPr>
      </p:sp>
      <p:sp>
        <p:nvSpPr>
          <p:cNvPr id="13" name="Shape 10"/>
          <p:cNvSpPr/>
          <p:nvPr/>
        </p:nvSpPr>
        <p:spPr>
          <a:xfrm>
            <a:off x="6249710" y="5784652"/>
            <a:ext cx="121920" cy="1766411"/>
          </a:xfrm>
          <a:prstGeom prst="roundRect">
            <a:avLst>
              <a:gd name="adj" fmla="val 78139"/>
            </a:avLst>
          </a:prstGeom>
          <a:solidFill>
            <a:srgbClr val="6237C8"/>
          </a:solidFill>
          <a:ln/>
        </p:spPr>
      </p:sp>
      <p:sp>
        <p:nvSpPr>
          <p:cNvPr id="14" name="Text 11"/>
          <p:cNvSpPr/>
          <p:nvPr/>
        </p:nvSpPr>
        <p:spPr>
          <a:xfrm>
            <a:off x="6628924" y="6041946"/>
            <a:ext cx="3118842" cy="389930"/>
          </a:xfrm>
          <a:prstGeom prst="rect">
            <a:avLst/>
          </a:prstGeom>
          <a:noFill/>
          <a:ln/>
        </p:spPr>
        <p:txBody>
          <a:bodyPr wrap="none" lIns="0" tIns="0" rIns="0" bIns="0" rtlCol="0" anchor="t"/>
          <a:lstStyle/>
          <a:p>
            <a:pPr marL="0" indent="0" algn="l">
              <a:lnSpc>
                <a:spcPts val="3050"/>
              </a:lnSpc>
              <a:buNone/>
            </a:pPr>
            <a:r>
              <a:rPr lang="en-US" sz="2450" b="1">
                <a:solidFill>
                  <a:srgbClr val="272525"/>
                </a:solidFill>
                <a:latin typeface="Inter" panose="020B0604020202020204" charset="0"/>
                <a:ea typeface="Inter" panose="020B0604020202020204" charset="0"/>
                <a:cs typeface="Petrona Bold" pitchFamily="34" charset="-120"/>
              </a:rPr>
              <a:t>Sự xao nhãng với thiết bị điện tử</a:t>
            </a:r>
            <a:endParaRPr lang="en-US" sz="2450" dirty="0">
              <a:latin typeface="Inter" panose="020B0604020202020204" charset="0"/>
              <a:ea typeface="Inter" panose="020B0604020202020204" charset="0"/>
            </a:endParaRPr>
          </a:p>
        </p:txBody>
      </p:sp>
      <p:sp>
        <p:nvSpPr>
          <p:cNvPr id="15" name="Text 12"/>
          <p:cNvSpPr/>
          <p:nvPr/>
        </p:nvSpPr>
        <p:spPr>
          <a:xfrm>
            <a:off x="6628924" y="6567964"/>
            <a:ext cx="6950393" cy="725805"/>
          </a:xfrm>
          <a:prstGeom prst="rect">
            <a:avLst/>
          </a:prstGeom>
          <a:noFill/>
          <a:ln/>
        </p:spPr>
        <p:txBody>
          <a:bodyPr wrap="square" lIns="0" tIns="0" rIns="0" bIns="0" rtlCol="0" anchor="t"/>
          <a:lstStyle/>
          <a:p>
            <a:pPr marL="0" indent="0" algn="l">
              <a:lnSpc>
                <a:spcPts val="2850"/>
              </a:lnSpc>
              <a:buNone/>
            </a:pPr>
            <a:r>
              <a:rPr lang="en-US" sz="1750">
                <a:solidFill>
                  <a:srgbClr val="272525"/>
                </a:solidFill>
                <a:latin typeface="Inter" panose="020B0604020202020204" charset="0"/>
                <a:ea typeface="Inter" panose="020B0604020202020204" charset="0"/>
                <a:cs typeface="Inter" pitchFamily="34" charset="-120"/>
              </a:rPr>
              <a:t>- Mạng xã hội, game, ứng dụng nhắn tin gây xao nhãng trong quá trình học tập.</a:t>
            </a:r>
            <a:endParaRPr lang="en-US" sz="1750" dirty="0">
              <a:latin typeface="Inter" panose="020B0604020202020204" charset="0"/>
              <a:ea typeface="Inter" panose="020B0604020202020204" charset="0"/>
            </a:endParaRPr>
          </a:p>
        </p:txBody>
      </p:sp>
      <p:sp>
        <p:nvSpPr>
          <p:cNvPr id="16" name="Rectangle 15">
            <a:extLst>
              <a:ext uri="{FF2B5EF4-FFF2-40B4-BE49-F238E27FC236}">
                <a16:creationId xmlns:a16="http://schemas.microsoft.com/office/drawing/2014/main" id="{0CD46CBB-0AA9-C478-4683-6ECF5F4236C9}"/>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30436" y="3237309"/>
            <a:ext cx="5211723" cy="3143964"/>
          </a:xfrm>
          <a:prstGeom prst="roundRect">
            <a:avLst>
              <a:gd name="adj" fmla="val 5195"/>
            </a:avLst>
          </a:prstGeom>
          <a:solidFill>
            <a:srgbClr val="6237C8"/>
          </a:solidFill>
          <a:ln/>
        </p:spPr>
      </p:sp>
      <p:sp>
        <p:nvSpPr>
          <p:cNvPr id="3" name="Text 1"/>
          <p:cNvSpPr/>
          <p:nvPr/>
        </p:nvSpPr>
        <p:spPr>
          <a:xfrm>
            <a:off x="857250" y="3464123"/>
            <a:ext cx="4758095" cy="1247299"/>
          </a:xfrm>
          <a:prstGeom prst="rect">
            <a:avLst/>
          </a:prstGeom>
          <a:noFill/>
          <a:ln/>
        </p:spPr>
        <p:txBody>
          <a:bodyPr wrap="square" lIns="0" tIns="0" rIns="0" bIns="0" rtlCol="0" anchor="t"/>
          <a:lstStyle/>
          <a:p>
            <a:pPr marL="0" indent="0" algn="l">
              <a:lnSpc>
                <a:spcPts val="4900"/>
              </a:lnSpc>
              <a:buNone/>
            </a:pPr>
            <a:r>
              <a:rPr lang="en-US" sz="3900" b="1">
                <a:solidFill>
                  <a:srgbClr val="FFFFFF"/>
                </a:solidFill>
                <a:latin typeface="Inter" panose="020B0604020202020204" charset="0"/>
                <a:ea typeface="Inter" panose="020B0604020202020204" charset="0"/>
                <a:cs typeface="Petrona Bold" pitchFamily="34" charset="-120"/>
              </a:rPr>
              <a:t>Tính tự giác trong việc học là gì ?</a:t>
            </a:r>
            <a:endParaRPr lang="en-US" sz="3900" dirty="0">
              <a:latin typeface="Inter" panose="020B0604020202020204" charset="0"/>
              <a:ea typeface="Inter" panose="020B0604020202020204" charset="0"/>
            </a:endParaRPr>
          </a:p>
        </p:txBody>
      </p:sp>
      <p:sp>
        <p:nvSpPr>
          <p:cNvPr id="4" name="Text 2"/>
          <p:cNvSpPr/>
          <p:nvPr/>
        </p:nvSpPr>
        <p:spPr>
          <a:xfrm>
            <a:off x="857250" y="4938236"/>
            <a:ext cx="4758095" cy="362903"/>
          </a:xfrm>
          <a:prstGeom prst="rect">
            <a:avLst/>
          </a:prstGeom>
          <a:noFill/>
          <a:ln/>
        </p:spPr>
        <p:txBody>
          <a:bodyPr wrap="none" lIns="0" tIns="0" rIns="0" bIns="0" rtlCol="0" anchor="t"/>
          <a:lstStyle/>
          <a:p>
            <a:pPr marL="0" indent="0" algn="l">
              <a:lnSpc>
                <a:spcPts val="2850"/>
              </a:lnSpc>
              <a:buNone/>
            </a:pPr>
            <a:r>
              <a:rPr lang="en-US" sz="1750">
                <a:solidFill>
                  <a:srgbClr val="FFFFFF"/>
                </a:solidFill>
                <a:latin typeface="Inter" panose="020B0604020202020204" charset="0"/>
                <a:ea typeface="Inter" panose="020B0604020202020204" charset="0"/>
              </a:rPr>
              <a:t>Động lực khiến chúng ta không ngừng học hỏi</a:t>
            </a:r>
            <a:endParaRPr lang="en-US" sz="1750" dirty="0">
              <a:latin typeface="Inter" panose="020B0604020202020204" charset="0"/>
              <a:ea typeface="Inter" panose="020B0604020202020204" charset="0"/>
            </a:endParaRPr>
          </a:p>
        </p:txBody>
      </p:sp>
      <p:sp>
        <p:nvSpPr>
          <p:cNvPr id="5" name="Text 3"/>
          <p:cNvSpPr/>
          <p:nvPr/>
        </p:nvSpPr>
        <p:spPr>
          <a:xfrm>
            <a:off x="6239828" y="3464123"/>
            <a:ext cx="4767977" cy="467678"/>
          </a:xfrm>
          <a:prstGeom prst="rect">
            <a:avLst/>
          </a:prstGeom>
          <a:noFill/>
          <a:ln/>
        </p:spPr>
        <p:txBody>
          <a:bodyPr wrap="none" lIns="0" tIns="0" rIns="0" bIns="0" rtlCol="0" anchor="t"/>
          <a:lstStyle/>
          <a:p>
            <a:pPr marL="0" indent="0" algn="l">
              <a:lnSpc>
                <a:spcPts val="3650"/>
              </a:lnSpc>
              <a:buNone/>
            </a:pPr>
            <a:r>
              <a:rPr lang="en-US" sz="2900" b="1">
                <a:solidFill>
                  <a:srgbClr val="F95F88"/>
                </a:solidFill>
                <a:latin typeface="Inter" panose="020B0604020202020204" charset="0"/>
                <a:ea typeface="Inter" panose="020B0604020202020204" charset="0"/>
              </a:rPr>
              <a:t>Động lực bền bỉ của bạn</a:t>
            </a:r>
            <a:endParaRPr lang="en-US" sz="2900" dirty="0">
              <a:latin typeface="Inter" panose="020B0604020202020204" charset="0"/>
              <a:ea typeface="Inter" panose="020B0604020202020204" charset="0"/>
            </a:endParaRPr>
          </a:p>
        </p:txBody>
      </p:sp>
      <p:sp>
        <p:nvSpPr>
          <p:cNvPr id="6" name="Text 4"/>
          <p:cNvSpPr/>
          <p:nvPr/>
        </p:nvSpPr>
        <p:spPr>
          <a:xfrm>
            <a:off x="6239828" y="4158614"/>
            <a:ext cx="7604284" cy="1088708"/>
          </a:xfrm>
          <a:prstGeom prst="rect">
            <a:avLst/>
          </a:prstGeom>
          <a:noFill/>
          <a:ln/>
        </p:spPr>
        <p:txBody>
          <a:bodyPr wrap="square" lIns="0" tIns="0" rIns="0" bIns="0" rtlCol="0" anchor="t"/>
          <a:lstStyle/>
          <a:p>
            <a:pPr>
              <a:lnSpc>
                <a:spcPts val="2850"/>
              </a:lnSpc>
            </a:pPr>
            <a:r>
              <a:rPr lang="vi-VN" sz="1750">
                <a:solidFill>
                  <a:srgbClr val="272525"/>
                </a:solidFill>
                <a:latin typeface="Inter" panose="020B0604020202020204" charset="0"/>
                <a:ea typeface="Inter" panose="020B0604020202020204" charset="0"/>
                <a:cs typeface="Inter" pitchFamily="34" charset="-120"/>
              </a:rPr>
              <a:t>Tính tự </a:t>
            </a:r>
            <a:r>
              <a:rPr lang="en-US" sz="1750">
                <a:solidFill>
                  <a:srgbClr val="272525"/>
                </a:solidFill>
                <a:latin typeface="Inter" panose="020B0604020202020204" charset="0"/>
                <a:ea typeface="Inter" panose="020B0604020202020204" charset="0"/>
                <a:cs typeface="Inter" pitchFamily="34" charset="-120"/>
              </a:rPr>
              <a:t>giác trong việc tự học đó là</a:t>
            </a:r>
            <a:r>
              <a:rPr lang="vi-VN" sz="1750">
                <a:solidFill>
                  <a:srgbClr val="272525"/>
                </a:solidFill>
                <a:latin typeface="Inter" panose="020B0604020202020204" charset="0"/>
                <a:ea typeface="Inter" panose="020B0604020202020204" charset="0"/>
                <a:cs typeface="Inter" pitchFamily="34" charset="-120"/>
              </a:rPr>
              <a:t> </a:t>
            </a:r>
            <a:r>
              <a:rPr lang="en-US" sz="1750">
                <a:solidFill>
                  <a:srgbClr val="272525"/>
                </a:solidFill>
                <a:latin typeface="Inter" panose="020B0604020202020204" charset="0"/>
                <a:ea typeface="Inter" panose="020B0604020202020204" charset="0"/>
                <a:cs typeface="Inter" pitchFamily="34" charset="-120"/>
              </a:rPr>
              <a:t>sự</a:t>
            </a:r>
            <a:r>
              <a:rPr lang="vi-VN" sz="1750">
                <a:solidFill>
                  <a:srgbClr val="272525"/>
                </a:solidFill>
                <a:latin typeface="Inter" panose="020B0604020202020204" charset="0"/>
                <a:ea typeface="Inter" panose="020B0604020202020204" charset="0"/>
                <a:cs typeface="Inter" pitchFamily="34" charset="-120"/>
              </a:rPr>
              <a:t> chọn làm điều đúng đắn cho tương lai của bạn, chứ không phải điều dễ dàng ngay bây giờ.</a:t>
            </a:r>
            <a:endParaRPr lang="en-US" sz="1750" dirty="0">
              <a:latin typeface="Inter" panose="020B0604020202020204" charset="0"/>
              <a:ea typeface="Inter" panose="020B0604020202020204" charset="0"/>
            </a:endParaRPr>
          </a:p>
        </p:txBody>
      </p:sp>
      <p:sp>
        <p:nvSpPr>
          <p:cNvPr id="7" name="Text 5"/>
          <p:cNvSpPr/>
          <p:nvPr/>
        </p:nvSpPr>
        <p:spPr>
          <a:xfrm>
            <a:off x="6239828" y="5088492"/>
            <a:ext cx="7604284" cy="725805"/>
          </a:xfrm>
          <a:prstGeom prst="rect">
            <a:avLst/>
          </a:prstGeom>
          <a:noFill/>
          <a:ln/>
        </p:spPr>
        <p:txBody>
          <a:bodyPr wrap="square" lIns="0" tIns="0" rIns="0" bIns="0" rtlCol="0" anchor="t"/>
          <a:lstStyle/>
          <a:p>
            <a:pPr>
              <a:lnSpc>
                <a:spcPts val="2850"/>
              </a:lnSpc>
            </a:pPr>
            <a:r>
              <a:rPr lang="vi-VN" sz="1750">
                <a:solidFill>
                  <a:srgbClr val="272525"/>
                </a:solidFill>
                <a:latin typeface="Inter" panose="020B0604020202020204" charset="0"/>
                <a:ea typeface="Inter" panose="020B0604020202020204" charset="0"/>
                <a:cs typeface="Inter" pitchFamily="34" charset="-120"/>
              </a:rPr>
              <a:t>Hãy coi đó như siêu năng lực của </a:t>
            </a:r>
            <a:r>
              <a:rPr lang="en-US" sz="1750">
                <a:solidFill>
                  <a:srgbClr val="272525"/>
                </a:solidFill>
                <a:latin typeface="Inter" panose="020B0604020202020204" charset="0"/>
                <a:ea typeface="Inter" panose="020B0604020202020204" charset="0"/>
                <a:cs typeface="Inter" pitchFamily="34" charset="-120"/>
              </a:rPr>
              <a:t>bản</a:t>
            </a:r>
            <a:r>
              <a:rPr lang="vi-VN" sz="1750">
                <a:solidFill>
                  <a:srgbClr val="272525"/>
                </a:solidFill>
                <a:latin typeface="Inter" panose="020B0604020202020204" charset="0"/>
                <a:ea typeface="Inter" panose="020B0604020202020204" charset="0"/>
                <a:cs typeface="Inter" pitchFamily="34" charset="-120"/>
              </a:rPr>
              <a:t> - khả năng vừa là huấn luyện viên vừa là người cổ vũ tốt nhất cho chính mình.</a:t>
            </a:r>
            <a:endParaRPr lang="en-US" sz="1750" dirty="0">
              <a:latin typeface="Inter" panose="020B0604020202020204" charset="0"/>
              <a:ea typeface="Inter" panose="020B0604020202020204" charset="0"/>
            </a:endParaRPr>
          </a:p>
        </p:txBody>
      </p:sp>
      <p:sp>
        <p:nvSpPr>
          <p:cNvPr id="8" name="Rectangle 7">
            <a:extLst>
              <a:ext uri="{FF2B5EF4-FFF2-40B4-BE49-F238E27FC236}">
                <a16:creationId xmlns:a16="http://schemas.microsoft.com/office/drawing/2014/main" id="{3909C307-7162-A3AF-B1B5-80FAE01C684D}"/>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pic>
        <p:nvPicPr>
          <p:cNvPr id="9" name="Image 0" descr="preencoded.png">
            <a:extLst>
              <a:ext uri="{FF2B5EF4-FFF2-40B4-BE49-F238E27FC236}">
                <a16:creationId xmlns:a16="http://schemas.microsoft.com/office/drawing/2014/main" id="{9E442F2B-CADC-9D1F-9C9E-85AA23225C0B}"/>
              </a:ext>
            </a:extLst>
          </p:cNvPr>
          <p:cNvPicPr>
            <a:picLocks noChangeAspect="1"/>
          </p:cNvPicPr>
          <p:nvPr/>
        </p:nvPicPr>
        <p:blipFill>
          <a:blip r:embed="rId3"/>
          <a:stretch>
            <a:fillRect/>
          </a:stretch>
        </p:blipFill>
        <p:spPr>
          <a:xfrm>
            <a:off x="0" y="0"/>
            <a:ext cx="14630400" cy="168586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2" name="Text 7"/>
          <p:cNvSpPr/>
          <p:nvPr/>
        </p:nvSpPr>
        <p:spPr>
          <a:xfrm>
            <a:off x="1586114" y="2456424"/>
            <a:ext cx="3431977" cy="336352"/>
          </a:xfrm>
          <a:prstGeom prst="rect">
            <a:avLst/>
          </a:prstGeom>
          <a:noFill/>
          <a:ln/>
        </p:spPr>
        <p:txBody>
          <a:bodyPr wrap="none" lIns="0" tIns="0" rIns="0" bIns="0" rtlCol="0" anchor="t"/>
          <a:lstStyle/>
          <a:p>
            <a:pPr>
              <a:lnSpc>
                <a:spcPts val="2600"/>
              </a:lnSpc>
            </a:pPr>
            <a:r>
              <a:rPr lang="en-US" sz="2800" b="1">
                <a:solidFill>
                  <a:srgbClr val="F95F88"/>
                </a:solidFill>
                <a:latin typeface="Inter" panose="020B0604020202020204" charset="0"/>
                <a:ea typeface="Inter" panose="020B0604020202020204" charset="0"/>
                <a:cs typeface="Petrona Bold" pitchFamily="34" charset="-120"/>
              </a:rPr>
              <a:t>Giá trị của tính tự giác</a:t>
            </a:r>
            <a:endParaRPr lang="en-US" sz="2800" dirty="0">
              <a:latin typeface="Inter" panose="020B0604020202020204" charset="0"/>
              <a:ea typeface="Inter" panose="020B0604020202020204" charset="0"/>
            </a:endParaRPr>
          </a:p>
        </p:txBody>
      </p:sp>
      <p:sp>
        <p:nvSpPr>
          <p:cNvPr id="13" name="Text 8"/>
          <p:cNvSpPr/>
          <p:nvPr/>
        </p:nvSpPr>
        <p:spPr>
          <a:xfrm>
            <a:off x="928301" y="3250969"/>
            <a:ext cx="5237203" cy="2622580"/>
          </a:xfrm>
          <a:prstGeom prst="rect">
            <a:avLst/>
          </a:prstGeom>
          <a:noFill/>
          <a:ln/>
        </p:spPr>
        <p:txBody>
          <a:bodyPr wrap="square" lIns="0" tIns="0" rIns="0" bIns="0" rtlCol="0" anchor="t"/>
          <a:lstStyle/>
          <a:p>
            <a:r>
              <a:rPr lang="vi-VN" sz="2400">
                <a:solidFill>
                  <a:srgbClr val="272525"/>
                </a:solidFill>
                <a:latin typeface="Inter" panose="020B0604020202020204" charset="0"/>
                <a:ea typeface="Inter" panose="020B0604020202020204" charset="0"/>
                <a:cs typeface="Inter" pitchFamily="34" charset="-120"/>
              </a:rPr>
              <a:t>Khi bạn rèn luyện được tính tự giác, kiến ​​thức thực sự trở thành của bạn.</a:t>
            </a:r>
            <a:br>
              <a:rPr lang="en-US" sz="2400">
                <a:solidFill>
                  <a:srgbClr val="272525"/>
                </a:solidFill>
                <a:latin typeface="Inter" panose="020B0604020202020204" charset="0"/>
                <a:ea typeface="Inter" panose="020B0604020202020204" charset="0"/>
                <a:cs typeface="Inter" pitchFamily="34" charset="-120"/>
              </a:rPr>
            </a:br>
            <a:r>
              <a:rPr lang="vi-VN" sz="2400">
                <a:solidFill>
                  <a:srgbClr val="272525"/>
                </a:solidFill>
                <a:latin typeface="Inter" panose="020B0604020202020204" charset="0"/>
                <a:ea typeface="Inter" panose="020B0604020202020204" charset="0"/>
                <a:cs typeface="Inter" pitchFamily="34" charset="-120"/>
              </a:rPr>
              <a:t> </a:t>
            </a:r>
            <a:br>
              <a:rPr lang="en-US" sz="2400">
                <a:solidFill>
                  <a:srgbClr val="272525"/>
                </a:solidFill>
                <a:latin typeface="Inter" panose="020B0604020202020204" charset="0"/>
                <a:ea typeface="Inter" panose="020B0604020202020204" charset="0"/>
                <a:cs typeface="Inter" pitchFamily="34" charset="-120"/>
              </a:rPr>
            </a:br>
            <a:r>
              <a:rPr lang="vi-VN" sz="2400">
                <a:solidFill>
                  <a:srgbClr val="272525"/>
                </a:solidFill>
                <a:latin typeface="Inter" panose="020B0604020202020204" charset="0"/>
                <a:ea typeface="Inter" panose="020B0604020202020204" charset="0"/>
                <a:cs typeface="Inter" pitchFamily="34" charset="-120"/>
              </a:rPr>
              <a:t>Việc học tập biến từ một nghĩa vụ thành một cuộc </a:t>
            </a:r>
            <a:r>
              <a:rPr lang="en-US" sz="2400">
                <a:solidFill>
                  <a:srgbClr val="272525"/>
                </a:solidFill>
                <a:latin typeface="Inter" panose="020B0604020202020204" charset="0"/>
                <a:ea typeface="Inter" panose="020B0604020202020204" charset="0"/>
                <a:cs typeface="Inter" pitchFamily="34" charset="-120"/>
              </a:rPr>
              <a:t>đầu tư cho bản thân trong tương lai.</a:t>
            </a:r>
            <a:endParaRPr lang="en-US" sz="2400" dirty="0">
              <a:latin typeface="Inter" panose="020B0604020202020204" charset="0"/>
              <a:ea typeface="Inter" panose="020B0604020202020204" charset="0"/>
            </a:endParaRPr>
          </a:p>
        </p:txBody>
      </p:sp>
      <p:pic>
        <p:nvPicPr>
          <p:cNvPr id="14" name="Image 3" descr="preencoded.png"/>
          <p:cNvPicPr>
            <a:picLocks noChangeAspect="1"/>
          </p:cNvPicPr>
          <p:nvPr/>
        </p:nvPicPr>
        <p:blipFill>
          <a:blip r:embed="rId3"/>
          <a:stretch>
            <a:fillRect/>
          </a:stretch>
        </p:blipFill>
        <p:spPr>
          <a:xfrm>
            <a:off x="8119158" y="1076878"/>
            <a:ext cx="5702792" cy="5702792"/>
          </a:xfrm>
          <a:prstGeom prst="rect">
            <a:avLst/>
          </a:prstGeom>
          <a:scene3d>
            <a:camera prst="orthographicFront"/>
            <a:lightRig rig="threePt" dir="t"/>
          </a:scene3d>
          <a:sp3d>
            <a:bevelT w="139700" prst="cross"/>
            <a:bevelB/>
          </a:sp3d>
        </p:spPr>
      </p:pic>
      <p:sp>
        <p:nvSpPr>
          <p:cNvPr id="15" name="Rectangle 14">
            <a:extLst>
              <a:ext uri="{FF2B5EF4-FFF2-40B4-BE49-F238E27FC236}">
                <a16:creationId xmlns:a16="http://schemas.microsoft.com/office/drawing/2014/main" id="{29EADAAD-5071-7F6A-C007-F4AE1FC7CBEB}"/>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81914"/>
          </a:xfrm>
          <a:prstGeom prst="rect">
            <a:avLst/>
          </a:prstGeom>
        </p:spPr>
      </p:pic>
      <p:sp>
        <p:nvSpPr>
          <p:cNvPr id="3" name="Text 0"/>
          <p:cNvSpPr/>
          <p:nvPr/>
        </p:nvSpPr>
        <p:spPr>
          <a:xfrm>
            <a:off x="695325" y="3293269"/>
            <a:ext cx="6635472" cy="682943"/>
          </a:xfrm>
          <a:prstGeom prst="rect">
            <a:avLst/>
          </a:prstGeom>
          <a:noFill/>
          <a:ln/>
        </p:spPr>
        <p:txBody>
          <a:bodyPr wrap="none" lIns="0" tIns="0" rIns="0" bIns="0" rtlCol="0" anchor="t"/>
          <a:lstStyle/>
          <a:p>
            <a:pPr>
              <a:lnSpc>
                <a:spcPts val="5350"/>
              </a:lnSpc>
            </a:pPr>
            <a:r>
              <a:rPr lang="en-US" sz="4300" b="1">
                <a:solidFill>
                  <a:srgbClr val="F95F88"/>
                </a:solidFill>
                <a:latin typeface="Inter" panose="020B0604020202020204" charset="0"/>
                <a:ea typeface="Inter" panose="020B0604020202020204" charset="0"/>
                <a:cs typeface="Petrona Bold" pitchFamily="34" charset="-120"/>
              </a:rPr>
              <a:t>Kẻ thù của tính tự giác</a:t>
            </a:r>
            <a:endParaRPr lang="en-US" sz="4300" dirty="0">
              <a:latin typeface="Inter" panose="020B0604020202020204" charset="0"/>
              <a:ea typeface="Inter" panose="020B0604020202020204" charset="0"/>
            </a:endParaRPr>
          </a:p>
        </p:txBody>
      </p:sp>
      <p:pic>
        <p:nvPicPr>
          <p:cNvPr id="4" name="Image 1" descr="preencoded.png"/>
          <p:cNvPicPr>
            <a:picLocks noChangeAspect="1"/>
          </p:cNvPicPr>
          <p:nvPr/>
        </p:nvPicPr>
        <p:blipFill>
          <a:blip r:embed="rId4"/>
          <a:stretch>
            <a:fillRect/>
          </a:stretch>
        </p:blipFill>
        <p:spPr>
          <a:xfrm>
            <a:off x="695325" y="4237196"/>
            <a:ext cx="4413171" cy="794623"/>
          </a:xfrm>
          <a:prstGeom prst="rect">
            <a:avLst/>
          </a:prstGeom>
        </p:spPr>
      </p:pic>
      <p:sp>
        <p:nvSpPr>
          <p:cNvPr id="5" name="Text 1"/>
          <p:cNvSpPr/>
          <p:nvPr/>
        </p:nvSpPr>
        <p:spPr>
          <a:xfrm>
            <a:off x="1536025" y="5198270"/>
            <a:ext cx="2731770" cy="341352"/>
          </a:xfrm>
          <a:prstGeom prst="rect">
            <a:avLst/>
          </a:prstGeom>
          <a:noFill/>
          <a:ln/>
        </p:spPr>
        <p:txBody>
          <a:bodyPr wrap="none" lIns="0" tIns="0" rIns="0" bIns="0" rtlCol="0" anchor="t"/>
          <a:lstStyle/>
          <a:p>
            <a:pPr algn="ctr">
              <a:lnSpc>
                <a:spcPts val="2650"/>
              </a:lnSpc>
            </a:pPr>
            <a:r>
              <a:rPr lang="en-US" sz="2150" b="1">
                <a:solidFill>
                  <a:srgbClr val="272525"/>
                </a:solidFill>
                <a:latin typeface="Inter" panose="020B0604020202020204" charset="0"/>
                <a:ea typeface="Inter" panose="020B0604020202020204" charset="0"/>
                <a:cs typeface="Petrona Bold" pitchFamily="34" charset="-120"/>
              </a:rPr>
              <a:t>Sự trì hoãn</a:t>
            </a:r>
            <a:endParaRPr lang="en-US" sz="2150" dirty="0">
              <a:latin typeface="Inter" panose="020B0604020202020204" charset="0"/>
              <a:ea typeface="Inter" panose="020B0604020202020204" charset="0"/>
            </a:endParaRPr>
          </a:p>
        </p:txBody>
      </p:sp>
      <p:sp>
        <p:nvSpPr>
          <p:cNvPr id="6" name="Text 2"/>
          <p:cNvSpPr/>
          <p:nvPr/>
        </p:nvSpPr>
        <p:spPr>
          <a:xfrm>
            <a:off x="893921" y="5651421"/>
            <a:ext cx="4015978" cy="298133"/>
          </a:xfrm>
          <a:prstGeom prst="rect">
            <a:avLst/>
          </a:prstGeom>
          <a:noFill/>
          <a:ln/>
        </p:spPr>
        <p:txBody>
          <a:bodyPr wrap="none" lIns="0" tIns="0" rIns="0" bIns="0" rtlCol="0" anchor="t"/>
          <a:lstStyle/>
          <a:p>
            <a:pPr algn="ctr">
              <a:lnSpc>
                <a:spcPts val="2300"/>
              </a:lnSpc>
            </a:pPr>
            <a:r>
              <a:rPr lang="en-US" sz="1550">
                <a:solidFill>
                  <a:srgbClr val="272525"/>
                </a:solidFill>
                <a:latin typeface="Inter" panose="020B0604020202020204" charset="0"/>
                <a:ea typeface="Inter" panose="020B0604020202020204" charset="0"/>
                <a:cs typeface="Inter" pitchFamily="34" charset="-120"/>
              </a:rPr>
              <a:t>"Tôi sẽ làm sau" </a:t>
            </a:r>
            <a:br>
              <a:rPr lang="en-US" sz="1550">
                <a:solidFill>
                  <a:srgbClr val="272525"/>
                </a:solidFill>
                <a:latin typeface="Inter" panose="020B0604020202020204" charset="0"/>
                <a:ea typeface="Inter" panose="020B0604020202020204" charset="0"/>
                <a:cs typeface="Inter" pitchFamily="34" charset="-120"/>
              </a:rPr>
            </a:br>
            <a:r>
              <a:rPr lang="en-US" sz="1550">
                <a:solidFill>
                  <a:srgbClr val="272525"/>
                </a:solidFill>
                <a:latin typeface="Inter" panose="020B0604020202020204" charset="0"/>
                <a:ea typeface="Inter" panose="020B0604020202020204" charset="0"/>
                <a:cs typeface="Inter" pitchFamily="34" charset="-120"/>
              </a:rPr>
              <a:t>   trở thành </a:t>
            </a:r>
            <a:br>
              <a:rPr lang="en-US" sz="1550">
                <a:solidFill>
                  <a:srgbClr val="272525"/>
                </a:solidFill>
                <a:latin typeface="Inter" panose="020B0604020202020204" charset="0"/>
                <a:ea typeface="Inter" panose="020B0604020202020204" charset="0"/>
                <a:cs typeface="Inter" pitchFamily="34" charset="-120"/>
              </a:rPr>
            </a:br>
            <a:r>
              <a:rPr lang="en-US" sz="1550">
                <a:solidFill>
                  <a:srgbClr val="272525"/>
                </a:solidFill>
                <a:latin typeface="Inter" panose="020B0604020202020204" charset="0"/>
                <a:ea typeface="Inter" panose="020B0604020202020204" charset="0"/>
                <a:cs typeface="Inter" pitchFamily="34" charset="-120"/>
              </a:rPr>
              <a:t>"Tôi sẽ không bao giờ làm"</a:t>
            </a:r>
            <a:endParaRPr lang="en-US" sz="1550" dirty="0">
              <a:latin typeface="Inter" panose="020B0604020202020204" charset="0"/>
              <a:ea typeface="Inter" panose="020B0604020202020204" charset="0"/>
            </a:endParaRPr>
          </a:p>
        </p:txBody>
      </p:sp>
      <p:pic>
        <p:nvPicPr>
          <p:cNvPr id="7" name="Image 2" descr="preencoded.png"/>
          <p:cNvPicPr>
            <a:picLocks noChangeAspect="1"/>
          </p:cNvPicPr>
          <p:nvPr/>
        </p:nvPicPr>
        <p:blipFill>
          <a:blip r:embed="rId5"/>
          <a:stretch>
            <a:fillRect/>
          </a:stretch>
        </p:blipFill>
        <p:spPr>
          <a:xfrm>
            <a:off x="5108496" y="4237196"/>
            <a:ext cx="4413290" cy="794623"/>
          </a:xfrm>
          <a:prstGeom prst="rect">
            <a:avLst/>
          </a:prstGeom>
        </p:spPr>
      </p:pic>
      <p:sp>
        <p:nvSpPr>
          <p:cNvPr id="8" name="Text 3"/>
          <p:cNvSpPr/>
          <p:nvPr/>
        </p:nvSpPr>
        <p:spPr>
          <a:xfrm>
            <a:off x="5949255" y="5198270"/>
            <a:ext cx="2731770" cy="341352"/>
          </a:xfrm>
          <a:prstGeom prst="rect">
            <a:avLst/>
          </a:prstGeom>
          <a:noFill/>
          <a:ln/>
        </p:spPr>
        <p:txBody>
          <a:bodyPr wrap="none" lIns="0" tIns="0" rIns="0" bIns="0" rtlCol="0" anchor="t"/>
          <a:lstStyle/>
          <a:p>
            <a:pPr marL="0" indent="0" algn="ctr">
              <a:lnSpc>
                <a:spcPts val="2650"/>
              </a:lnSpc>
              <a:buNone/>
            </a:pPr>
            <a:r>
              <a:rPr lang="en-US" sz="2150" b="1">
                <a:solidFill>
                  <a:srgbClr val="272525"/>
                </a:solidFill>
                <a:latin typeface="Inter" panose="020B0604020202020204" charset="0"/>
                <a:ea typeface="Inter" panose="020B0604020202020204" charset="0"/>
                <a:cs typeface="Petrona Bold" pitchFamily="34" charset="-120"/>
              </a:rPr>
              <a:t>Lười biếng</a:t>
            </a:r>
            <a:endParaRPr lang="en-US" sz="2150" dirty="0">
              <a:latin typeface="Inter" panose="020B0604020202020204" charset="0"/>
              <a:ea typeface="Inter" panose="020B0604020202020204" charset="0"/>
            </a:endParaRPr>
          </a:p>
        </p:txBody>
      </p:sp>
      <p:sp>
        <p:nvSpPr>
          <p:cNvPr id="9" name="Text 4"/>
          <p:cNvSpPr/>
          <p:nvPr/>
        </p:nvSpPr>
        <p:spPr>
          <a:xfrm>
            <a:off x="5307092" y="5651421"/>
            <a:ext cx="4016097" cy="596265"/>
          </a:xfrm>
          <a:prstGeom prst="rect">
            <a:avLst/>
          </a:prstGeom>
          <a:noFill/>
          <a:ln/>
        </p:spPr>
        <p:txBody>
          <a:bodyPr wrap="square" lIns="0" tIns="0" rIns="0" bIns="0" rtlCol="0" anchor="t"/>
          <a:lstStyle/>
          <a:p>
            <a:pPr algn="ctr">
              <a:lnSpc>
                <a:spcPts val="2300"/>
              </a:lnSpc>
            </a:pPr>
            <a:r>
              <a:rPr lang="en-US" sz="1550">
                <a:solidFill>
                  <a:srgbClr val="272525"/>
                </a:solidFill>
                <a:latin typeface="Inter" panose="020B0604020202020204" charset="0"/>
                <a:ea typeface="Inter" panose="020B0604020202020204" charset="0"/>
                <a:cs typeface="Inter" pitchFamily="34" charset="-120"/>
              </a:rPr>
              <a:t>Luôn chọn sự thoải mái thay vì sự phát triển.</a:t>
            </a:r>
            <a:endParaRPr lang="en-US" sz="1550" dirty="0">
              <a:latin typeface="Inter" panose="020B0604020202020204" charset="0"/>
              <a:ea typeface="Inter" panose="020B0604020202020204" charset="0"/>
            </a:endParaRPr>
          </a:p>
        </p:txBody>
      </p:sp>
      <p:pic>
        <p:nvPicPr>
          <p:cNvPr id="10" name="Image 3" descr="preencoded.png"/>
          <p:cNvPicPr>
            <a:picLocks noChangeAspect="1"/>
          </p:cNvPicPr>
          <p:nvPr/>
        </p:nvPicPr>
        <p:blipFill>
          <a:blip r:embed="rId6"/>
          <a:stretch>
            <a:fillRect/>
          </a:stretch>
        </p:blipFill>
        <p:spPr>
          <a:xfrm>
            <a:off x="9521785" y="4237196"/>
            <a:ext cx="4413290" cy="794623"/>
          </a:xfrm>
          <a:prstGeom prst="rect">
            <a:avLst/>
          </a:prstGeom>
        </p:spPr>
      </p:pic>
      <p:sp>
        <p:nvSpPr>
          <p:cNvPr id="11" name="Text 5"/>
          <p:cNvSpPr/>
          <p:nvPr/>
        </p:nvSpPr>
        <p:spPr>
          <a:xfrm>
            <a:off x="10362485" y="5198270"/>
            <a:ext cx="2731770" cy="341352"/>
          </a:xfrm>
          <a:prstGeom prst="rect">
            <a:avLst/>
          </a:prstGeom>
          <a:noFill/>
          <a:ln/>
        </p:spPr>
        <p:txBody>
          <a:bodyPr wrap="none" lIns="0" tIns="0" rIns="0" bIns="0" rtlCol="0" anchor="t"/>
          <a:lstStyle/>
          <a:p>
            <a:pPr marL="0" indent="0" algn="ctr">
              <a:lnSpc>
                <a:spcPts val="2650"/>
              </a:lnSpc>
              <a:buNone/>
            </a:pPr>
            <a:r>
              <a:rPr lang="en-US" sz="2150" b="1">
                <a:solidFill>
                  <a:srgbClr val="272525"/>
                </a:solidFill>
                <a:latin typeface="Inter" panose="020B0604020202020204" charset="0"/>
                <a:ea typeface="Inter" panose="020B0604020202020204" charset="0"/>
                <a:cs typeface="Petrona Bold" pitchFamily="34" charset="-120"/>
              </a:rPr>
              <a:t>Mạng xã hội</a:t>
            </a:r>
            <a:endParaRPr lang="en-US" sz="2150" dirty="0">
              <a:latin typeface="Inter" panose="020B0604020202020204" charset="0"/>
              <a:ea typeface="Inter" panose="020B0604020202020204" charset="0"/>
            </a:endParaRPr>
          </a:p>
        </p:txBody>
      </p:sp>
      <p:sp>
        <p:nvSpPr>
          <p:cNvPr id="12" name="Text 6"/>
          <p:cNvSpPr/>
          <p:nvPr/>
        </p:nvSpPr>
        <p:spPr>
          <a:xfrm>
            <a:off x="9720382" y="5651421"/>
            <a:ext cx="4016097" cy="596265"/>
          </a:xfrm>
          <a:prstGeom prst="rect">
            <a:avLst/>
          </a:prstGeom>
          <a:noFill/>
          <a:ln/>
        </p:spPr>
        <p:txBody>
          <a:bodyPr wrap="square" lIns="0" tIns="0" rIns="0" bIns="0" rtlCol="0" anchor="t"/>
          <a:lstStyle/>
          <a:p>
            <a:pPr algn="ctr">
              <a:lnSpc>
                <a:spcPts val="2300"/>
              </a:lnSpc>
            </a:pPr>
            <a:r>
              <a:rPr lang="vi-VN" sz="1550">
                <a:solidFill>
                  <a:srgbClr val="272525"/>
                </a:solidFill>
                <a:latin typeface="Inter" panose="020B0604020202020204" charset="0"/>
                <a:ea typeface="Inter" panose="020B0604020202020204" charset="0"/>
                <a:cs typeface="Inter" pitchFamily="34" charset="-120"/>
              </a:rPr>
              <a:t>Facebook, TikTok và các trò chơi đang chiếm hế</a:t>
            </a:r>
            <a:r>
              <a:rPr lang="en-US" sz="1550">
                <a:solidFill>
                  <a:srgbClr val="272525"/>
                </a:solidFill>
                <a:latin typeface="Inter" panose="020B0604020202020204" charset="0"/>
                <a:ea typeface="Inter" panose="020B0604020202020204" charset="0"/>
                <a:cs typeface="Inter" pitchFamily="34" charset="-120"/>
              </a:rPr>
              <a:t>t thời gian.</a:t>
            </a:r>
            <a:endParaRPr lang="en-US" sz="1550" dirty="0">
              <a:latin typeface="Inter" panose="020B0604020202020204" charset="0"/>
              <a:ea typeface="Inter" panose="020B0604020202020204" charset="0"/>
            </a:endParaRPr>
          </a:p>
        </p:txBody>
      </p:sp>
      <p:sp>
        <p:nvSpPr>
          <p:cNvPr id="13" name="Shape 7"/>
          <p:cNvSpPr/>
          <p:nvPr/>
        </p:nvSpPr>
        <p:spPr>
          <a:xfrm>
            <a:off x="695325" y="6642021"/>
            <a:ext cx="13239750" cy="777597"/>
          </a:xfrm>
          <a:prstGeom prst="roundRect">
            <a:avLst>
              <a:gd name="adj" fmla="val 10731"/>
            </a:avLst>
          </a:prstGeom>
          <a:solidFill>
            <a:srgbClr val="D0C3EE"/>
          </a:solidFill>
          <a:ln/>
        </p:spPr>
      </p:sp>
      <p:pic>
        <p:nvPicPr>
          <p:cNvPr id="14" name="Image 4" descr="preencoded.png"/>
          <p:cNvPicPr>
            <a:picLocks noChangeAspect="1"/>
          </p:cNvPicPr>
          <p:nvPr/>
        </p:nvPicPr>
        <p:blipFill>
          <a:blip r:embed="rId7"/>
          <a:stretch>
            <a:fillRect/>
          </a:stretch>
        </p:blipFill>
        <p:spPr>
          <a:xfrm>
            <a:off x="893921" y="6937415"/>
            <a:ext cx="248245" cy="198596"/>
          </a:xfrm>
          <a:prstGeom prst="rect">
            <a:avLst/>
          </a:prstGeom>
        </p:spPr>
      </p:pic>
      <p:sp>
        <p:nvSpPr>
          <p:cNvPr id="15" name="Text 8"/>
          <p:cNvSpPr/>
          <p:nvPr/>
        </p:nvSpPr>
        <p:spPr>
          <a:xfrm>
            <a:off x="1340763" y="6865620"/>
            <a:ext cx="12395716" cy="298133"/>
          </a:xfrm>
          <a:prstGeom prst="rect">
            <a:avLst/>
          </a:prstGeom>
          <a:noFill/>
          <a:ln/>
        </p:spPr>
        <p:txBody>
          <a:bodyPr wrap="none" lIns="0" tIns="0" rIns="0" bIns="0" rtlCol="0" anchor="t"/>
          <a:lstStyle/>
          <a:p>
            <a:pPr>
              <a:lnSpc>
                <a:spcPts val="2300"/>
              </a:lnSpc>
            </a:pPr>
            <a:r>
              <a:rPr lang="vi-VN" sz="1550" b="1">
                <a:solidFill>
                  <a:srgbClr val="000000"/>
                </a:solidFill>
                <a:latin typeface="Inter" panose="020B0604020202020204" charset="0"/>
                <a:ea typeface="Inter" panose="020B0604020202020204" charset="0"/>
                <a:cs typeface="Inter" pitchFamily="34" charset="-120"/>
              </a:rPr>
              <a:t>Mẹo hay</a:t>
            </a:r>
            <a:r>
              <a:rPr lang="vi-VN" sz="1550">
                <a:solidFill>
                  <a:srgbClr val="000000"/>
                </a:solidFill>
                <a:latin typeface="Inter" panose="020B0604020202020204" charset="0"/>
                <a:ea typeface="Inter" panose="020B0604020202020204" charset="0"/>
                <a:cs typeface="Inter" pitchFamily="34" charset="-120"/>
              </a:rPr>
              <a:t>: Hãy thử để điện thoại ở phòng khác trong giờ học. </a:t>
            </a:r>
            <a:r>
              <a:rPr lang="en-US" sz="1550">
                <a:solidFill>
                  <a:srgbClr val="000000"/>
                </a:solidFill>
                <a:latin typeface="Inter" panose="020B0604020202020204" charset="0"/>
                <a:ea typeface="Inter" panose="020B0604020202020204" charset="0"/>
                <a:cs typeface="Inter" pitchFamily="34" charset="-120"/>
              </a:rPr>
              <a:t>Hiệu suất học tập sẽ tăng lên.</a:t>
            </a:r>
            <a:endParaRPr lang="en-US" sz="1550" dirty="0">
              <a:latin typeface="Inter" panose="020B0604020202020204" charset="0"/>
              <a:ea typeface="Inter" panose="020B0604020202020204" charset="0"/>
            </a:endParaRPr>
          </a:p>
        </p:txBody>
      </p:sp>
      <p:sp>
        <p:nvSpPr>
          <p:cNvPr id="16" name="Rectangle 15">
            <a:extLst>
              <a:ext uri="{FF2B5EF4-FFF2-40B4-BE49-F238E27FC236}">
                <a16:creationId xmlns:a16="http://schemas.microsoft.com/office/drawing/2014/main" id="{2E879A10-E0FB-ABAA-9B45-AF1AD1078047}"/>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53941" y="510659"/>
            <a:ext cx="5887641" cy="623887"/>
          </a:xfrm>
          <a:prstGeom prst="rect">
            <a:avLst/>
          </a:prstGeom>
          <a:noFill/>
          <a:ln/>
        </p:spPr>
        <p:txBody>
          <a:bodyPr wrap="none" lIns="0" tIns="0" rIns="0" bIns="0" rtlCol="0" anchor="t"/>
          <a:lstStyle/>
          <a:p>
            <a:pPr marL="0" indent="0" algn="l">
              <a:lnSpc>
                <a:spcPts val="4900"/>
              </a:lnSpc>
              <a:buNone/>
            </a:pPr>
            <a:r>
              <a:rPr lang="en-US" sz="3900" b="1">
                <a:solidFill>
                  <a:srgbClr val="F95F88"/>
                </a:solidFill>
                <a:latin typeface="Inter" panose="020B0604020202020204" charset="0"/>
                <a:ea typeface="Inter" panose="020B0604020202020204" charset="0"/>
                <a:cs typeface="Petrona Bold" pitchFamily="34" charset="-120"/>
              </a:rPr>
              <a:t>Trách nhiệm đối với bản thân</a:t>
            </a:r>
            <a:endParaRPr lang="en-US" sz="3900" dirty="0">
              <a:latin typeface="Inter" panose="020B0604020202020204" charset="0"/>
              <a:ea typeface="Inter" panose="020B0604020202020204" charset="0"/>
            </a:endParaRPr>
          </a:p>
        </p:txBody>
      </p:sp>
      <p:pic>
        <p:nvPicPr>
          <p:cNvPr id="3" name="Image 0" descr="preencoded.png"/>
          <p:cNvPicPr>
            <a:picLocks noChangeAspect="1"/>
          </p:cNvPicPr>
          <p:nvPr/>
        </p:nvPicPr>
        <p:blipFill>
          <a:blip r:embed="rId3"/>
          <a:stretch>
            <a:fillRect/>
          </a:stretch>
        </p:blipFill>
        <p:spPr>
          <a:xfrm>
            <a:off x="1053941" y="1515666"/>
            <a:ext cx="5887669" cy="5887669"/>
          </a:xfrm>
          <a:prstGeom prst="rect">
            <a:avLst/>
          </a:prstGeom>
        </p:spPr>
      </p:pic>
      <p:sp>
        <p:nvSpPr>
          <p:cNvPr id="4" name="Text 1"/>
          <p:cNvSpPr/>
          <p:nvPr/>
        </p:nvSpPr>
        <p:spPr>
          <a:xfrm>
            <a:off x="7687257" y="3039839"/>
            <a:ext cx="4765596" cy="374213"/>
          </a:xfrm>
          <a:prstGeom prst="rect">
            <a:avLst/>
          </a:prstGeom>
          <a:noFill/>
          <a:ln/>
        </p:spPr>
        <p:txBody>
          <a:bodyPr wrap="none" lIns="0" tIns="0" rIns="0" bIns="0" rtlCol="0" anchor="t"/>
          <a:lstStyle/>
          <a:p>
            <a:pPr marL="0" indent="0" algn="l">
              <a:lnSpc>
                <a:spcPts val="2900"/>
              </a:lnSpc>
              <a:buNone/>
            </a:pPr>
            <a:r>
              <a:rPr lang="en-US" sz="2350" b="1">
                <a:solidFill>
                  <a:srgbClr val="F95F88"/>
                </a:solidFill>
                <a:latin typeface="Inter" panose="020B0604020202020204" charset="0"/>
                <a:ea typeface="Inter" panose="020B0604020202020204" charset="0"/>
                <a:cs typeface="Petrona Bold" pitchFamily="34" charset="-120"/>
              </a:rPr>
              <a:t>Học tập là món quà cho tương lai của bản thân</a:t>
            </a:r>
            <a:endParaRPr lang="en-US" sz="2350" dirty="0">
              <a:latin typeface="Inter" panose="020B0604020202020204" charset="0"/>
              <a:ea typeface="Inter" panose="020B0604020202020204" charset="0"/>
            </a:endParaRPr>
          </a:p>
        </p:txBody>
      </p:sp>
      <p:sp>
        <p:nvSpPr>
          <p:cNvPr id="5" name="Text 2"/>
          <p:cNvSpPr/>
          <p:nvPr/>
        </p:nvSpPr>
        <p:spPr>
          <a:xfrm>
            <a:off x="7687257" y="3724443"/>
            <a:ext cx="6039803" cy="1044893"/>
          </a:xfrm>
          <a:prstGeom prst="rect">
            <a:avLst/>
          </a:prstGeom>
          <a:noFill/>
          <a:ln/>
        </p:spPr>
        <p:txBody>
          <a:bodyPr wrap="square" lIns="0" tIns="0" rIns="0" bIns="0" rtlCol="0" anchor="t"/>
          <a:lstStyle/>
          <a:p>
            <a:pPr>
              <a:lnSpc>
                <a:spcPts val="2050"/>
              </a:lnSpc>
            </a:pPr>
            <a:r>
              <a:rPr lang="vi-VN" sz="1400">
                <a:solidFill>
                  <a:srgbClr val="272525"/>
                </a:solidFill>
                <a:latin typeface="Inter" panose="020B0604020202020204" charset="0"/>
                <a:ea typeface="Inter" panose="020B0604020202020204" charset="0"/>
                <a:cs typeface="Inter" pitchFamily="34" charset="-120"/>
              </a:rPr>
              <a:t>Bạn học không phải vì bố mẹ, thầy cô, hay thậm chí là điểm số. Bạn học để xây dựng cuộc sống mà bạn muốn. </a:t>
            </a:r>
            <a:endParaRPr lang="en-US" sz="1400" dirty="0">
              <a:latin typeface="Inter" panose="020B0604020202020204" charset="0"/>
              <a:ea typeface="Inter" panose="020B0604020202020204" charset="0"/>
            </a:endParaRPr>
          </a:p>
        </p:txBody>
      </p:sp>
      <p:sp>
        <p:nvSpPr>
          <p:cNvPr id="6" name="Text 3"/>
          <p:cNvSpPr/>
          <p:nvPr/>
        </p:nvSpPr>
        <p:spPr>
          <a:xfrm>
            <a:off x="7687257" y="4459272"/>
            <a:ext cx="6039803" cy="783669"/>
          </a:xfrm>
          <a:prstGeom prst="rect">
            <a:avLst/>
          </a:prstGeom>
          <a:noFill/>
          <a:ln/>
        </p:spPr>
        <p:txBody>
          <a:bodyPr wrap="square" lIns="0" tIns="0" rIns="0" bIns="0" rtlCol="0" anchor="t"/>
          <a:lstStyle/>
          <a:p>
            <a:pPr>
              <a:lnSpc>
                <a:spcPts val="2050"/>
              </a:lnSpc>
            </a:pPr>
            <a:r>
              <a:rPr lang="vi-VN" sz="1400">
                <a:solidFill>
                  <a:srgbClr val="272525"/>
                </a:solidFill>
                <a:latin typeface="Inter" panose="020B0604020202020204" charset="0"/>
                <a:ea typeface="Inter" panose="020B0604020202020204" charset="0"/>
                <a:cs typeface="Inter" pitchFamily="34" charset="-120"/>
              </a:rPr>
              <a:t>Những lựa chọn bạn đưa ra hôm nay sẽ tạo nên những cơ hội bạn có được ngày mai. Chính bạn của tương lai đang trông chờ vào bạn của hiện tại để đưa ra những quyết định sáng suốt.</a:t>
            </a:r>
            <a:endParaRPr lang="en-US" sz="1400" dirty="0">
              <a:latin typeface="Inter" panose="020B0604020202020204" charset="0"/>
              <a:ea typeface="Inter" panose="020B0604020202020204" charset="0"/>
            </a:endParaRPr>
          </a:p>
        </p:txBody>
      </p:sp>
      <p:sp>
        <p:nvSpPr>
          <p:cNvPr id="7" name="Rectangle 6">
            <a:extLst>
              <a:ext uri="{FF2B5EF4-FFF2-40B4-BE49-F238E27FC236}">
                <a16:creationId xmlns:a16="http://schemas.microsoft.com/office/drawing/2014/main" id="{F39D7E7C-26FB-F488-286A-C77AD7727667}"/>
              </a:ext>
            </a:extLst>
          </p:cNvPr>
          <p:cNvSpPr/>
          <p:nvPr/>
        </p:nvSpPr>
        <p:spPr>
          <a:xfrm>
            <a:off x="12671703" y="7698234"/>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56722" y="986909"/>
            <a:ext cx="7803356" cy="1316831"/>
          </a:xfrm>
          <a:prstGeom prst="rect">
            <a:avLst/>
          </a:prstGeom>
          <a:noFill/>
          <a:ln/>
        </p:spPr>
        <p:txBody>
          <a:bodyPr wrap="square" lIns="0" tIns="0" rIns="0" bIns="0" rtlCol="0" anchor="t"/>
          <a:lstStyle/>
          <a:p>
            <a:pPr marL="0" indent="0" algn="l">
              <a:lnSpc>
                <a:spcPts val="5150"/>
              </a:lnSpc>
              <a:buNone/>
            </a:pPr>
            <a:r>
              <a:rPr lang="en-US" sz="4100" b="1">
                <a:solidFill>
                  <a:srgbClr val="F95F88"/>
                </a:solidFill>
                <a:latin typeface="Inter" panose="020B0604020202020204" charset="0"/>
                <a:ea typeface="Inter" panose="020B0604020202020204" charset="0"/>
                <a:cs typeface="Petrona Bold" pitchFamily="34" charset="-120"/>
              </a:rPr>
              <a:t>Trách nhiệm đối với cộng đồng và xã hội</a:t>
            </a:r>
            <a:endParaRPr lang="en-US" sz="4100" dirty="0">
              <a:latin typeface="Inter" panose="020B0604020202020204" charset="0"/>
              <a:ea typeface="Inter" panose="020B0604020202020204" charset="0"/>
            </a:endParaRPr>
          </a:p>
        </p:txBody>
      </p:sp>
      <p:sp>
        <p:nvSpPr>
          <p:cNvPr id="4" name="Shape 1"/>
          <p:cNvSpPr/>
          <p:nvPr/>
        </p:nvSpPr>
        <p:spPr>
          <a:xfrm>
            <a:off x="6156722" y="2546271"/>
            <a:ext cx="3820835" cy="2408634"/>
          </a:xfrm>
          <a:prstGeom prst="roundRect">
            <a:avLst>
              <a:gd name="adj" fmla="val 3340"/>
            </a:avLst>
          </a:prstGeom>
          <a:solidFill>
            <a:srgbClr val="E0D7F4"/>
          </a:solidFill>
          <a:ln w="7620">
            <a:solidFill>
              <a:srgbClr val="C6BDDA"/>
            </a:solidFill>
            <a:prstDash val="solid"/>
          </a:ln>
        </p:spPr>
      </p:sp>
      <p:sp>
        <p:nvSpPr>
          <p:cNvPr id="5" name="Shape 2"/>
          <p:cNvSpPr/>
          <p:nvPr/>
        </p:nvSpPr>
        <p:spPr>
          <a:xfrm>
            <a:off x="6355794" y="2745343"/>
            <a:ext cx="574596" cy="574596"/>
          </a:xfrm>
          <a:prstGeom prst="roundRect">
            <a:avLst>
              <a:gd name="adj" fmla="val 15912198"/>
            </a:avLst>
          </a:prstGeom>
          <a:solidFill>
            <a:srgbClr val="6237C8"/>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3790" y="2903339"/>
            <a:ext cx="258485" cy="258485"/>
          </a:xfrm>
          <a:prstGeom prst="rect">
            <a:avLst/>
          </a:prstGeom>
        </p:spPr>
      </p:pic>
      <p:sp>
        <p:nvSpPr>
          <p:cNvPr id="7" name="Text 3"/>
          <p:cNvSpPr/>
          <p:nvPr/>
        </p:nvSpPr>
        <p:spPr>
          <a:xfrm>
            <a:off x="6355794" y="3481626"/>
            <a:ext cx="2633543" cy="329208"/>
          </a:xfrm>
          <a:prstGeom prst="rect">
            <a:avLst/>
          </a:prstGeom>
          <a:noFill/>
          <a:ln/>
        </p:spPr>
        <p:txBody>
          <a:bodyPr wrap="none" lIns="0" tIns="0" rIns="0" bIns="0" rtlCol="0" anchor="t"/>
          <a:lstStyle/>
          <a:p>
            <a:pPr>
              <a:lnSpc>
                <a:spcPts val="2550"/>
              </a:lnSpc>
            </a:pPr>
            <a:r>
              <a:rPr lang="en-US" sz="2050" b="1">
                <a:solidFill>
                  <a:srgbClr val="272525"/>
                </a:solidFill>
                <a:latin typeface="Inter" panose="020B0604020202020204" charset="0"/>
                <a:ea typeface="Inter" panose="020B0604020202020204" charset="0"/>
                <a:cs typeface="Petrona Bold" pitchFamily="34" charset="-120"/>
              </a:rPr>
              <a:t>Kỹ năng đóng góp</a:t>
            </a:r>
            <a:endParaRPr lang="en-US" sz="2050" dirty="0">
              <a:latin typeface="Inter" panose="020B0604020202020204" charset="0"/>
              <a:ea typeface="Inter" panose="020B0604020202020204" charset="0"/>
            </a:endParaRPr>
          </a:p>
        </p:txBody>
      </p:sp>
      <p:sp>
        <p:nvSpPr>
          <p:cNvPr id="8" name="Text 4"/>
          <p:cNvSpPr/>
          <p:nvPr/>
        </p:nvSpPr>
        <p:spPr>
          <a:xfrm>
            <a:off x="6274950" y="3810834"/>
            <a:ext cx="3584377" cy="847963"/>
          </a:xfrm>
          <a:prstGeom prst="rect">
            <a:avLst/>
          </a:prstGeom>
          <a:noFill/>
          <a:ln/>
        </p:spPr>
        <p:txBody>
          <a:bodyPr wrap="square" lIns="0" tIns="0" rIns="0" bIns="0" rtlCol="0" anchor="t"/>
          <a:lstStyle/>
          <a:p>
            <a:pPr>
              <a:lnSpc>
                <a:spcPts val="2200"/>
              </a:lnSpc>
            </a:pPr>
            <a:r>
              <a:rPr lang="vi-VN" sz="1500">
                <a:solidFill>
                  <a:srgbClr val="272525"/>
                </a:solidFill>
                <a:latin typeface="Inter" panose="020B0604020202020204" charset="0"/>
                <a:ea typeface="Inter" panose="020B0604020202020204" charset="0"/>
                <a:cs typeface="Inter" pitchFamily="34" charset="-120"/>
              </a:rPr>
              <a:t>Chương trình học của bạn trang bị cho bạn khả năng giải quyết các vấn đề thực tế và giúp đỡ người khác một cách ý nghĩa.</a:t>
            </a:r>
            <a:endParaRPr lang="en-US" sz="1500" dirty="0">
              <a:latin typeface="Inter" panose="020B0604020202020204" charset="0"/>
              <a:ea typeface="Inter" panose="020B0604020202020204" charset="0"/>
            </a:endParaRPr>
          </a:p>
        </p:txBody>
      </p:sp>
      <p:sp>
        <p:nvSpPr>
          <p:cNvPr id="9" name="Shape 5"/>
          <p:cNvSpPr/>
          <p:nvPr/>
        </p:nvSpPr>
        <p:spPr>
          <a:xfrm>
            <a:off x="10139243" y="2546271"/>
            <a:ext cx="3820835" cy="2408634"/>
          </a:xfrm>
          <a:prstGeom prst="roundRect">
            <a:avLst>
              <a:gd name="adj" fmla="val 3340"/>
            </a:avLst>
          </a:prstGeom>
          <a:solidFill>
            <a:srgbClr val="E0D7F4"/>
          </a:solidFill>
          <a:ln w="7620">
            <a:solidFill>
              <a:srgbClr val="C6BDDA"/>
            </a:solidFill>
            <a:prstDash val="solid"/>
          </a:ln>
        </p:spPr>
      </p:sp>
      <p:sp>
        <p:nvSpPr>
          <p:cNvPr id="10" name="Shape 6"/>
          <p:cNvSpPr/>
          <p:nvPr/>
        </p:nvSpPr>
        <p:spPr>
          <a:xfrm>
            <a:off x="10338316" y="2745343"/>
            <a:ext cx="574596" cy="574596"/>
          </a:xfrm>
          <a:prstGeom prst="roundRect">
            <a:avLst>
              <a:gd name="adj" fmla="val 15912198"/>
            </a:avLst>
          </a:prstGeom>
          <a:solidFill>
            <a:srgbClr val="6237C8"/>
          </a:solidFill>
          <a:ln/>
        </p:spPr>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96312" y="2903339"/>
            <a:ext cx="258485" cy="258485"/>
          </a:xfrm>
          <a:prstGeom prst="rect">
            <a:avLst/>
          </a:prstGeom>
        </p:spPr>
      </p:pic>
      <p:sp>
        <p:nvSpPr>
          <p:cNvPr id="12" name="Text 7"/>
          <p:cNvSpPr/>
          <p:nvPr/>
        </p:nvSpPr>
        <p:spPr>
          <a:xfrm>
            <a:off x="10338316" y="3481626"/>
            <a:ext cx="2825234" cy="329208"/>
          </a:xfrm>
          <a:prstGeom prst="rect">
            <a:avLst/>
          </a:prstGeom>
          <a:noFill/>
          <a:ln/>
        </p:spPr>
        <p:txBody>
          <a:bodyPr wrap="none" lIns="0" tIns="0" rIns="0" bIns="0" rtlCol="0" anchor="t"/>
          <a:lstStyle/>
          <a:p>
            <a:pPr>
              <a:lnSpc>
                <a:spcPts val="2550"/>
              </a:lnSpc>
            </a:pPr>
            <a:r>
              <a:rPr lang="en-US" sz="2050" b="1">
                <a:solidFill>
                  <a:srgbClr val="272525"/>
                </a:solidFill>
                <a:latin typeface="Inter" panose="020B0604020202020204" charset="0"/>
                <a:ea typeface="Inter" panose="020B0604020202020204" charset="0"/>
                <a:cs typeface="Petrona Bold" pitchFamily="34" charset="-120"/>
              </a:rPr>
              <a:t>Xây dựng tính độc lập</a:t>
            </a:r>
            <a:endParaRPr lang="en-US" sz="2050" dirty="0">
              <a:latin typeface="Inter" panose="020B0604020202020204" charset="0"/>
              <a:ea typeface="Inter" panose="020B0604020202020204" charset="0"/>
            </a:endParaRPr>
          </a:p>
        </p:txBody>
      </p:sp>
      <p:sp>
        <p:nvSpPr>
          <p:cNvPr id="13" name="Text 8"/>
          <p:cNvSpPr/>
          <p:nvPr/>
        </p:nvSpPr>
        <p:spPr>
          <a:xfrm>
            <a:off x="10338316" y="3907869"/>
            <a:ext cx="3621762" cy="847963"/>
          </a:xfrm>
          <a:prstGeom prst="rect">
            <a:avLst/>
          </a:prstGeom>
          <a:noFill/>
          <a:ln/>
        </p:spPr>
        <p:txBody>
          <a:bodyPr wrap="square" lIns="0" tIns="0" rIns="0" bIns="0" rtlCol="0" anchor="t"/>
          <a:lstStyle/>
          <a:p>
            <a:pPr>
              <a:lnSpc>
                <a:spcPts val="2200"/>
              </a:lnSpc>
            </a:pPr>
            <a:r>
              <a:rPr lang="en-US" sz="1500">
                <a:solidFill>
                  <a:srgbClr val="272525"/>
                </a:solidFill>
                <a:latin typeface="Inter" panose="020B0604020202020204" charset="0"/>
                <a:ea typeface="Inter" panose="020B0604020202020204" charset="0"/>
                <a:cs typeface="Inter" pitchFamily="34" charset="-120"/>
              </a:rPr>
              <a:t>Việc học tập đảm bảo bạn có thể tự nuôi sống bản thân và gia đình mà không trở thành gánh nặng cho xã hội.</a:t>
            </a:r>
            <a:endParaRPr lang="en-US" sz="1500" dirty="0">
              <a:latin typeface="Inter" panose="020B0604020202020204" charset="0"/>
              <a:ea typeface="Inter" panose="020B0604020202020204" charset="0"/>
            </a:endParaRPr>
          </a:p>
        </p:txBody>
      </p:sp>
      <p:sp>
        <p:nvSpPr>
          <p:cNvPr id="14" name="Shape 9"/>
          <p:cNvSpPr/>
          <p:nvPr/>
        </p:nvSpPr>
        <p:spPr>
          <a:xfrm>
            <a:off x="6156722" y="5116592"/>
            <a:ext cx="7803356" cy="2125980"/>
          </a:xfrm>
          <a:prstGeom prst="roundRect">
            <a:avLst>
              <a:gd name="adj" fmla="val 3784"/>
            </a:avLst>
          </a:prstGeom>
          <a:solidFill>
            <a:srgbClr val="E0D7F4"/>
          </a:solidFill>
          <a:ln w="7620">
            <a:solidFill>
              <a:srgbClr val="C6BDDA"/>
            </a:solidFill>
            <a:prstDash val="solid"/>
          </a:ln>
        </p:spPr>
      </p:sp>
      <p:sp>
        <p:nvSpPr>
          <p:cNvPr id="15" name="Shape 10"/>
          <p:cNvSpPr/>
          <p:nvPr/>
        </p:nvSpPr>
        <p:spPr>
          <a:xfrm>
            <a:off x="6355794" y="5315664"/>
            <a:ext cx="574596" cy="574596"/>
          </a:xfrm>
          <a:prstGeom prst="roundRect">
            <a:avLst>
              <a:gd name="adj" fmla="val 15912198"/>
            </a:avLst>
          </a:prstGeom>
          <a:solidFill>
            <a:srgbClr val="6237C8"/>
          </a:solidFill>
          <a:ln/>
        </p:spPr>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790" y="5473660"/>
            <a:ext cx="258485" cy="258485"/>
          </a:xfrm>
          <a:prstGeom prst="rect">
            <a:avLst/>
          </a:prstGeom>
        </p:spPr>
      </p:pic>
      <p:sp>
        <p:nvSpPr>
          <p:cNvPr id="17" name="Text 11"/>
          <p:cNvSpPr/>
          <p:nvPr/>
        </p:nvSpPr>
        <p:spPr>
          <a:xfrm>
            <a:off x="6355794" y="6051947"/>
            <a:ext cx="3012877" cy="329208"/>
          </a:xfrm>
          <a:prstGeom prst="rect">
            <a:avLst/>
          </a:prstGeom>
          <a:noFill/>
          <a:ln/>
        </p:spPr>
        <p:txBody>
          <a:bodyPr wrap="none" lIns="0" tIns="0" rIns="0" bIns="0" rtlCol="0" anchor="t"/>
          <a:lstStyle/>
          <a:p>
            <a:pPr>
              <a:lnSpc>
                <a:spcPts val="2550"/>
              </a:lnSpc>
            </a:pPr>
            <a:r>
              <a:rPr lang="en-US" sz="2050" b="1">
                <a:solidFill>
                  <a:srgbClr val="272525"/>
                </a:solidFill>
                <a:latin typeface="Inter" panose="020B0604020202020204" charset="0"/>
                <a:ea typeface="Inter" panose="020B0604020202020204" charset="0"/>
                <a:cs typeface="Petrona Bold" pitchFamily="34" charset="-120"/>
              </a:rPr>
              <a:t>Tạo ra sự thay đổi tích cực</a:t>
            </a:r>
            <a:endParaRPr lang="en-US" sz="2050" dirty="0">
              <a:latin typeface="Inter" panose="020B0604020202020204" charset="0"/>
              <a:ea typeface="Inter" panose="020B0604020202020204" charset="0"/>
            </a:endParaRPr>
          </a:p>
        </p:txBody>
      </p:sp>
      <p:sp>
        <p:nvSpPr>
          <p:cNvPr id="18" name="Text 12"/>
          <p:cNvSpPr/>
          <p:nvPr/>
        </p:nvSpPr>
        <p:spPr>
          <a:xfrm>
            <a:off x="6355794" y="6478191"/>
            <a:ext cx="7405211" cy="565309"/>
          </a:xfrm>
          <a:prstGeom prst="rect">
            <a:avLst/>
          </a:prstGeom>
          <a:noFill/>
          <a:ln/>
        </p:spPr>
        <p:txBody>
          <a:bodyPr wrap="square" lIns="0" tIns="0" rIns="0" bIns="0" rtlCol="0" anchor="t"/>
          <a:lstStyle/>
          <a:p>
            <a:pPr>
              <a:lnSpc>
                <a:spcPts val="2200"/>
              </a:lnSpc>
            </a:pPr>
            <a:r>
              <a:rPr lang="vi-VN" sz="1500">
                <a:solidFill>
                  <a:srgbClr val="272525"/>
                </a:solidFill>
                <a:latin typeface="Inter" panose="020B0604020202020204" charset="0"/>
                <a:ea typeface="Inter" panose="020B0604020202020204" charset="0"/>
                <a:cs typeface="Inter" pitchFamily="34" charset="-120"/>
              </a:rPr>
              <a:t>Những công dân có học thức sẽ làm cho cộng đồng mạnh mẽ hơn, công bằng hơn và thịnh vượng hơn cho tất cả mọi người.</a:t>
            </a:r>
            <a:endParaRPr lang="en-US" sz="1500" dirty="0">
              <a:latin typeface="Inter" panose="020B0604020202020204" charset="0"/>
              <a:ea typeface="Inter" panose="020B0604020202020204" charset="0"/>
            </a:endParaRPr>
          </a:p>
        </p:txBody>
      </p:sp>
      <p:sp>
        <p:nvSpPr>
          <p:cNvPr id="19" name="Rectangle 18">
            <a:extLst>
              <a:ext uri="{FF2B5EF4-FFF2-40B4-BE49-F238E27FC236}">
                <a16:creationId xmlns:a16="http://schemas.microsoft.com/office/drawing/2014/main" id="{3A671ADA-C24D-9E22-856D-7CB740DF7554}"/>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333079" y="561900"/>
            <a:ext cx="9726216" cy="509945"/>
          </a:xfrm>
          <a:prstGeom prst="rect">
            <a:avLst/>
          </a:prstGeom>
          <a:noFill/>
          <a:ln/>
        </p:spPr>
        <p:txBody>
          <a:bodyPr wrap="none" lIns="0" tIns="0" rIns="0" bIns="0" rtlCol="0" anchor="t"/>
          <a:lstStyle/>
          <a:p>
            <a:pPr>
              <a:lnSpc>
                <a:spcPts val="4000"/>
              </a:lnSpc>
            </a:pPr>
            <a:r>
              <a:rPr lang="en-US" sz="3200" b="1">
                <a:solidFill>
                  <a:srgbClr val="F95F88"/>
                </a:solidFill>
                <a:latin typeface="Inter" panose="020B0604020202020204" charset="0"/>
                <a:ea typeface="Inter" panose="020B0604020202020204" charset="0"/>
                <a:cs typeface="Petrona Bold" pitchFamily="34" charset="-120"/>
              </a:rPr>
              <a:t>Tính tự giác</a:t>
            </a:r>
            <a:r>
              <a:rPr lang="vi-VN" sz="3200" b="1">
                <a:solidFill>
                  <a:srgbClr val="F95F88"/>
                </a:solidFill>
                <a:latin typeface="Inter" panose="020B0604020202020204" charset="0"/>
                <a:ea typeface="Inter" panose="020B0604020202020204" charset="0"/>
                <a:cs typeface="Petrona Bold" pitchFamily="34" charset="-120"/>
              </a:rPr>
              <a:t> và trách nhiệm phối hợp với nhau như thế nào?</a:t>
            </a:r>
            <a:endParaRPr lang="en-US" sz="3200" dirty="0">
              <a:latin typeface="Inter" panose="020B0604020202020204" charset="0"/>
              <a:ea typeface="Inter" panose="020B0604020202020204" charset="0"/>
            </a:endParaRPr>
          </a:p>
        </p:txBody>
      </p:sp>
      <p:pic>
        <p:nvPicPr>
          <p:cNvPr id="3" name="Image 0" descr="preencoded.png"/>
          <p:cNvPicPr>
            <a:picLocks noChangeAspect="1"/>
          </p:cNvPicPr>
          <p:nvPr/>
        </p:nvPicPr>
        <p:blipFill>
          <a:blip r:embed="rId3"/>
          <a:stretch>
            <a:fillRect/>
          </a:stretch>
        </p:blipFill>
        <p:spPr>
          <a:xfrm>
            <a:off x="3475911" y="1258014"/>
            <a:ext cx="7678460" cy="4798933"/>
          </a:xfrm>
          <a:prstGeom prst="rect">
            <a:avLst/>
          </a:prstGeom>
        </p:spPr>
      </p:pic>
      <p:sp>
        <p:nvSpPr>
          <p:cNvPr id="4" name="Text 1"/>
          <p:cNvSpPr/>
          <p:nvPr/>
        </p:nvSpPr>
        <p:spPr>
          <a:xfrm>
            <a:off x="3905978" y="3499116"/>
            <a:ext cx="2211349" cy="316730"/>
          </a:xfrm>
          <a:prstGeom prst="rect">
            <a:avLst/>
          </a:prstGeom>
          <a:noFill/>
          <a:ln/>
        </p:spPr>
        <p:txBody>
          <a:bodyPr wrap="none" lIns="0" tIns="0" rIns="0" bIns="0" rtlCol="0" anchor="t"/>
          <a:lstStyle/>
          <a:p>
            <a:pPr algn="ctr">
              <a:lnSpc>
                <a:spcPts val="2450"/>
              </a:lnSpc>
            </a:pPr>
            <a:r>
              <a:rPr lang="en-US" sz="1950" b="1">
                <a:solidFill>
                  <a:srgbClr val="FFFFFF"/>
                </a:solidFill>
                <a:latin typeface="Inter" panose="020B0604020202020204" charset="0"/>
                <a:ea typeface="Inter" panose="020B0604020202020204" charset="0"/>
              </a:rPr>
              <a:t>Tự giác</a:t>
            </a:r>
            <a:endParaRPr lang="en-US" sz="1950" dirty="0">
              <a:latin typeface="Inter" panose="020B0604020202020204" charset="0"/>
              <a:ea typeface="Inter" panose="020B0604020202020204" charset="0"/>
            </a:endParaRPr>
          </a:p>
        </p:txBody>
      </p:sp>
      <p:sp>
        <p:nvSpPr>
          <p:cNvPr id="5" name="Text 2"/>
          <p:cNvSpPr/>
          <p:nvPr/>
        </p:nvSpPr>
        <p:spPr>
          <a:xfrm>
            <a:off x="8704911" y="3499116"/>
            <a:ext cx="2211349" cy="316730"/>
          </a:xfrm>
          <a:prstGeom prst="rect">
            <a:avLst/>
          </a:prstGeom>
          <a:noFill/>
          <a:ln/>
        </p:spPr>
        <p:txBody>
          <a:bodyPr wrap="none" lIns="0" tIns="0" rIns="0" bIns="0" rtlCol="0" anchor="t"/>
          <a:lstStyle/>
          <a:p>
            <a:pPr marL="0" indent="0" algn="ctr">
              <a:lnSpc>
                <a:spcPts val="2450"/>
              </a:lnSpc>
              <a:buNone/>
            </a:pPr>
            <a:r>
              <a:rPr lang="en-US" sz="1950" b="1">
                <a:solidFill>
                  <a:srgbClr val="FFFFFF"/>
                </a:solidFill>
                <a:latin typeface="Inter" panose="020B0604020202020204" charset="0"/>
                <a:ea typeface="Inter" panose="020B0604020202020204" charset="0"/>
                <a:cs typeface="Petrona Bold" pitchFamily="34" charset="-120"/>
              </a:rPr>
              <a:t>Trách nhiệm</a:t>
            </a:r>
            <a:endParaRPr lang="en-US" sz="1950" dirty="0">
              <a:latin typeface="Inter" panose="020B0604020202020204" charset="0"/>
              <a:ea typeface="Inter" panose="020B0604020202020204" charset="0"/>
            </a:endParaRPr>
          </a:p>
        </p:txBody>
      </p:sp>
      <p:sp>
        <p:nvSpPr>
          <p:cNvPr id="6" name="Text 3"/>
          <p:cNvSpPr/>
          <p:nvPr/>
        </p:nvSpPr>
        <p:spPr>
          <a:xfrm>
            <a:off x="6593381" y="3340751"/>
            <a:ext cx="1443519" cy="633459"/>
          </a:xfrm>
          <a:prstGeom prst="rect">
            <a:avLst/>
          </a:prstGeom>
          <a:noFill/>
          <a:ln/>
        </p:spPr>
        <p:txBody>
          <a:bodyPr wrap="square" lIns="0" tIns="0" rIns="0" bIns="0" rtlCol="0" anchor="t"/>
          <a:lstStyle/>
          <a:p>
            <a:pPr algn="ctr">
              <a:lnSpc>
                <a:spcPts val="2450"/>
              </a:lnSpc>
            </a:pPr>
            <a:r>
              <a:rPr lang="en-US" sz="1950" b="1">
                <a:solidFill>
                  <a:srgbClr val="FFFFFF"/>
                </a:solidFill>
                <a:latin typeface="Inter" panose="020B0604020202020204" charset="0"/>
                <a:ea typeface="Inter" panose="020B0604020202020204" charset="0"/>
                <a:cs typeface="Petrona Bold" pitchFamily="34" charset="-120"/>
              </a:rPr>
              <a:t>Tiến bộ bền vững</a:t>
            </a:r>
            <a:endParaRPr lang="en-US" sz="1950" dirty="0">
              <a:latin typeface="Inter" panose="020B0604020202020204" charset="0"/>
              <a:ea typeface="Inter" panose="020B0604020202020204" charset="0"/>
            </a:endParaRPr>
          </a:p>
        </p:txBody>
      </p:sp>
      <p:sp>
        <p:nvSpPr>
          <p:cNvPr id="11" name="Text 8"/>
          <p:cNvSpPr/>
          <p:nvPr/>
        </p:nvSpPr>
        <p:spPr>
          <a:xfrm>
            <a:off x="4872587" y="6392085"/>
            <a:ext cx="4937998" cy="785412"/>
          </a:xfrm>
          <a:prstGeom prst="rect">
            <a:avLst/>
          </a:prstGeom>
          <a:noFill/>
          <a:ln/>
        </p:spPr>
        <p:txBody>
          <a:bodyPr wrap="square" lIns="0" tIns="0" rIns="0" bIns="0" rtlCol="0" anchor="t"/>
          <a:lstStyle/>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tự tạo động lực cho chính mình</a:t>
            </a:r>
          </a:p>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chủ động trong việc học tập</a:t>
            </a:r>
          </a:p>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đưa ra những lựa chọn tôn vinh tương lai của bạn</a:t>
            </a:r>
          </a:p>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đóng góp cho điều gì đó lớn lao hơn chính bản thân mình</a:t>
            </a:r>
            <a:endParaRPr lang="en-US" sz="1600" dirty="0">
              <a:latin typeface="Inter" panose="020B0604020202020204" charset="0"/>
              <a:ea typeface="Inter" panose="020B0604020202020204" charset="0"/>
            </a:endParaRPr>
          </a:p>
        </p:txBody>
      </p:sp>
      <p:sp>
        <p:nvSpPr>
          <p:cNvPr id="12" name="Rectangle 11">
            <a:extLst>
              <a:ext uri="{FF2B5EF4-FFF2-40B4-BE49-F238E27FC236}">
                <a16:creationId xmlns:a16="http://schemas.microsoft.com/office/drawing/2014/main" id="{389E3B80-DC1C-DFAD-CCF3-19CE42BCAE09}"/>
              </a:ext>
            </a:extLst>
          </p:cNvPr>
          <p:cNvSpPr/>
          <p:nvPr/>
        </p:nvSpPr>
        <p:spPr>
          <a:xfrm>
            <a:off x="12671703" y="7677686"/>
            <a:ext cx="1832634" cy="502160"/>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938012"/>
            <a:ext cx="6434018" cy="682228"/>
          </a:xfrm>
          <a:prstGeom prst="rect">
            <a:avLst/>
          </a:prstGeom>
          <a:noFill/>
          <a:ln/>
        </p:spPr>
        <p:txBody>
          <a:bodyPr wrap="none" lIns="0" tIns="0" rIns="0" bIns="0" rtlCol="0" anchor="t"/>
          <a:lstStyle/>
          <a:p>
            <a:pPr marL="0" indent="0" algn="l">
              <a:lnSpc>
                <a:spcPts val="5350"/>
              </a:lnSpc>
              <a:buNone/>
            </a:pPr>
            <a:r>
              <a:rPr lang="en-US" sz="4250" b="1">
                <a:solidFill>
                  <a:srgbClr val="F95F88"/>
                </a:solidFill>
                <a:latin typeface="Inter" panose="020B0604020202020204" charset="0"/>
                <a:ea typeface="Inter" panose="020B0604020202020204" charset="0"/>
                <a:cs typeface="Petrona Bold" pitchFamily="34" charset="-120"/>
              </a:rPr>
              <a:t>Lời khuyên chân thành</a:t>
            </a:r>
            <a:endParaRPr lang="en-US" sz="4250" dirty="0">
              <a:latin typeface="Inter" panose="020B0604020202020204" charset="0"/>
              <a:ea typeface="Inter" panose="020B0604020202020204" charset="0"/>
            </a:endParaRPr>
          </a:p>
        </p:txBody>
      </p:sp>
      <p:pic>
        <p:nvPicPr>
          <p:cNvPr id="10" name="Image 2" descr="preencoded.png"/>
          <p:cNvPicPr>
            <a:picLocks noChangeAspect="1"/>
          </p:cNvPicPr>
          <p:nvPr/>
        </p:nvPicPr>
        <p:blipFill>
          <a:blip r:embed="rId3"/>
          <a:stretch>
            <a:fillRect/>
          </a:stretch>
        </p:blipFill>
        <p:spPr>
          <a:xfrm>
            <a:off x="8226195" y="2279126"/>
            <a:ext cx="5058291" cy="5058291"/>
          </a:xfrm>
          <a:prstGeom prst="rect">
            <a:avLst/>
          </a:prstGeom>
        </p:spPr>
      </p:pic>
      <p:pic>
        <p:nvPicPr>
          <p:cNvPr id="13" name="Image 0" descr="preencoded.png">
            <a:extLst>
              <a:ext uri="{FF2B5EF4-FFF2-40B4-BE49-F238E27FC236}">
                <a16:creationId xmlns:a16="http://schemas.microsoft.com/office/drawing/2014/main" id="{0F434E79-E454-6310-7552-DDCAC0087B58}"/>
              </a:ext>
            </a:extLst>
          </p:cNvPr>
          <p:cNvPicPr>
            <a:picLocks noChangeAspect="1"/>
          </p:cNvPicPr>
          <p:nvPr/>
        </p:nvPicPr>
        <p:blipFill>
          <a:blip r:embed="rId4"/>
          <a:stretch>
            <a:fillRect/>
          </a:stretch>
        </p:blipFill>
        <p:spPr>
          <a:xfrm>
            <a:off x="0" y="1"/>
            <a:ext cx="14630400" cy="1356240"/>
          </a:xfrm>
          <a:prstGeom prst="rect">
            <a:avLst/>
          </a:prstGeom>
        </p:spPr>
      </p:pic>
      <p:sp>
        <p:nvSpPr>
          <p:cNvPr id="14" name="Rectangle 13">
            <a:extLst>
              <a:ext uri="{FF2B5EF4-FFF2-40B4-BE49-F238E27FC236}">
                <a16:creationId xmlns:a16="http://schemas.microsoft.com/office/drawing/2014/main" id="{9EFC393D-4276-160D-B467-E2E99C2C012A}"/>
              </a:ext>
            </a:extLst>
          </p:cNvPr>
          <p:cNvSpPr/>
          <p:nvPr/>
        </p:nvSpPr>
        <p:spPr>
          <a:xfrm>
            <a:off x="12689905" y="7729328"/>
            <a:ext cx="1814431" cy="450517"/>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
        <p:nvSpPr>
          <p:cNvPr id="15" name="Text 8">
            <a:extLst>
              <a:ext uri="{FF2B5EF4-FFF2-40B4-BE49-F238E27FC236}">
                <a16:creationId xmlns:a16="http://schemas.microsoft.com/office/drawing/2014/main" id="{C82B1BB8-BC39-C49D-6041-4E80DC62D673}"/>
              </a:ext>
            </a:extLst>
          </p:cNvPr>
          <p:cNvSpPr/>
          <p:nvPr/>
        </p:nvSpPr>
        <p:spPr>
          <a:xfrm>
            <a:off x="1466208" y="4045542"/>
            <a:ext cx="4937998" cy="785412"/>
          </a:xfrm>
          <a:prstGeom prst="rect">
            <a:avLst/>
          </a:prstGeom>
          <a:noFill/>
          <a:ln/>
        </p:spPr>
        <p:txBody>
          <a:bodyPr wrap="square" lIns="0" tIns="0" rIns="0" bIns="0" rtlCol="0" anchor="t"/>
          <a:lstStyle/>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tự tạo động lực cho chính mình</a:t>
            </a:r>
          </a:p>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chủ động trong việc học tập</a:t>
            </a:r>
          </a:p>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đưa ra những lựa chọn tôn vinh tương lai của bạn</a:t>
            </a:r>
          </a:p>
          <a:p>
            <a:pPr marL="342900" indent="-342900">
              <a:buSzPct val="100000"/>
              <a:buChar char="•"/>
            </a:pPr>
            <a:r>
              <a:rPr lang="vi-VN" sz="1600">
                <a:solidFill>
                  <a:srgbClr val="272525"/>
                </a:solidFill>
                <a:latin typeface="Inter" panose="020B0604020202020204" charset="0"/>
                <a:ea typeface="Inter" panose="020B0604020202020204" charset="0"/>
                <a:cs typeface="Inter" pitchFamily="34" charset="-120"/>
              </a:rPr>
              <a:t>Hãy đóng góp cho điều gì đó lớn lao hơn chính bản thân mình</a:t>
            </a:r>
            <a:endParaRPr lang="en-US" sz="1600" dirty="0">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8669" y="567214"/>
            <a:ext cx="10912793" cy="669250"/>
          </a:xfrm>
          <a:prstGeom prst="rect">
            <a:avLst/>
          </a:prstGeom>
          <a:noFill/>
          <a:ln/>
        </p:spPr>
        <p:txBody>
          <a:bodyPr wrap="none" lIns="0" tIns="0" rIns="0" bIns="0" rtlCol="0" anchor="t"/>
          <a:lstStyle/>
          <a:p>
            <a:pPr marL="0" indent="0" algn="l">
              <a:lnSpc>
                <a:spcPts val="5250"/>
              </a:lnSpc>
              <a:buNone/>
            </a:pPr>
            <a:r>
              <a:rPr lang="en-US" sz="4200" b="1" dirty="0">
                <a:solidFill>
                  <a:srgbClr val="F95F88"/>
                </a:solidFill>
                <a:latin typeface="Inter" panose="020B0604020202020204" charset="0"/>
                <a:ea typeface="Inter" panose="020B0604020202020204" charset="0"/>
                <a:cs typeface="Petrona Bold" pitchFamily="34" charset="-120"/>
              </a:rPr>
              <a:t>Thảo Luận Mở: Cùng Giải Quyết Tình Huống!</a:t>
            </a:r>
            <a:endParaRPr lang="en-US" sz="4200" dirty="0">
              <a:latin typeface="Inter" panose="020B0604020202020204" charset="0"/>
              <a:ea typeface="Inter" panose="020B0604020202020204" charset="0"/>
            </a:endParaRPr>
          </a:p>
        </p:txBody>
      </p:sp>
      <p:sp>
        <p:nvSpPr>
          <p:cNvPr id="3" name="Text 1"/>
          <p:cNvSpPr/>
          <p:nvPr/>
        </p:nvSpPr>
        <p:spPr>
          <a:xfrm>
            <a:off x="778669" y="1618298"/>
            <a:ext cx="13073063" cy="616982"/>
          </a:xfrm>
          <a:prstGeom prst="rect">
            <a:avLst/>
          </a:prstGeom>
          <a:noFill/>
          <a:ln/>
        </p:spPr>
        <p:txBody>
          <a:bodyPr wrap="square" lIns="0" tIns="0" rIns="0" bIns="0" rtlCol="0" anchor="t"/>
          <a:lstStyle/>
          <a:p>
            <a:pPr marL="0" indent="0" algn="l">
              <a:lnSpc>
                <a:spcPts val="2400"/>
              </a:lnSpc>
              <a:buNone/>
            </a:pPr>
            <a:r>
              <a:rPr lang="en-US" sz="1500" b="1" dirty="0">
                <a:solidFill>
                  <a:srgbClr val="272525"/>
                </a:solidFill>
                <a:latin typeface="Inter" panose="020B0604020202020204" charset="0"/>
                <a:ea typeface="Inter" panose="020B0604020202020204" charset="0"/>
                <a:cs typeface="Inter" pitchFamily="34" charset="-120"/>
              </a:rPr>
              <a:t>Hãy cùng nhau suy nghĩ và thảo luận về những tình huống thực tế sau đây. Không có câu trả lời đúng hoàn toàn, quan trọng là cách bạn lập luận!</a:t>
            </a:r>
            <a:endParaRPr lang="en-US" sz="1500" b="1" dirty="0">
              <a:latin typeface="Inter" panose="020B0604020202020204" charset="0"/>
              <a:ea typeface="Inter" panose="020B0604020202020204" charset="0"/>
            </a:endParaRPr>
          </a:p>
        </p:txBody>
      </p:sp>
      <p:sp>
        <p:nvSpPr>
          <p:cNvPr id="4" name="Shape 2"/>
          <p:cNvSpPr/>
          <p:nvPr/>
        </p:nvSpPr>
        <p:spPr>
          <a:xfrm>
            <a:off x="4094678" y="2397964"/>
            <a:ext cx="6441043" cy="3871913"/>
          </a:xfrm>
          <a:prstGeom prst="roundRect">
            <a:avLst>
              <a:gd name="adj" fmla="val 2112"/>
            </a:avLst>
          </a:prstGeom>
          <a:solidFill>
            <a:srgbClr val="FDFAF7"/>
          </a:solidFill>
          <a:ln w="22860">
            <a:solidFill>
              <a:srgbClr val="C6BDDA"/>
            </a:solidFill>
            <a:prstDash val="solid"/>
          </a:ln>
        </p:spPr>
      </p:sp>
      <p:sp>
        <p:nvSpPr>
          <p:cNvPr id="5" name="Shape 3"/>
          <p:cNvSpPr/>
          <p:nvPr/>
        </p:nvSpPr>
        <p:spPr>
          <a:xfrm>
            <a:off x="4117538" y="2420824"/>
            <a:ext cx="6395323" cy="584002"/>
          </a:xfrm>
          <a:prstGeom prst="roundRect">
            <a:avLst>
              <a:gd name="adj" fmla="val 9304"/>
            </a:avLst>
          </a:prstGeom>
          <a:solidFill>
            <a:srgbClr val="E0D7F4"/>
          </a:solidFill>
          <a:ln/>
        </p:spPr>
        <p:txBody>
          <a:bodyPr/>
          <a:lstStyle/>
          <a:p>
            <a:endParaRPr lang="en-US"/>
          </a:p>
        </p:txBody>
      </p:sp>
      <p:sp>
        <p:nvSpPr>
          <p:cNvPr id="6" name="Text 4"/>
          <p:cNvSpPr/>
          <p:nvPr/>
        </p:nvSpPr>
        <p:spPr>
          <a:xfrm>
            <a:off x="7169229" y="2526552"/>
            <a:ext cx="291941" cy="364927"/>
          </a:xfrm>
          <a:prstGeom prst="rect">
            <a:avLst/>
          </a:prstGeom>
          <a:noFill/>
          <a:ln/>
        </p:spPr>
        <p:txBody>
          <a:bodyPr wrap="none" lIns="0" tIns="0" rIns="0" bIns="0" rtlCol="0" anchor="t"/>
          <a:lstStyle/>
          <a:p>
            <a:pPr marL="0" indent="0" algn="l">
              <a:lnSpc>
                <a:spcPts val="2250"/>
              </a:lnSpc>
              <a:buNone/>
            </a:pPr>
            <a:endParaRPr lang="en-US" sz="2250" dirty="0">
              <a:latin typeface="Inter" panose="020B0604020202020204" charset="0"/>
              <a:ea typeface="Inter" panose="020B0604020202020204" charset="0"/>
            </a:endParaRPr>
          </a:p>
        </p:txBody>
      </p:sp>
      <p:sp>
        <p:nvSpPr>
          <p:cNvPr id="7" name="Text 5"/>
          <p:cNvSpPr/>
          <p:nvPr/>
        </p:nvSpPr>
        <p:spPr>
          <a:xfrm>
            <a:off x="4312205" y="3195683"/>
            <a:ext cx="4703802" cy="33456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Inter" panose="020B0604020202020204" charset="0"/>
                <a:ea typeface="Inter" panose="020B0604020202020204" charset="0"/>
                <a:cs typeface="Petrona Bold" pitchFamily="34" charset="-120"/>
              </a:rPr>
              <a:t>Tình Huống 1: Sử Dụng AI Làm Bài Tập</a:t>
            </a:r>
            <a:endParaRPr lang="en-US" sz="2100" dirty="0">
              <a:latin typeface="Inter" panose="020B0604020202020204" charset="0"/>
              <a:ea typeface="Inter" panose="020B0604020202020204" charset="0"/>
            </a:endParaRPr>
          </a:p>
        </p:txBody>
      </p:sp>
      <p:sp>
        <p:nvSpPr>
          <p:cNvPr id="8" name="Text 6"/>
          <p:cNvSpPr/>
          <p:nvPr/>
        </p:nvSpPr>
        <p:spPr>
          <a:xfrm>
            <a:off x="4312205" y="3644787"/>
            <a:ext cx="6005989" cy="92547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anose="020B0604020202020204" charset="0"/>
                <a:ea typeface="Inter" panose="020B0604020202020204" charset="0"/>
                <a:cs typeface="Inter" pitchFamily="34" charset="-120"/>
              </a:rPr>
              <a:t>Thầy giáo giao bài tập làm văn về chủ đề "Ước mơ của em". Bạn Nam nghĩ: "Mình có thể hỏi ChatGPT viết giúp, rồi nộp luôn cho nhanh!"</a:t>
            </a:r>
            <a:endParaRPr lang="en-US" sz="1500" dirty="0">
              <a:latin typeface="Inter" panose="020B0604020202020204" charset="0"/>
              <a:ea typeface="Inter" panose="020B0604020202020204" charset="0"/>
            </a:endParaRPr>
          </a:p>
        </p:txBody>
      </p:sp>
      <p:sp>
        <p:nvSpPr>
          <p:cNvPr id="9" name="Text 7"/>
          <p:cNvSpPr/>
          <p:nvPr/>
        </p:nvSpPr>
        <p:spPr>
          <a:xfrm>
            <a:off x="4312205" y="4684798"/>
            <a:ext cx="6005989" cy="1234126"/>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272525"/>
                </a:solidFill>
                <a:latin typeface="Inter" panose="020B0604020202020204" charset="0"/>
                <a:ea typeface="Inter" panose="020B0604020202020204" charset="0"/>
                <a:cs typeface="Inter" pitchFamily="34" charset="-120"/>
              </a:rPr>
              <a:t>Theo bạn, cách làm này đúng hay sai? Tại sao?</a:t>
            </a:r>
            <a:endParaRPr lang="en-US" sz="1500" dirty="0">
              <a:latin typeface="Inter" panose="020B0604020202020204" charset="0"/>
              <a:ea typeface="Inter" panose="020B0604020202020204" charset="0"/>
            </a:endParaRPr>
          </a:p>
          <a:p>
            <a:pPr marL="342900" indent="-342900" algn="l">
              <a:lnSpc>
                <a:spcPts val="2400"/>
              </a:lnSpc>
              <a:buSzPct val="100000"/>
              <a:buChar char="•"/>
            </a:pPr>
            <a:r>
              <a:rPr lang="en-US" sz="1500" dirty="0">
                <a:solidFill>
                  <a:srgbClr val="272525"/>
                </a:solidFill>
                <a:latin typeface="Inter" panose="020B0604020202020204" charset="0"/>
                <a:ea typeface="Inter" panose="020B0604020202020204" charset="0"/>
                <a:cs typeface="Inter" pitchFamily="34" charset="-120"/>
              </a:rPr>
              <a:t>Làm thế nào để sử dụng AI một cách hợp lý trong trường hợp này?</a:t>
            </a:r>
            <a:endParaRPr lang="en-US" sz="1500" dirty="0">
              <a:latin typeface="Inter" panose="020B0604020202020204" charset="0"/>
              <a:ea typeface="Inter" panose="020B0604020202020204" charset="0"/>
            </a:endParaRPr>
          </a:p>
          <a:p>
            <a:pPr marL="342900" indent="-342900" algn="l">
              <a:lnSpc>
                <a:spcPts val="2400"/>
              </a:lnSpc>
              <a:buSzPct val="100000"/>
              <a:buChar char="•"/>
            </a:pPr>
            <a:r>
              <a:rPr lang="en-US" sz="1500" dirty="0">
                <a:solidFill>
                  <a:srgbClr val="272525"/>
                </a:solidFill>
                <a:latin typeface="Inter" panose="020B0604020202020204" charset="0"/>
                <a:ea typeface="Inter" panose="020B0604020202020204" charset="0"/>
                <a:cs typeface="Inter" pitchFamily="34" charset="-120"/>
              </a:rPr>
              <a:t>Điều gì sẽ xảy ra nếu bạn để AI làm thay hoàn toàn?</a:t>
            </a:r>
            <a:endParaRPr lang="en-US" sz="1500" dirty="0">
              <a:latin typeface="Inter" panose="020B0604020202020204" charset="0"/>
              <a:ea typeface="Inter" panose="020B0604020202020204" charset="0"/>
            </a:endParaRPr>
          </a:p>
        </p:txBody>
      </p:sp>
      <p:sp>
        <p:nvSpPr>
          <p:cNvPr id="16" name="Shape 14"/>
          <p:cNvSpPr/>
          <p:nvPr/>
        </p:nvSpPr>
        <p:spPr>
          <a:xfrm>
            <a:off x="778669" y="6269877"/>
            <a:ext cx="13073063" cy="1125498"/>
          </a:xfrm>
          <a:prstGeom prst="roundRect">
            <a:avLst>
              <a:gd name="adj" fmla="val 7265"/>
            </a:avLst>
          </a:prstGeom>
          <a:solidFill>
            <a:srgbClr val="D0C3EE"/>
          </a:solidFill>
          <a:ln/>
        </p:spPr>
      </p:sp>
      <p:pic>
        <p:nvPicPr>
          <p:cNvPr id="17" name="Image 0" descr="preencoded.png"/>
          <p:cNvPicPr>
            <a:picLocks noChangeAspect="1"/>
          </p:cNvPicPr>
          <p:nvPr/>
        </p:nvPicPr>
        <p:blipFill>
          <a:blip r:embed="rId3"/>
          <a:stretch>
            <a:fillRect/>
          </a:stretch>
        </p:blipFill>
        <p:spPr>
          <a:xfrm>
            <a:off x="973336" y="6563723"/>
            <a:ext cx="243245" cy="194667"/>
          </a:xfrm>
          <a:prstGeom prst="rect">
            <a:avLst/>
          </a:prstGeom>
        </p:spPr>
      </p:pic>
      <p:sp>
        <p:nvSpPr>
          <p:cNvPr id="18" name="Text 15"/>
          <p:cNvSpPr/>
          <p:nvPr/>
        </p:nvSpPr>
        <p:spPr>
          <a:xfrm>
            <a:off x="1411248" y="6509312"/>
            <a:ext cx="12245816" cy="616982"/>
          </a:xfrm>
          <a:prstGeom prst="rect">
            <a:avLst/>
          </a:prstGeom>
          <a:noFill/>
          <a:ln/>
        </p:spPr>
        <p:txBody>
          <a:bodyPr wrap="square" lIns="0" tIns="0" rIns="0" bIns="0" rtlCol="0" anchor="t"/>
          <a:lstStyle/>
          <a:p>
            <a:pPr marL="0" indent="0" algn="l">
              <a:lnSpc>
                <a:spcPts val="2400"/>
              </a:lnSpc>
              <a:buNone/>
            </a:pPr>
            <a:r>
              <a:rPr lang="en-US" sz="1500" b="1" dirty="0">
                <a:solidFill>
                  <a:srgbClr val="000000"/>
                </a:solidFill>
                <a:latin typeface="Inter" panose="020B0604020202020204" charset="0"/>
                <a:ea typeface="Inter" panose="020B0604020202020204" charset="0"/>
                <a:cs typeface="Inter" pitchFamily="34" charset="-120"/>
              </a:rPr>
              <a:t>Gợi ý thảo luận:</a:t>
            </a:r>
            <a:r>
              <a:rPr lang="en-US" sz="1500" dirty="0">
                <a:solidFill>
                  <a:srgbClr val="000000"/>
                </a:solidFill>
                <a:latin typeface="Inter" panose="020B0604020202020204" charset="0"/>
                <a:ea typeface="Inter" panose="020B0604020202020204" charset="0"/>
                <a:cs typeface="Inter" pitchFamily="34" charset="-120"/>
              </a:rPr>
              <a:t> Hãy chia sẻ suy nghĩ của bạn với bạn bè hoặc giáo viên. Cùng nhau tìm ra những cách sử dụng công nghệ thông minh và có trách nhiệm nhất!</a:t>
            </a:r>
            <a:endParaRPr lang="en-US" sz="1500" dirty="0">
              <a:latin typeface="Inter" panose="020B0604020202020204" charset="0"/>
              <a:ea typeface="Inter" panose="020B0604020202020204" charset="0"/>
            </a:endParaRPr>
          </a:p>
        </p:txBody>
      </p:sp>
      <p:sp>
        <p:nvSpPr>
          <p:cNvPr id="20" name="Rectangle 19">
            <a:extLst>
              <a:ext uri="{FF2B5EF4-FFF2-40B4-BE49-F238E27FC236}">
                <a16:creationId xmlns:a16="http://schemas.microsoft.com/office/drawing/2014/main" id="{01578EF1-9E40-F97A-A3EE-568ABCF22E08}"/>
              </a:ext>
            </a:extLst>
          </p:cNvPr>
          <p:cNvSpPr/>
          <p:nvPr/>
        </p:nvSpPr>
        <p:spPr>
          <a:xfrm>
            <a:off x="12689905" y="7729328"/>
            <a:ext cx="1814431" cy="450517"/>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94579"/>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Inter" panose="020B0604020202020204" charset="0"/>
                <a:ea typeface="Inter" panose="020B0604020202020204" charset="0"/>
                <a:cs typeface="Petrona Bold" pitchFamily="34" charset="-120"/>
              </a:rPr>
              <a:t>Thông Điệp Gửi Gắm</a:t>
            </a:r>
            <a:endParaRPr lang="en-US" sz="4250" dirty="0">
              <a:latin typeface="Inter" panose="020B0604020202020204" charset="0"/>
              <a:ea typeface="Inter" panose="020B0604020202020204" charset="0"/>
            </a:endParaRPr>
          </a:p>
        </p:txBody>
      </p:sp>
      <p:sp>
        <p:nvSpPr>
          <p:cNvPr id="3" name="Text 1"/>
          <p:cNvSpPr/>
          <p:nvPr/>
        </p:nvSpPr>
        <p:spPr>
          <a:xfrm>
            <a:off x="1091446" y="2771299"/>
            <a:ext cx="11500604" cy="545663"/>
          </a:xfrm>
          <a:prstGeom prst="rect">
            <a:avLst/>
          </a:prstGeom>
          <a:noFill/>
          <a:ln/>
        </p:spPr>
        <p:txBody>
          <a:bodyPr wrap="none" lIns="0" tIns="0" rIns="0" bIns="0" rtlCol="0" anchor="t"/>
          <a:lstStyle/>
          <a:p>
            <a:pPr marL="0" indent="0" algn="l">
              <a:lnSpc>
                <a:spcPts val="4250"/>
              </a:lnSpc>
              <a:buNone/>
            </a:pPr>
            <a:r>
              <a:rPr lang="en-US" sz="3400" b="1" dirty="0">
                <a:solidFill>
                  <a:srgbClr val="F95F88"/>
                </a:solidFill>
                <a:latin typeface="Inter" panose="020B0604020202020204" charset="0"/>
                <a:ea typeface="Inter" panose="020B0604020202020204" charset="0"/>
                <a:cs typeface="Petrona Bold" pitchFamily="34" charset="-120"/>
              </a:rPr>
              <a:t>"Học tập là hành trình cả đời, thái độ quyết định trình độ."</a:t>
            </a:r>
            <a:endParaRPr lang="en-US" sz="3400" dirty="0">
              <a:latin typeface="Inter" panose="020B0604020202020204" charset="0"/>
              <a:ea typeface="Inter" panose="020B0604020202020204" charset="0"/>
            </a:endParaRPr>
          </a:p>
        </p:txBody>
      </p:sp>
      <p:sp>
        <p:nvSpPr>
          <p:cNvPr id="4" name="Shape 2"/>
          <p:cNvSpPr/>
          <p:nvPr/>
        </p:nvSpPr>
        <p:spPr>
          <a:xfrm>
            <a:off x="793790" y="2473643"/>
            <a:ext cx="22860" cy="1140976"/>
          </a:xfrm>
          <a:prstGeom prst="rect">
            <a:avLst/>
          </a:prstGeom>
          <a:solidFill>
            <a:srgbClr val="6237C8"/>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862626"/>
            <a:ext cx="198358" cy="198358"/>
          </a:xfrm>
          <a:prstGeom prst="rect">
            <a:avLst/>
          </a:prstGeom>
        </p:spPr>
      </p:pic>
      <p:sp>
        <p:nvSpPr>
          <p:cNvPr id="6" name="Shape 3"/>
          <p:cNvSpPr/>
          <p:nvPr/>
        </p:nvSpPr>
        <p:spPr>
          <a:xfrm>
            <a:off x="793790" y="4152186"/>
            <a:ext cx="4215289" cy="22860"/>
          </a:xfrm>
          <a:prstGeom prst="rect">
            <a:avLst/>
          </a:prstGeom>
          <a:solidFill>
            <a:srgbClr val="6237C8"/>
          </a:solidFill>
          <a:ln/>
        </p:spPr>
      </p:sp>
      <p:sp>
        <p:nvSpPr>
          <p:cNvPr id="7" name="Text 4"/>
          <p:cNvSpPr/>
          <p:nvPr/>
        </p:nvSpPr>
        <p:spPr>
          <a:xfrm>
            <a:off x="793790" y="4297085"/>
            <a:ext cx="4093012"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panose="020B0604020202020204" charset="0"/>
                <a:ea typeface="Inter" panose="020B0604020202020204" charset="0"/>
                <a:cs typeface="Petrona Bold" pitchFamily="34" charset="-120"/>
              </a:rPr>
              <a:t>Học Tập Không Bao Giờ Dừng Lại</a:t>
            </a:r>
            <a:endParaRPr lang="en-US" sz="2100" dirty="0">
              <a:latin typeface="Inter" panose="020B0604020202020204" charset="0"/>
              <a:ea typeface="Inter" panose="020B0604020202020204" charset="0"/>
            </a:endParaRPr>
          </a:p>
        </p:txBody>
      </p:sp>
      <p:sp>
        <p:nvSpPr>
          <p:cNvPr id="8" name="Text 5"/>
          <p:cNvSpPr/>
          <p:nvPr/>
        </p:nvSpPr>
        <p:spPr>
          <a:xfrm>
            <a:off x="793790" y="5098375"/>
            <a:ext cx="4215289"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anose="020B0604020202020204" charset="0"/>
                <a:ea typeface="Inter" panose="020B0604020202020204" charset="0"/>
                <a:cs typeface="Inter" pitchFamily="34" charset="-120"/>
              </a:rPr>
              <a:t>Dù bạn đã tốt nghiệp hay đang ngồi trên ghế nhà trường, việc học không bao giờ kết thúc. Mỗi ngày là một cơ hội để khám phá điều mới mẻ, phát triển bản thân và trở thành phiên bản tốt hơn của chính mình.</a:t>
            </a:r>
            <a:endParaRPr lang="en-US" sz="1550" dirty="0">
              <a:latin typeface="Inter" panose="020B0604020202020204" charset="0"/>
              <a:ea typeface="Inter" panose="020B0604020202020204"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7437" y="3862626"/>
            <a:ext cx="198358" cy="198358"/>
          </a:xfrm>
          <a:prstGeom prst="rect">
            <a:avLst/>
          </a:prstGeom>
        </p:spPr>
      </p:pic>
      <p:sp>
        <p:nvSpPr>
          <p:cNvPr id="10" name="Shape 6"/>
          <p:cNvSpPr/>
          <p:nvPr/>
        </p:nvSpPr>
        <p:spPr>
          <a:xfrm>
            <a:off x="5207437" y="4152186"/>
            <a:ext cx="4215408" cy="22860"/>
          </a:xfrm>
          <a:prstGeom prst="rect">
            <a:avLst/>
          </a:prstGeom>
          <a:solidFill>
            <a:srgbClr val="6237C8"/>
          </a:solidFill>
          <a:ln/>
        </p:spPr>
      </p:sp>
      <p:sp>
        <p:nvSpPr>
          <p:cNvPr id="11" name="Text 7"/>
          <p:cNvSpPr/>
          <p:nvPr/>
        </p:nvSpPr>
        <p:spPr>
          <a:xfrm>
            <a:off x="5207437" y="4297085"/>
            <a:ext cx="4215408" cy="682228"/>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panose="020B0604020202020204" charset="0"/>
                <a:ea typeface="Inter" panose="020B0604020202020204" charset="0"/>
                <a:cs typeface="Petrona Bold" pitchFamily="34" charset="-120"/>
              </a:rPr>
              <a:t>Thái Độ Là Chìa Khóa Thành Công</a:t>
            </a:r>
            <a:endParaRPr lang="en-US" sz="2100" dirty="0">
              <a:latin typeface="Inter" panose="020B0604020202020204" charset="0"/>
              <a:ea typeface="Inter" panose="020B0604020202020204" charset="0"/>
            </a:endParaRPr>
          </a:p>
        </p:txBody>
      </p:sp>
      <p:sp>
        <p:nvSpPr>
          <p:cNvPr id="12" name="Text 8"/>
          <p:cNvSpPr/>
          <p:nvPr/>
        </p:nvSpPr>
        <p:spPr>
          <a:xfrm>
            <a:off x="5207437" y="5098375"/>
            <a:ext cx="4215408"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anose="020B0604020202020204" charset="0"/>
                <a:ea typeface="Inter" panose="020B0604020202020204" charset="0"/>
                <a:cs typeface="Inter" pitchFamily="34" charset="-120"/>
              </a:rPr>
              <a:t>Không phải ai sinh ra cũng thông minh nhất, nhưng người có thái độ học hỏi tích cực, không ngại thất bại, luôn cố gắng sẽ đạt được những điều tuyệt vời. Hãy yêu thích việc học và tận hưởng từng bước đi!</a:t>
            </a:r>
            <a:endParaRPr lang="en-US" sz="1550" dirty="0">
              <a:latin typeface="Inter" panose="020B0604020202020204" charset="0"/>
              <a:ea typeface="Inter" panose="020B0604020202020204"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21203" y="3862626"/>
            <a:ext cx="198358" cy="198358"/>
          </a:xfrm>
          <a:prstGeom prst="rect">
            <a:avLst/>
          </a:prstGeom>
        </p:spPr>
      </p:pic>
      <p:sp>
        <p:nvSpPr>
          <p:cNvPr id="14" name="Shape 9"/>
          <p:cNvSpPr/>
          <p:nvPr/>
        </p:nvSpPr>
        <p:spPr>
          <a:xfrm>
            <a:off x="9621203" y="4152186"/>
            <a:ext cx="4215289" cy="22860"/>
          </a:xfrm>
          <a:prstGeom prst="rect">
            <a:avLst/>
          </a:prstGeom>
          <a:solidFill>
            <a:srgbClr val="6237C8"/>
          </a:solidFill>
          <a:ln/>
        </p:spPr>
      </p:sp>
      <p:sp>
        <p:nvSpPr>
          <p:cNvPr id="15" name="Text 10"/>
          <p:cNvSpPr/>
          <p:nvPr/>
        </p:nvSpPr>
        <p:spPr>
          <a:xfrm>
            <a:off x="9621203" y="4297085"/>
            <a:ext cx="4215289" cy="682228"/>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panose="020B0604020202020204" charset="0"/>
                <a:ea typeface="Inter" panose="020B0604020202020204" charset="0"/>
                <a:cs typeface="Petrona Bold" pitchFamily="34" charset="-120"/>
              </a:rPr>
              <a:t>Công Nghệ Là Người Bạn Đồng Hành</a:t>
            </a:r>
            <a:endParaRPr lang="en-US" sz="2100" dirty="0">
              <a:latin typeface="Inter" panose="020B0604020202020204" charset="0"/>
              <a:ea typeface="Inter" panose="020B0604020202020204" charset="0"/>
            </a:endParaRPr>
          </a:p>
        </p:txBody>
      </p:sp>
      <p:sp>
        <p:nvSpPr>
          <p:cNvPr id="16" name="Text 11"/>
          <p:cNvSpPr/>
          <p:nvPr/>
        </p:nvSpPr>
        <p:spPr>
          <a:xfrm>
            <a:off x="9621203" y="5098375"/>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anose="020B0604020202020204" charset="0"/>
                <a:ea typeface="Inter" panose="020B0604020202020204" charset="0"/>
                <a:cs typeface="Inter" pitchFamily="34" charset="-120"/>
              </a:rPr>
              <a:t>Sử dụng công nghệ một cách thông minh sẽ giúp bạn tiến xa hơn, nhanh hơn. Nhưng đừng quên: công nghệ chỉ là công cụ, chính BẠN mới là người tạo nên thành công!</a:t>
            </a:r>
            <a:endParaRPr lang="en-US" sz="1550" dirty="0">
              <a:latin typeface="Inter" panose="020B0604020202020204" charset="0"/>
              <a:ea typeface="Inter" panose="020B0604020202020204" charset="0"/>
            </a:endParaRPr>
          </a:p>
        </p:txBody>
      </p:sp>
      <p:sp>
        <p:nvSpPr>
          <p:cNvPr id="18" name="Rectangle 17">
            <a:extLst>
              <a:ext uri="{FF2B5EF4-FFF2-40B4-BE49-F238E27FC236}">
                <a16:creationId xmlns:a16="http://schemas.microsoft.com/office/drawing/2014/main" id="{8D2369DC-716E-0DBE-2993-119EE687D500}"/>
              </a:ext>
            </a:extLst>
          </p:cNvPr>
          <p:cNvSpPr/>
          <p:nvPr/>
        </p:nvSpPr>
        <p:spPr>
          <a:xfrm>
            <a:off x="12689905" y="7729328"/>
            <a:ext cx="1814431" cy="450517"/>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59025" y="3257642"/>
            <a:ext cx="5457944" cy="682228"/>
          </a:xfrm>
          <a:prstGeom prst="rect">
            <a:avLst/>
          </a:prstGeom>
          <a:noFill/>
          <a:ln/>
        </p:spPr>
        <p:txBody>
          <a:bodyPr wrap="none" lIns="0" tIns="0" rIns="0" bIns="0" rtlCol="0" anchor="t"/>
          <a:lstStyle/>
          <a:p>
            <a:pPr marL="0" indent="0" algn="l">
              <a:lnSpc>
                <a:spcPts val="5350"/>
              </a:lnSpc>
              <a:buNone/>
            </a:pPr>
            <a:r>
              <a:rPr lang="en-US" sz="8000" b="1">
                <a:solidFill>
                  <a:srgbClr val="F95F88"/>
                </a:solidFill>
                <a:latin typeface="Inter" panose="020B0604020202020204" charset="0"/>
                <a:ea typeface="Inter" panose="020B0604020202020204" charset="0"/>
                <a:cs typeface="Petrona Bold" pitchFamily="34" charset="-120"/>
              </a:rPr>
              <a:t>Cảm Ơn Các Bạn!</a:t>
            </a:r>
            <a:endParaRPr lang="en-US" sz="8000" dirty="0">
              <a:latin typeface="Inter" panose="020B0604020202020204" charset="0"/>
              <a:ea typeface="Inter" panose="020B0604020202020204" charset="0"/>
            </a:endParaRPr>
          </a:p>
        </p:txBody>
      </p:sp>
      <p:sp>
        <p:nvSpPr>
          <p:cNvPr id="3" name="Text 1"/>
          <p:cNvSpPr/>
          <p:nvPr/>
        </p:nvSpPr>
        <p:spPr>
          <a:xfrm>
            <a:off x="793790" y="4746276"/>
            <a:ext cx="13042821"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anose="020B0604020202020204" charset="0"/>
                <a:ea typeface="Inter" panose="020B0604020202020204" charset="0"/>
                <a:cs typeface="Inter" pitchFamily="34" charset="-120"/>
              </a:rPr>
              <a:t>Cảm ơn các bạn học sinh và quý thầy cô đã lắng nghe! Hy vọng những chia sẻ hôm nay sẽ giúp các bạn tự tin hơn trong hành trình khám phá kiến thức và trở thành những "Học sinh 4.0" thực sự.</a:t>
            </a:r>
            <a:endParaRPr lang="en-US" sz="1550" dirty="0">
              <a:latin typeface="Inter" panose="020B0604020202020204" charset="0"/>
              <a:ea typeface="Inter" panose="020B0604020202020204" charset="0"/>
            </a:endParaRPr>
          </a:p>
        </p:txBody>
      </p:sp>
      <p:sp>
        <p:nvSpPr>
          <p:cNvPr id="14" name="Rectangle 13">
            <a:extLst>
              <a:ext uri="{FF2B5EF4-FFF2-40B4-BE49-F238E27FC236}">
                <a16:creationId xmlns:a16="http://schemas.microsoft.com/office/drawing/2014/main" id="{2E8ACE6E-224A-2AFF-0096-BF83B037C5FE}"/>
              </a:ext>
            </a:extLst>
          </p:cNvPr>
          <p:cNvSpPr/>
          <p:nvPr/>
        </p:nvSpPr>
        <p:spPr>
          <a:xfrm>
            <a:off x="12689905" y="7729328"/>
            <a:ext cx="1814431" cy="450517"/>
          </a:xfrm>
          <a:prstGeom prst="rect">
            <a:avLst/>
          </a:prstGeom>
          <a:solidFill>
            <a:srgbClr val="FDFA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B0604020202020204" charset="0"/>
              <a:ea typeface="Inter" panose="020B0604020202020204" charset="0"/>
            </a:endParaRPr>
          </a:p>
        </p:txBody>
      </p:sp>
      <p:pic>
        <p:nvPicPr>
          <p:cNvPr id="17" name="Image 0" descr="preencoded.png">
            <a:extLst>
              <a:ext uri="{FF2B5EF4-FFF2-40B4-BE49-F238E27FC236}">
                <a16:creationId xmlns:a16="http://schemas.microsoft.com/office/drawing/2014/main" id="{64885163-91B8-F1B2-8841-F24942A5AA4E}"/>
              </a:ext>
            </a:extLst>
          </p:cNvPr>
          <p:cNvPicPr>
            <a:picLocks noChangeAspect="1"/>
          </p:cNvPicPr>
          <p:nvPr/>
        </p:nvPicPr>
        <p:blipFill>
          <a:blip r:embed="rId3"/>
          <a:stretch>
            <a:fillRect/>
          </a:stretch>
        </p:blipFill>
        <p:spPr>
          <a:xfrm>
            <a:off x="0" y="1"/>
            <a:ext cx="14630400" cy="1134736"/>
          </a:xfrm>
          <a:prstGeom prst="rect">
            <a:avLst/>
          </a:prstGeom>
        </p:spPr>
      </p:pic>
      <p:pic>
        <p:nvPicPr>
          <p:cNvPr id="18" name="Image 0" descr="preencoded.png">
            <a:extLst>
              <a:ext uri="{FF2B5EF4-FFF2-40B4-BE49-F238E27FC236}">
                <a16:creationId xmlns:a16="http://schemas.microsoft.com/office/drawing/2014/main" id="{E8835A28-5210-00F7-C7B3-2F003D2EA4F2}"/>
              </a:ext>
            </a:extLst>
          </p:cNvPr>
          <p:cNvPicPr>
            <a:picLocks noChangeAspect="1"/>
          </p:cNvPicPr>
          <p:nvPr/>
        </p:nvPicPr>
        <p:blipFill>
          <a:blip r:embed="rId3"/>
          <a:stretch>
            <a:fillRect/>
          </a:stretch>
        </p:blipFill>
        <p:spPr>
          <a:xfrm>
            <a:off x="0" y="6873359"/>
            <a:ext cx="14630400" cy="13562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1162</Words>
  <Application>Microsoft Office PowerPoint</Application>
  <PresentationFormat>Custom</PresentationFormat>
  <Paragraphs>87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nguyenducanh12a10@gmail.com</cp:lastModifiedBy>
  <cp:revision>8</cp:revision>
  <dcterms:created xsi:type="dcterms:W3CDTF">2026-01-29T11:53:24Z</dcterms:created>
  <dcterms:modified xsi:type="dcterms:W3CDTF">2026-01-29T12:52:56Z</dcterms:modified>
</cp:coreProperties>
</file>