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3" r:id="rId17"/>
    <p:sldId id="274" r:id="rId18"/>
    <p:sldId id="275" r:id="rId1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744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jpe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 Id="rId9"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27.jpeg"/><Relationship Id="rId4" Type="http://schemas.openxmlformats.org/officeDocument/2006/relationships/image" Target="../media/image26.jpeg"/></Relationships>
</file>

<file path=ppt/slides/_rels/slide1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9" Type="http://schemas.openxmlformats.org/officeDocument/2006/relationships/image" Target="../media/image34.jpeg"/></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45294" y="2709863"/>
            <a:ext cx="7627382" cy="2138124"/>
          </a:xfrm>
          <a:prstGeom prst="rect">
            <a:avLst/>
          </a:prstGeom>
          <a:noFill/>
          <a:ln/>
        </p:spPr>
        <p:txBody>
          <a:bodyPr wrap="square" lIns="0" tIns="0" rIns="0" bIns="0" rtlCol="0" anchor="t"/>
          <a:lstStyle/>
          <a:p>
            <a:pPr marL="0" indent="0" algn="l">
              <a:lnSpc>
                <a:spcPts val="5600"/>
              </a:lnSpc>
              <a:buNone/>
            </a:pPr>
            <a:r>
              <a:rPr lang="en-US" sz="4450">
                <a:solidFill>
                  <a:srgbClr val="1F1E1E"/>
                </a:solidFill>
                <a:latin typeface="Times New Roman" panose="02020603050405020304" pitchFamily="18" charset="0"/>
                <a:ea typeface="Sora Semi Bold" pitchFamily="34" charset="-122"/>
                <a:cs typeface="Times New Roman" panose="02020603050405020304" pitchFamily="18" charset="0"/>
              </a:rPr>
              <a:t>THANH NIÊN VỚI LÝ TƯỞNG SỐNG</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758309" y="5172908"/>
            <a:ext cx="7627382"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Người thực hiện</a:t>
            </a:r>
            <a:r>
              <a:rPr lang="en-US" sz="1700">
                <a:solidFill>
                  <a:srgbClr val="3B3535"/>
                </a:solidFill>
                <a:latin typeface="Times New Roman" panose="02020603050405020304" pitchFamily="18" charset="0"/>
                <a:ea typeface="Sora Light" pitchFamily="34" charset="-122"/>
                <a:cs typeface="Times New Roman" panose="02020603050405020304" pitchFamily="18" charset="0"/>
              </a:rPr>
              <a:t>: CÔ VŨ THỊ HỒNG HÀ</a:t>
            </a:r>
          </a:p>
          <a:p>
            <a:pPr marL="0" indent="0" algn="l">
              <a:lnSpc>
                <a:spcPts val="2700"/>
              </a:lnSpc>
              <a:buNone/>
            </a:pPr>
            <a:endParaRPr lang="en-US" sz="1700" dirty="0">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D11DA8C4-433D-01B1-9412-E61F3DFB4C49}"/>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028" name="Picture 4" descr="Đoàn Thanh niên Cộng sản Hồ Chí Minh – Wikipedia tiếng Việt">
            <a:extLst>
              <a:ext uri="{FF2B5EF4-FFF2-40B4-BE49-F238E27FC236}">
                <a16:creationId xmlns:a16="http://schemas.microsoft.com/office/drawing/2014/main" id="{BEC31143-6ED6-F813-6D8F-6BCC3C9837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05565" y="866710"/>
            <a:ext cx="5556250" cy="611841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58309" y="2361843"/>
            <a:ext cx="1469708" cy="407075"/>
          </a:xfrm>
          <a:prstGeom prst="roundRect">
            <a:avLst>
              <a:gd name="adj" fmla="val 17883"/>
            </a:avLst>
          </a:prstGeom>
          <a:solidFill>
            <a:srgbClr val="FFFF00"/>
          </a:solidFill>
          <a:ln/>
        </p:spPr>
      </p:sp>
      <p:sp>
        <p:nvSpPr>
          <p:cNvPr id="3" name="Text 1"/>
          <p:cNvSpPr/>
          <p:nvPr/>
        </p:nvSpPr>
        <p:spPr>
          <a:xfrm>
            <a:off x="888206" y="2426732"/>
            <a:ext cx="1209913" cy="277297"/>
          </a:xfrm>
          <a:prstGeom prst="rect">
            <a:avLst/>
          </a:prstGeom>
          <a:noFill/>
          <a:ln/>
        </p:spPr>
        <p:txBody>
          <a:bodyPr wrap="none" lIns="0" tIns="0" rIns="0" bIns="0" rtlCol="0" anchor="t"/>
          <a:lstStyle/>
          <a:p>
            <a:pPr marL="0" indent="0" algn="l">
              <a:lnSpc>
                <a:spcPts val="2150"/>
              </a:lnSpc>
              <a:buNone/>
            </a:pPr>
            <a:r>
              <a:rPr lang="en-US" sz="1350" b="1" dirty="0">
                <a:solidFill>
                  <a:srgbClr val="3B3535"/>
                </a:solidFill>
                <a:latin typeface="Times New Roman" panose="02020603050405020304" pitchFamily="18" charset="0"/>
                <a:ea typeface="Sora Light" pitchFamily="34" charset="-122"/>
                <a:cs typeface="Times New Roman" panose="02020603050405020304" pitchFamily="18" charset="0"/>
              </a:rPr>
              <a:t>ĐỊNH HƯỚNG</a:t>
            </a:r>
            <a:endParaRPr lang="en-US" sz="1350" b="1" dirty="0">
              <a:latin typeface="Times New Roman" panose="02020603050405020304" pitchFamily="18" charset="0"/>
              <a:cs typeface="Times New Roman" panose="02020603050405020304" pitchFamily="18" charset="0"/>
            </a:endParaRPr>
          </a:p>
        </p:txBody>
      </p:sp>
      <p:sp>
        <p:nvSpPr>
          <p:cNvPr id="4" name="Text 2"/>
          <p:cNvSpPr/>
          <p:nvPr/>
        </p:nvSpPr>
        <p:spPr>
          <a:xfrm>
            <a:off x="758309" y="2855476"/>
            <a:ext cx="7853839"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Mục Đích Buổi Thuyết Trình</a:t>
            </a:r>
            <a:endParaRPr lang="en-US" sz="4450" dirty="0">
              <a:latin typeface="Times New Roman" panose="02020603050405020304" pitchFamily="18" charset="0"/>
              <a:cs typeface="Times New Roman" panose="02020603050405020304" pitchFamily="18" charset="0"/>
            </a:endParaRPr>
          </a:p>
        </p:txBody>
      </p:sp>
      <p:sp>
        <p:nvSpPr>
          <p:cNvPr id="5" name="Shape 3"/>
          <p:cNvSpPr/>
          <p:nvPr/>
        </p:nvSpPr>
        <p:spPr>
          <a:xfrm>
            <a:off x="758309" y="3893106"/>
            <a:ext cx="6448544" cy="1974652"/>
          </a:xfrm>
          <a:prstGeom prst="roundRect">
            <a:avLst>
              <a:gd name="adj" fmla="val 4608"/>
            </a:avLst>
          </a:prstGeom>
          <a:solidFill>
            <a:srgbClr val="FFFF00"/>
          </a:solidFill>
          <a:ln w="7620">
            <a:solidFill>
              <a:srgbClr val="DFB8BC"/>
            </a:solidFill>
            <a:prstDash val="solid"/>
          </a:ln>
        </p:spPr>
      </p:sp>
      <p:sp>
        <p:nvSpPr>
          <p:cNvPr id="6" name="Text 4"/>
          <p:cNvSpPr/>
          <p:nvPr/>
        </p:nvSpPr>
        <p:spPr>
          <a:xfrm>
            <a:off x="982504" y="4117300"/>
            <a:ext cx="3849648" cy="356235"/>
          </a:xfrm>
          <a:prstGeom prst="rect">
            <a:avLst/>
          </a:prstGeom>
          <a:noFill/>
          <a:ln/>
        </p:spPr>
        <p:txBody>
          <a:bodyPr wrap="none" lIns="0" tIns="0" rIns="0" bIns="0" rtlCol="0" anchor="t"/>
          <a:lstStyle/>
          <a:p>
            <a:pPr marL="0" indent="0" algn="l">
              <a:lnSpc>
                <a:spcPts val="2800"/>
              </a:lnSpc>
              <a:buNone/>
            </a:pPr>
            <a:r>
              <a:rPr lang="en-US" sz="2200" dirty="0">
                <a:solidFill>
                  <a:srgbClr val="FF0000"/>
                </a:solidFill>
                <a:latin typeface="Times New Roman" panose="02020603050405020304" pitchFamily="18" charset="0"/>
                <a:ea typeface="Sora Semi Bold" pitchFamily="34" charset="-122"/>
                <a:cs typeface="Times New Roman" panose="02020603050405020304" pitchFamily="18" charset="0"/>
              </a:rPr>
              <a:t>Khẳng định vai trò lý tưởng</a:t>
            </a:r>
            <a:endParaRPr lang="en-US" sz="2200" dirty="0">
              <a:solidFill>
                <a:srgbClr val="FF0000"/>
              </a:solidFill>
              <a:latin typeface="Times New Roman" panose="02020603050405020304" pitchFamily="18" charset="0"/>
              <a:cs typeface="Times New Roman" panose="02020603050405020304" pitchFamily="18" charset="0"/>
            </a:endParaRPr>
          </a:p>
        </p:txBody>
      </p:sp>
      <p:sp>
        <p:nvSpPr>
          <p:cNvPr id="7" name="Text 5"/>
          <p:cNvSpPr/>
          <p:nvPr/>
        </p:nvSpPr>
        <p:spPr>
          <a:xfrm>
            <a:off x="982504" y="4603433"/>
            <a:ext cx="6000155"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Lý tưởng cách mạng là ngọn đuốc soi đường cho thế hệ trẻ vững bước trên con đường xây dựng và bảo vệ Tổ quốc</a:t>
            </a:r>
            <a:endParaRPr lang="en-US" sz="1700" dirty="0">
              <a:latin typeface="Times New Roman" panose="02020603050405020304" pitchFamily="18" charset="0"/>
              <a:cs typeface="Times New Roman" panose="02020603050405020304" pitchFamily="18" charset="0"/>
            </a:endParaRPr>
          </a:p>
        </p:txBody>
      </p:sp>
      <p:sp>
        <p:nvSpPr>
          <p:cNvPr id="8" name="Shape 6"/>
          <p:cNvSpPr/>
          <p:nvPr/>
        </p:nvSpPr>
        <p:spPr>
          <a:xfrm>
            <a:off x="7423428" y="3893106"/>
            <a:ext cx="6448663" cy="1974652"/>
          </a:xfrm>
          <a:prstGeom prst="roundRect">
            <a:avLst>
              <a:gd name="adj" fmla="val 4608"/>
            </a:avLst>
          </a:prstGeom>
          <a:solidFill>
            <a:srgbClr val="FFFF00"/>
          </a:solidFill>
          <a:ln w="7620">
            <a:solidFill>
              <a:srgbClr val="DFB8BC"/>
            </a:solidFill>
            <a:prstDash val="solid"/>
          </a:ln>
        </p:spPr>
      </p:sp>
      <p:sp>
        <p:nvSpPr>
          <p:cNvPr id="9" name="Text 7"/>
          <p:cNvSpPr/>
          <p:nvPr/>
        </p:nvSpPr>
        <p:spPr>
          <a:xfrm>
            <a:off x="7647623" y="4117300"/>
            <a:ext cx="4180642" cy="356235"/>
          </a:xfrm>
          <a:prstGeom prst="rect">
            <a:avLst/>
          </a:prstGeom>
          <a:noFill/>
          <a:ln/>
        </p:spPr>
        <p:txBody>
          <a:bodyPr wrap="none" lIns="0" tIns="0" rIns="0" bIns="0" rtlCol="0" anchor="t"/>
          <a:lstStyle/>
          <a:p>
            <a:pPr marL="0" indent="0" algn="l">
              <a:lnSpc>
                <a:spcPts val="2800"/>
              </a:lnSpc>
              <a:buNone/>
            </a:pPr>
            <a:r>
              <a:rPr lang="en-US" sz="2200" dirty="0">
                <a:solidFill>
                  <a:srgbClr val="FF0000"/>
                </a:solidFill>
                <a:latin typeface="Times New Roman" panose="02020603050405020304" pitchFamily="18" charset="0"/>
                <a:ea typeface="Sora Semi Bold" pitchFamily="34" charset="-122"/>
                <a:cs typeface="Times New Roman" panose="02020603050405020304" pitchFamily="18" charset="0"/>
              </a:rPr>
              <a:t>Kết nối tư tưởng Hồ Chí Minh</a:t>
            </a:r>
            <a:endParaRPr lang="en-US" sz="2200" dirty="0">
              <a:solidFill>
                <a:srgbClr val="FF0000"/>
              </a:solidFill>
              <a:latin typeface="Times New Roman" panose="02020603050405020304" pitchFamily="18" charset="0"/>
              <a:cs typeface="Times New Roman" panose="02020603050405020304" pitchFamily="18" charset="0"/>
            </a:endParaRPr>
          </a:p>
        </p:txBody>
      </p:sp>
      <p:sp>
        <p:nvSpPr>
          <p:cNvPr id="10" name="Text 8"/>
          <p:cNvSpPr/>
          <p:nvPr/>
        </p:nvSpPr>
        <p:spPr>
          <a:xfrm>
            <a:off x="7647623" y="4603433"/>
            <a:ext cx="6000274"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Vận dụng sáng tạo tư tưởng vĩ đại của Người vào nhịp sống hiện đại, đáp ứng yêu cầu của thời đại công nghệ số</a:t>
            </a:r>
            <a:endParaRPr lang="en-US" sz="1700"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DDED96AB-E860-6A5C-A8A8-270F1A8D1FF7}"/>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58309" y="2058710"/>
            <a:ext cx="7627382" cy="1425416"/>
          </a:xfrm>
          <a:prstGeom prst="rect">
            <a:avLst/>
          </a:prstGeom>
          <a:noFill/>
          <a:ln/>
        </p:spPr>
        <p:txBody>
          <a:bodyPr wrap="squar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Bác Hồ - Người Thầy Của Các Thế Hệ Thanh Niên</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1083231" y="4052768"/>
            <a:ext cx="7302460" cy="346710"/>
          </a:xfrm>
          <a:prstGeom prst="rect">
            <a:avLst/>
          </a:prstGeom>
          <a:noFill/>
          <a:ln/>
        </p:spPr>
        <p:txBody>
          <a:bodyPr wrap="none" lIns="0" tIns="0" rIns="0" bIns="0" rtlCol="0" anchor="t"/>
          <a:lstStyle/>
          <a:p>
            <a:pPr marL="0" indent="0" algn="l">
              <a:lnSpc>
                <a:spcPts val="2700"/>
              </a:lnSpc>
              <a:buNone/>
            </a:pPr>
            <a:r>
              <a:rPr lang="en-US" sz="1700" i="1" dirty="0">
                <a:solidFill>
                  <a:srgbClr val="3B3535"/>
                </a:solidFill>
                <a:latin typeface="Times New Roman" panose="02020603050405020304" pitchFamily="18" charset="0"/>
                <a:ea typeface="Sora Light" pitchFamily="34" charset="-122"/>
                <a:cs typeface="Times New Roman" panose="02020603050405020304" pitchFamily="18" charset="0"/>
              </a:rPr>
              <a:t>"Thanh niên là người chủ tương lai của nước nhà"</a:t>
            </a:r>
            <a:endParaRPr lang="en-US" sz="1700" dirty="0">
              <a:latin typeface="Times New Roman" panose="02020603050405020304" pitchFamily="18" charset="0"/>
              <a:cs typeface="Times New Roman" panose="02020603050405020304" pitchFamily="18" charset="0"/>
            </a:endParaRPr>
          </a:p>
        </p:txBody>
      </p:sp>
      <p:sp>
        <p:nvSpPr>
          <p:cNvPr id="5" name="Text 2"/>
          <p:cNvSpPr/>
          <p:nvPr/>
        </p:nvSpPr>
        <p:spPr>
          <a:xfrm>
            <a:off x="1083231" y="4643199"/>
            <a:ext cx="7302460"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 Chủ tịch Hồ Chí Minh</a:t>
            </a:r>
            <a:endParaRPr lang="en-US" sz="1700" dirty="0">
              <a:latin typeface="Times New Roman" panose="02020603050405020304" pitchFamily="18" charset="0"/>
              <a:cs typeface="Times New Roman" panose="02020603050405020304" pitchFamily="18" charset="0"/>
            </a:endParaRPr>
          </a:p>
        </p:txBody>
      </p:sp>
      <p:sp>
        <p:nvSpPr>
          <p:cNvPr id="6" name="Shape 3"/>
          <p:cNvSpPr/>
          <p:nvPr/>
        </p:nvSpPr>
        <p:spPr>
          <a:xfrm>
            <a:off x="758309" y="3809047"/>
            <a:ext cx="30480" cy="1424583"/>
          </a:xfrm>
          <a:prstGeom prst="rect">
            <a:avLst/>
          </a:prstGeom>
          <a:solidFill>
            <a:srgbClr val="DA1B2E"/>
          </a:solidFill>
          <a:ln/>
        </p:spPr>
      </p:sp>
      <p:sp>
        <p:nvSpPr>
          <p:cNvPr id="7" name="Text 4"/>
          <p:cNvSpPr/>
          <p:nvPr/>
        </p:nvSpPr>
        <p:spPr>
          <a:xfrm>
            <a:off x="758309" y="5477351"/>
            <a:ext cx="762738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Lời dạy thiêng liêng này của Bác luôn khẳng định niềm tin vào thế hệ trẻ - những người kế tục sự nghiệp cách mạng vẻ vang của dân tộc.</a:t>
            </a:r>
            <a:endParaRPr lang="en-US" sz="1700" dirty="0">
              <a:latin typeface="Times New Roman" panose="02020603050405020304" pitchFamily="18" charset="0"/>
              <a:cs typeface="Times New Roman" panose="02020603050405020304" pitchFamily="18" charset="0"/>
            </a:endParaRPr>
          </a:p>
        </p:txBody>
      </p:sp>
      <p:pic>
        <p:nvPicPr>
          <p:cNvPr id="2052" name="Picture 4" descr="50 năm Di chúc Bác Hồ: Xây dựng, chỉnh đốn Đảng theo lời dạy của Người -  Báo Quảng Bình điện tử">
            <a:extLst>
              <a:ext uri="{FF2B5EF4-FFF2-40B4-BE49-F238E27FC236}">
                <a16:creationId xmlns:a16="http://schemas.microsoft.com/office/drawing/2014/main" id="{EA423812-5912-6611-8055-04AD020622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0133" y="2484060"/>
            <a:ext cx="5443947" cy="348412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92D5615C-5680-5CCB-16E4-870AD870E2E9}"/>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58309" y="1428036"/>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Câu Hỏi Suy Ngẫm</a:t>
            </a:r>
            <a:endParaRPr lang="en-US" sz="4450" dirty="0">
              <a:latin typeface="Times New Roman" panose="02020603050405020304" pitchFamily="18" charset="0"/>
              <a:cs typeface="Times New Roman" panose="02020603050405020304" pitchFamily="18" charset="0"/>
            </a:endParaRPr>
          </a:p>
        </p:txBody>
      </p:sp>
      <p:sp>
        <p:nvSpPr>
          <p:cNvPr id="6" name="Shape 4"/>
          <p:cNvSpPr/>
          <p:nvPr/>
        </p:nvSpPr>
        <p:spPr>
          <a:xfrm>
            <a:off x="758309" y="3118990"/>
            <a:ext cx="487442" cy="487442"/>
          </a:xfrm>
          <a:prstGeom prst="roundRect">
            <a:avLst>
              <a:gd name="adj" fmla="val 18669"/>
            </a:avLst>
          </a:prstGeom>
          <a:solidFill>
            <a:srgbClr val="F9D2D6"/>
          </a:solidFill>
          <a:ln w="7620">
            <a:solidFill>
              <a:srgbClr val="DFB8BC"/>
            </a:solidFill>
            <a:prstDash val="solid"/>
          </a:ln>
        </p:spPr>
      </p:sp>
      <p:sp>
        <p:nvSpPr>
          <p:cNvPr id="7" name="Text 5"/>
          <p:cNvSpPr/>
          <p:nvPr/>
        </p:nvSpPr>
        <p:spPr>
          <a:xfrm>
            <a:off x="1462325" y="3193404"/>
            <a:ext cx="4626650"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Bạn đang theo đuổi mục tiêu gì?</a:t>
            </a:r>
            <a:endParaRPr lang="en-US" sz="2200" dirty="0">
              <a:latin typeface="Times New Roman" panose="02020603050405020304" pitchFamily="18" charset="0"/>
              <a:cs typeface="Times New Roman" panose="02020603050405020304" pitchFamily="18" charset="0"/>
            </a:endParaRPr>
          </a:p>
        </p:txBody>
      </p:sp>
      <p:sp>
        <p:nvSpPr>
          <p:cNvPr id="9" name="Shape 7"/>
          <p:cNvSpPr/>
          <p:nvPr/>
        </p:nvSpPr>
        <p:spPr>
          <a:xfrm>
            <a:off x="758309" y="4546192"/>
            <a:ext cx="487442" cy="487442"/>
          </a:xfrm>
          <a:prstGeom prst="roundRect">
            <a:avLst>
              <a:gd name="adj" fmla="val 18669"/>
            </a:avLst>
          </a:prstGeom>
          <a:solidFill>
            <a:srgbClr val="F9D2D6"/>
          </a:solidFill>
          <a:ln w="7620">
            <a:solidFill>
              <a:srgbClr val="DFB8BC"/>
            </a:solidFill>
            <a:prstDash val="solid"/>
          </a:ln>
        </p:spPr>
      </p:sp>
      <p:sp>
        <p:nvSpPr>
          <p:cNvPr id="10" name="Text 8"/>
          <p:cNvSpPr/>
          <p:nvPr/>
        </p:nvSpPr>
        <p:spPr>
          <a:xfrm>
            <a:off x="1462325" y="4620607"/>
            <a:ext cx="5401270"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Bạn muốn cống hiến gì cho đất nước?</a:t>
            </a:r>
            <a:endParaRPr lang="en-US" sz="2200" dirty="0">
              <a:latin typeface="Times New Roman" panose="02020603050405020304" pitchFamily="18" charset="0"/>
              <a:cs typeface="Times New Roman" panose="02020603050405020304" pitchFamily="18" charset="0"/>
            </a:endParaRPr>
          </a:p>
        </p:txBody>
      </p:sp>
      <p:sp>
        <p:nvSpPr>
          <p:cNvPr id="12" name="Shape 10"/>
          <p:cNvSpPr/>
          <p:nvPr/>
        </p:nvSpPr>
        <p:spPr>
          <a:xfrm>
            <a:off x="758309" y="5973395"/>
            <a:ext cx="487442" cy="487442"/>
          </a:xfrm>
          <a:prstGeom prst="roundRect">
            <a:avLst>
              <a:gd name="adj" fmla="val 18669"/>
            </a:avLst>
          </a:prstGeom>
          <a:solidFill>
            <a:srgbClr val="F9D2D6"/>
          </a:solidFill>
          <a:ln w="7620">
            <a:solidFill>
              <a:srgbClr val="DFB8BC"/>
            </a:solidFill>
            <a:prstDash val="solid"/>
          </a:ln>
        </p:spPr>
      </p:sp>
      <p:sp>
        <p:nvSpPr>
          <p:cNvPr id="13" name="Text 11"/>
          <p:cNvSpPr/>
          <p:nvPr/>
        </p:nvSpPr>
        <p:spPr>
          <a:xfrm>
            <a:off x="1462325" y="6047809"/>
            <a:ext cx="4741664"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Bạn sẵn sàng vượt qua khó khăn?</a:t>
            </a:r>
            <a:endParaRPr lang="en-US" sz="2200" dirty="0">
              <a:latin typeface="Times New Roman" panose="02020603050405020304" pitchFamily="18" charset="0"/>
              <a:cs typeface="Times New Roman" panose="02020603050405020304" pitchFamily="18" charset="0"/>
            </a:endParaRPr>
          </a:p>
        </p:txBody>
      </p:sp>
      <p:pic>
        <p:nvPicPr>
          <p:cNvPr id="3076" name="Picture 4" descr="Person Thinking Vector Art, Icons, and Graphics for Free ...">
            <a:extLst>
              <a:ext uri="{FF2B5EF4-FFF2-40B4-BE49-F238E27FC236}">
                <a16:creationId xmlns:a16="http://schemas.microsoft.com/office/drawing/2014/main" id="{C4221DB4-D1C0-5DE7-8D87-7587AF5DAB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3595" y="2639645"/>
            <a:ext cx="4100202" cy="4100202"/>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2DFBC139-F932-2D96-80C5-7DF9617BFEAB}"/>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1155" y="642461"/>
            <a:ext cx="6656427" cy="601861"/>
          </a:xfrm>
          <a:prstGeom prst="rect">
            <a:avLst/>
          </a:prstGeom>
          <a:noFill/>
          <a:ln/>
        </p:spPr>
        <p:txBody>
          <a:bodyPr wrap="none" lIns="0" tIns="0" rIns="0" bIns="0" rtlCol="0" anchor="t"/>
          <a:lstStyle/>
          <a:p>
            <a:pPr marL="0" indent="0" algn="l">
              <a:lnSpc>
                <a:spcPts val="4700"/>
              </a:lnSpc>
              <a:buNone/>
            </a:pPr>
            <a:r>
              <a:rPr lang="en-US" sz="3750" dirty="0">
                <a:solidFill>
                  <a:srgbClr val="1F1E1E"/>
                </a:solidFill>
                <a:latin typeface="Times New Roman" panose="02020603050405020304" pitchFamily="18" charset="0"/>
                <a:ea typeface="Sora Semi Bold" pitchFamily="34" charset="-122"/>
                <a:cs typeface="Times New Roman" panose="02020603050405020304" pitchFamily="18" charset="0"/>
              </a:rPr>
              <a:t>Tấm Gương Tự Học Của Bác</a:t>
            </a:r>
            <a:endParaRPr lang="en-US" sz="3750" dirty="0">
              <a:latin typeface="Times New Roman" panose="02020603050405020304" pitchFamily="18" charset="0"/>
              <a:cs typeface="Times New Roman" panose="02020603050405020304" pitchFamily="18" charset="0"/>
            </a:endParaRPr>
          </a:p>
        </p:txBody>
      </p:sp>
      <p:sp>
        <p:nvSpPr>
          <p:cNvPr id="3" name="Text 1"/>
          <p:cNvSpPr/>
          <p:nvPr/>
        </p:nvSpPr>
        <p:spPr>
          <a:xfrm>
            <a:off x="766957" y="1744290"/>
            <a:ext cx="4199898" cy="539829"/>
          </a:xfrm>
          <a:prstGeom prst="rect">
            <a:avLst/>
          </a:prstGeom>
          <a:noFill/>
          <a:ln/>
        </p:spPr>
        <p:txBody>
          <a:bodyPr wrap="square" lIns="0" tIns="0" rIns="0" bIns="0" rtlCol="0" anchor="t"/>
          <a:lstStyle/>
          <a:p>
            <a:pPr marL="0" indent="0">
              <a:lnSpc>
                <a:spcPts val="21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Chủ tịch Hồ Chí Minh - vị lãnh tụ vĩ đại của dân tộc Việt Nam - đã dành trọn 30 năm thanh xuân ra đi tìm đường cứu nước. Người tự học tiếng Pháp, tiếng Anh, tiếng Nga, tiếng Trung và nhiều thứ tiếng khác.</a:t>
            </a:r>
            <a:endParaRPr lang="en-US" sz="1400" dirty="0">
              <a:latin typeface="Times New Roman" panose="02020603050405020304" pitchFamily="18" charset="0"/>
              <a:cs typeface="Times New Roman" panose="02020603050405020304" pitchFamily="18" charset="0"/>
            </a:endParaRPr>
          </a:p>
        </p:txBody>
      </p:sp>
      <p:grpSp>
        <p:nvGrpSpPr>
          <p:cNvPr id="30" name="Group 29">
            <a:extLst>
              <a:ext uri="{FF2B5EF4-FFF2-40B4-BE49-F238E27FC236}">
                <a16:creationId xmlns:a16="http://schemas.microsoft.com/office/drawing/2014/main" id="{954A08AB-34C0-A50F-6FD7-8BFDBD016A37}"/>
              </a:ext>
            </a:extLst>
          </p:cNvPr>
          <p:cNvGrpSpPr/>
          <p:nvPr/>
        </p:nvGrpSpPr>
        <p:grpSpPr>
          <a:xfrm>
            <a:off x="3872605" y="2114277"/>
            <a:ext cx="13287971" cy="5320308"/>
            <a:chOff x="671155" y="2266831"/>
            <a:chExt cx="13287971" cy="5320308"/>
          </a:xfrm>
        </p:grpSpPr>
        <p:sp>
          <p:nvSpPr>
            <p:cNvPr id="4" name="Shape 2"/>
            <p:cNvSpPr/>
            <p:nvPr/>
          </p:nvSpPr>
          <p:spPr>
            <a:xfrm>
              <a:off x="7303651" y="2266831"/>
              <a:ext cx="22860" cy="5320308"/>
            </a:xfrm>
            <a:prstGeom prst="roundRect">
              <a:avLst>
                <a:gd name="adj" fmla="val 336132"/>
              </a:avLst>
            </a:prstGeom>
            <a:solidFill>
              <a:srgbClr val="DFB8BC"/>
            </a:solidFill>
            <a:ln/>
          </p:spPr>
        </p:sp>
        <p:sp>
          <p:nvSpPr>
            <p:cNvPr id="5" name="Shape 3"/>
            <p:cNvSpPr/>
            <p:nvPr/>
          </p:nvSpPr>
          <p:spPr>
            <a:xfrm>
              <a:off x="6583382" y="2461141"/>
              <a:ext cx="548759" cy="22860"/>
            </a:xfrm>
            <a:prstGeom prst="roundRect">
              <a:avLst>
                <a:gd name="adj" fmla="val 336132"/>
              </a:avLst>
            </a:prstGeom>
            <a:solidFill>
              <a:srgbClr val="DFB8BC"/>
            </a:solidFill>
            <a:ln/>
          </p:spPr>
        </p:sp>
        <p:sp>
          <p:nvSpPr>
            <p:cNvPr id="6" name="Shape 4"/>
            <p:cNvSpPr/>
            <p:nvPr/>
          </p:nvSpPr>
          <p:spPr>
            <a:xfrm>
              <a:off x="7109281" y="2266831"/>
              <a:ext cx="411599" cy="411599"/>
            </a:xfrm>
            <a:prstGeom prst="roundRect">
              <a:avLst>
                <a:gd name="adj" fmla="val 18669"/>
              </a:avLst>
            </a:prstGeom>
            <a:solidFill>
              <a:srgbClr val="FF0000"/>
            </a:solidFill>
            <a:ln w="7620">
              <a:solidFill>
                <a:srgbClr val="DFB8BC"/>
              </a:solidFill>
              <a:prstDash val="solid"/>
            </a:ln>
          </p:spPr>
        </p:sp>
        <p:sp>
          <p:nvSpPr>
            <p:cNvPr id="7" name="Text 5"/>
            <p:cNvSpPr/>
            <p:nvPr/>
          </p:nvSpPr>
          <p:spPr>
            <a:xfrm>
              <a:off x="7170599" y="2344027"/>
              <a:ext cx="288846" cy="360998"/>
            </a:xfrm>
            <a:prstGeom prst="rect">
              <a:avLst/>
            </a:prstGeom>
            <a:noFill/>
            <a:ln/>
          </p:spPr>
          <p:txBody>
            <a:bodyPr wrap="none" lIns="0" tIns="0" rIns="0" bIns="0" rtlCol="0" anchor="t"/>
            <a:lstStyle/>
            <a:p>
              <a:pPr marL="0" indent="0" algn="ctr">
                <a:lnSpc>
                  <a:spcPts val="2250"/>
                </a:lnSpc>
                <a:buNone/>
              </a:pPr>
              <a:r>
                <a:rPr lang="en-US" sz="2250" dirty="0">
                  <a:solidFill>
                    <a:srgbClr val="FFFF00"/>
                  </a:solidFill>
                  <a:latin typeface="Times New Roman" panose="02020603050405020304" pitchFamily="18" charset="0"/>
                  <a:ea typeface="Sora Semi Bold" pitchFamily="34" charset="-122"/>
                  <a:cs typeface="Times New Roman" panose="02020603050405020304" pitchFamily="18" charset="0"/>
                </a:rPr>
                <a:t>1</a:t>
              </a:r>
              <a:endParaRPr lang="en-US" sz="2250" dirty="0">
                <a:solidFill>
                  <a:srgbClr val="FFFF00"/>
                </a:solidFill>
                <a:latin typeface="Times New Roman" panose="02020603050405020304" pitchFamily="18" charset="0"/>
                <a:cs typeface="Times New Roman" panose="02020603050405020304" pitchFamily="18" charset="0"/>
              </a:endParaRPr>
            </a:p>
          </p:txBody>
        </p:sp>
        <p:sp>
          <p:nvSpPr>
            <p:cNvPr id="8" name="Text 6"/>
            <p:cNvSpPr/>
            <p:nvPr/>
          </p:nvSpPr>
          <p:spPr>
            <a:xfrm>
              <a:off x="3993118" y="2329696"/>
              <a:ext cx="2407206" cy="300871"/>
            </a:xfrm>
            <a:prstGeom prst="rect">
              <a:avLst/>
            </a:prstGeom>
            <a:noFill/>
            <a:ln/>
          </p:spPr>
          <p:txBody>
            <a:bodyPr wrap="none" lIns="0" tIns="0" rIns="0" bIns="0" rtlCol="0" anchor="t"/>
            <a:lstStyle/>
            <a:p>
              <a:pPr marL="0" indent="0" algn="r">
                <a:lnSpc>
                  <a:spcPts val="2350"/>
                </a:lnSpc>
                <a:buNone/>
              </a:pPr>
              <a:r>
                <a:rPr lang="en-US" sz="1850" dirty="0">
                  <a:solidFill>
                    <a:srgbClr val="3B3535"/>
                  </a:solidFill>
                  <a:latin typeface="Times New Roman" panose="02020603050405020304" pitchFamily="18" charset="0"/>
                  <a:ea typeface="Sora Semi Bold" pitchFamily="34" charset="-122"/>
                  <a:cs typeface="Times New Roman" panose="02020603050405020304" pitchFamily="18" charset="0"/>
                </a:rPr>
                <a:t>1911</a:t>
              </a:r>
              <a:endParaRPr lang="en-US" sz="1850" dirty="0">
                <a:latin typeface="Times New Roman" panose="02020603050405020304" pitchFamily="18" charset="0"/>
                <a:cs typeface="Times New Roman" panose="02020603050405020304" pitchFamily="18" charset="0"/>
              </a:endParaRPr>
            </a:p>
          </p:txBody>
        </p:sp>
        <p:sp>
          <p:nvSpPr>
            <p:cNvPr id="9" name="Text 7"/>
            <p:cNvSpPr/>
            <p:nvPr/>
          </p:nvSpPr>
          <p:spPr>
            <a:xfrm>
              <a:off x="671155" y="2723198"/>
              <a:ext cx="5729168" cy="269915"/>
            </a:xfrm>
            <a:prstGeom prst="rect">
              <a:avLst/>
            </a:prstGeom>
            <a:noFill/>
            <a:ln/>
          </p:spPr>
          <p:txBody>
            <a:bodyPr wrap="none" lIns="0" tIns="0" rIns="0" bIns="0" rtlCol="0" anchor="t"/>
            <a:lstStyle/>
            <a:p>
              <a:pPr marL="0" indent="0" algn="r">
                <a:lnSpc>
                  <a:spcPts val="21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Rời Tổ quốc tìm đường cứu nước</a:t>
              </a:r>
              <a:endParaRPr lang="en-US" sz="1400" dirty="0">
                <a:latin typeface="Times New Roman" panose="02020603050405020304" pitchFamily="18" charset="0"/>
                <a:cs typeface="Times New Roman" panose="02020603050405020304" pitchFamily="18" charset="0"/>
              </a:endParaRPr>
            </a:p>
          </p:txBody>
        </p:sp>
        <p:sp>
          <p:nvSpPr>
            <p:cNvPr id="10" name="Shape 8"/>
            <p:cNvSpPr/>
            <p:nvPr/>
          </p:nvSpPr>
          <p:spPr>
            <a:xfrm>
              <a:off x="7498020" y="3501866"/>
              <a:ext cx="548759" cy="22860"/>
            </a:xfrm>
            <a:prstGeom prst="roundRect">
              <a:avLst>
                <a:gd name="adj" fmla="val 336132"/>
              </a:avLst>
            </a:prstGeom>
            <a:solidFill>
              <a:srgbClr val="DFB8BC"/>
            </a:solidFill>
            <a:ln/>
          </p:spPr>
        </p:sp>
        <p:sp>
          <p:nvSpPr>
            <p:cNvPr id="11" name="Shape 9"/>
            <p:cNvSpPr/>
            <p:nvPr/>
          </p:nvSpPr>
          <p:spPr>
            <a:xfrm>
              <a:off x="7109281" y="3307556"/>
              <a:ext cx="411599" cy="411599"/>
            </a:xfrm>
            <a:prstGeom prst="roundRect">
              <a:avLst>
                <a:gd name="adj" fmla="val 18669"/>
              </a:avLst>
            </a:prstGeom>
            <a:solidFill>
              <a:srgbClr val="FF0000"/>
            </a:solidFill>
            <a:ln w="7620">
              <a:solidFill>
                <a:srgbClr val="DFB8BC"/>
              </a:solidFill>
              <a:prstDash val="solid"/>
            </a:ln>
          </p:spPr>
        </p:sp>
        <p:sp>
          <p:nvSpPr>
            <p:cNvPr id="12" name="Text 10"/>
            <p:cNvSpPr/>
            <p:nvPr/>
          </p:nvSpPr>
          <p:spPr>
            <a:xfrm>
              <a:off x="7170599" y="3384753"/>
              <a:ext cx="288846" cy="360998"/>
            </a:xfrm>
            <a:prstGeom prst="rect">
              <a:avLst/>
            </a:prstGeom>
            <a:noFill/>
            <a:ln/>
          </p:spPr>
          <p:txBody>
            <a:bodyPr wrap="none" lIns="0" tIns="0" rIns="0" bIns="0" rtlCol="0" anchor="t"/>
            <a:lstStyle/>
            <a:p>
              <a:pPr marL="0" indent="0" algn="ctr">
                <a:lnSpc>
                  <a:spcPts val="2250"/>
                </a:lnSpc>
                <a:buNone/>
              </a:pPr>
              <a:r>
                <a:rPr lang="en-US" sz="2250" dirty="0">
                  <a:solidFill>
                    <a:srgbClr val="FFFF00"/>
                  </a:solidFill>
                  <a:latin typeface="Times New Roman" panose="02020603050405020304" pitchFamily="18" charset="0"/>
                  <a:ea typeface="Sora Semi Bold" pitchFamily="34" charset="-122"/>
                  <a:cs typeface="Times New Roman" panose="02020603050405020304" pitchFamily="18" charset="0"/>
                </a:rPr>
                <a:t>2</a:t>
              </a:r>
              <a:endParaRPr lang="en-US" sz="2250" dirty="0">
                <a:solidFill>
                  <a:srgbClr val="FFFF00"/>
                </a:solidFill>
                <a:latin typeface="Times New Roman" panose="02020603050405020304" pitchFamily="18" charset="0"/>
                <a:cs typeface="Times New Roman" panose="02020603050405020304" pitchFamily="18" charset="0"/>
              </a:endParaRPr>
            </a:p>
          </p:txBody>
        </p:sp>
        <p:sp>
          <p:nvSpPr>
            <p:cNvPr id="13" name="Text 11"/>
            <p:cNvSpPr/>
            <p:nvPr/>
          </p:nvSpPr>
          <p:spPr>
            <a:xfrm>
              <a:off x="8229838" y="3370421"/>
              <a:ext cx="2407206" cy="300871"/>
            </a:xfrm>
            <a:prstGeom prst="rect">
              <a:avLst/>
            </a:prstGeom>
            <a:noFill/>
            <a:ln/>
          </p:spPr>
          <p:txBody>
            <a:bodyPr wrap="none" lIns="0" tIns="0" rIns="0" bIns="0" rtlCol="0" anchor="t"/>
            <a:lstStyle/>
            <a:p>
              <a:pPr marL="0" indent="0" algn="l">
                <a:lnSpc>
                  <a:spcPts val="2350"/>
                </a:lnSpc>
                <a:buNone/>
              </a:pPr>
              <a:r>
                <a:rPr lang="en-US" sz="1850" dirty="0">
                  <a:solidFill>
                    <a:srgbClr val="3B3535"/>
                  </a:solidFill>
                  <a:latin typeface="Times New Roman" panose="02020603050405020304" pitchFamily="18" charset="0"/>
                  <a:ea typeface="Sora Semi Bold" pitchFamily="34" charset="-122"/>
                  <a:cs typeface="Times New Roman" panose="02020603050405020304" pitchFamily="18" charset="0"/>
                </a:rPr>
                <a:t>1911-1917</a:t>
              </a:r>
              <a:endParaRPr lang="en-US" sz="1850" dirty="0">
                <a:latin typeface="Times New Roman" panose="02020603050405020304" pitchFamily="18" charset="0"/>
                <a:cs typeface="Times New Roman" panose="02020603050405020304" pitchFamily="18" charset="0"/>
              </a:endParaRPr>
            </a:p>
          </p:txBody>
        </p:sp>
        <p:sp>
          <p:nvSpPr>
            <p:cNvPr id="14" name="Text 12"/>
            <p:cNvSpPr/>
            <p:nvPr/>
          </p:nvSpPr>
          <p:spPr>
            <a:xfrm>
              <a:off x="8229838" y="3763923"/>
              <a:ext cx="5729288" cy="269915"/>
            </a:xfrm>
            <a:prstGeom prst="rect">
              <a:avLst/>
            </a:prstGeom>
            <a:noFill/>
            <a:ln/>
          </p:spPr>
          <p:txBody>
            <a:bodyPr wrap="none" lIns="0" tIns="0" rIns="0" bIns="0" rtlCol="0" anchor="t"/>
            <a:lstStyle/>
            <a:p>
              <a:pPr marL="0" indent="0" algn="l">
                <a:lnSpc>
                  <a:spcPts val="21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Tự học ngoại ngữ, tích lũy kiến thức</a:t>
              </a:r>
              <a:endParaRPr lang="en-US" sz="1400" dirty="0">
                <a:latin typeface="Times New Roman" panose="02020603050405020304" pitchFamily="18" charset="0"/>
                <a:cs typeface="Times New Roman" panose="02020603050405020304" pitchFamily="18" charset="0"/>
              </a:endParaRPr>
            </a:p>
          </p:txBody>
        </p:sp>
        <p:sp>
          <p:nvSpPr>
            <p:cNvPr id="15" name="Shape 13"/>
            <p:cNvSpPr/>
            <p:nvPr/>
          </p:nvSpPr>
          <p:spPr>
            <a:xfrm>
              <a:off x="6583382" y="4419481"/>
              <a:ext cx="548759" cy="22860"/>
            </a:xfrm>
            <a:prstGeom prst="roundRect">
              <a:avLst>
                <a:gd name="adj" fmla="val 336132"/>
              </a:avLst>
            </a:prstGeom>
            <a:solidFill>
              <a:srgbClr val="DFB8BC"/>
            </a:solidFill>
            <a:ln/>
          </p:spPr>
        </p:sp>
        <p:sp>
          <p:nvSpPr>
            <p:cNvPr id="16" name="Shape 14"/>
            <p:cNvSpPr/>
            <p:nvPr/>
          </p:nvSpPr>
          <p:spPr>
            <a:xfrm>
              <a:off x="7109281" y="4225171"/>
              <a:ext cx="411599" cy="411599"/>
            </a:xfrm>
            <a:prstGeom prst="roundRect">
              <a:avLst>
                <a:gd name="adj" fmla="val 18669"/>
              </a:avLst>
            </a:prstGeom>
            <a:solidFill>
              <a:srgbClr val="FF0000"/>
            </a:solidFill>
            <a:ln w="7620">
              <a:solidFill>
                <a:srgbClr val="DFB8BC"/>
              </a:solidFill>
              <a:prstDash val="solid"/>
            </a:ln>
          </p:spPr>
        </p:sp>
        <p:sp>
          <p:nvSpPr>
            <p:cNvPr id="17" name="Text 15"/>
            <p:cNvSpPr/>
            <p:nvPr/>
          </p:nvSpPr>
          <p:spPr>
            <a:xfrm>
              <a:off x="7170599" y="4302367"/>
              <a:ext cx="288846" cy="360998"/>
            </a:xfrm>
            <a:prstGeom prst="rect">
              <a:avLst/>
            </a:prstGeom>
            <a:noFill/>
            <a:ln/>
          </p:spPr>
          <p:txBody>
            <a:bodyPr wrap="none" lIns="0" tIns="0" rIns="0" bIns="0" rtlCol="0" anchor="t"/>
            <a:lstStyle/>
            <a:p>
              <a:pPr marL="0" indent="0" algn="ctr">
                <a:lnSpc>
                  <a:spcPts val="2250"/>
                </a:lnSpc>
                <a:buNone/>
              </a:pPr>
              <a:r>
                <a:rPr lang="en-US" sz="2250" dirty="0">
                  <a:solidFill>
                    <a:srgbClr val="FFFF00"/>
                  </a:solidFill>
                  <a:latin typeface="Times New Roman" panose="02020603050405020304" pitchFamily="18" charset="0"/>
                  <a:ea typeface="Sora Semi Bold" pitchFamily="34" charset="-122"/>
                  <a:cs typeface="Times New Roman" panose="02020603050405020304" pitchFamily="18" charset="0"/>
                </a:rPr>
                <a:t>3</a:t>
              </a:r>
              <a:endParaRPr lang="en-US" sz="2250" dirty="0">
                <a:solidFill>
                  <a:srgbClr val="FFFF00"/>
                </a:solidFill>
                <a:latin typeface="Times New Roman" panose="02020603050405020304" pitchFamily="18" charset="0"/>
                <a:cs typeface="Times New Roman" panose="02020603050405020304" pitchFamily="18" charset="0"/>
              </a:endParaRPr>
            </a:p>
          </p:txBody>
        </p:sp>
        <p:sp>
          <p:nvSpPr>
            <p:cNvPr id="18" name="Text 16"/>
            <p:cNvSpPr/>
            <p:nvPr/>
          </p:nvSpPr>
          <p:spPr>
            <a:xfrm>
              <a:off x="3993118" y="4288036"/>
              <a:ext cx="2407206" cy="300871"/>
            </a:xfrm>
            <a:prstGeom prst="rect">
              <a:avLst/>
            </a:prstGeom>
            <a:noFill/>
            <a:ln/>
          </p:spPr>
          <p:txBody>
            <a:bodyPr wrap="none" lIns="0" tIns="0" rIns="0" bIns="0" rtlCol="0" anchor="t"/>
            <a:lstStyle/>
            <a:p>
              <a:pPr marL="0" indent="0" algn="r">
                <a:lnSpc>
                  <a:spcPts val="2350"/>
                </a:lnSpc>
                <a:buNone/>
              </a:pPr>
              <a:r>
                <a:rPr lang="en-US" sz="1850" dirty="0">
                  <a:solidFill>
                    <a:srgbClr val="3B3535"/>
                  </a:solidFill>
                  <a:latin typeface="Times New Roman" panose="02020603050405020304" pitchFamily="18" charset="0"/>
                  <a:ea typeface="Sora Semi Bold" pitchFamily="34" charset="-122"/>
                  <a:cs typeface="Times New Roman" panose="02020603050405020304" pitchFamily="18" charset="0"/>
                </a:rPr>
                <a:t>1920</a:t>
              </a:r>
              <a:endParaRPr lang="en-US" sz="1850" dirty="0">
                <a:latin typeface="Times New Roman" panose="02020603050405020304" pitchFamily="18" charset="0"/>
                <a:cs typeface="Times New Roman" panose="02020603050405020304" pitchFamily="18" charset="0"/>
              </a:endParaRPr>
            </a:p>
          </p:txBody>
        </p:sp>
        <p:sp>
          <p:nvSpPr>
            <p:cNvPr id="19" name="Text 17"/>
            <p:cNvSpPr/>
            <p:nvPr/>
          </p:nvSpPr>
          <p:spPr>
            <a:xfrm>
              <a:off x="671155" y="4681538"/>
              <a:ext cx="5729168" cy="269915"/>
            </a:xfrm>
            <a:prstGeom prst="rect">
              <a:avLst/>
            </a:prstGeom>
            <a:noFill/>
            <a:ln/>
          </p:spPr>
          <p:txBody>
            <a:bodyPr wrap="none" lIns="0" tIns="0" rIns="0" bIns="0" rtlCol="0" anchor="t"/>
            <a:lstStyle/>
            <a:p>
              <a:pPr marL="0" indent="0" algn="r">
                <a:lnSpc>
                  <a:spcPts val="21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Tham gia sáng lập Đảng Cộng sản Pháp</a:t>
              </a:r>
              <a:endParaRPr lang="en-US" sz="1400" dirty="0">
                <a:latin typeface="Times New Roman" panose="02020603050405020304" pitchFamily="18" charset="0"/>
                <a:cs typeface="Times New Roman" panose="02020603050405020304" pitchFamily="18" charset="0"/>
              </a:endParaRPr>
            </a:p>
          </p:txBody>
        </p:sp>
        <p:sp>
          <p:nvSpPr>
            <p:cNvPr id="20" name="Shape 18"/>
            <p:cNvSpPr/>
            <p:nvPr/>
          </p:nvSpPr>
          <p:spPr>
            <a:xfrm>
              <a:off x="7498020" y="5337215"/>
              <a:ext cx="548759" cy="22860"/>
            </a:xfrm>
            <a:prstGeom prst="roundRect">
              <a:avLst>
                <a:gd name="adj" fmla="val 336132"/>
              </a:avLst>
            </a:prstGeom>
            <a:solidFill>
              <a:srgbClr val="DFB8BC"/>
            </a:solidFill>
            <a:ln/>
          </p:spPr>
        </p:sp>
        <p:sp>
          <p:nvSpPr>
            <p:cNvPr id="21" name="Shape 19"/>
            <p:cNvSpPr/>
            <p:nvPr/>
          </p:nvSpPr>
          <p:spPr>
            <a:xfrm>
              <a:off x="7109281" y="5142905"/>
              <a:ext cx="411599" cy="411599"/>
            </a:xfrm>
            <a:prstGeom prst="roundRect">
              <a:avLst>
                <a:gd name="adj" fmla="val 18669"/>
              </a:avLst>
            </a:prstGeom>
            <a:solidFill>
              <a:srgbClr val="FF0000"/>
            </a:solidFill>
            <a:ln w="7620">
              <a:solidFill>
                <a:srgbClr val="DFB8BC"/>
              </a:solidFill>
              <a:prstDash val="solid"/>
            </a:ln>
          </p:spPr>
        </p:sp>
        <p:sp>
          <p:nvSpPr>
            <p:cNvPr id="22" name="Text 20"/>
            <p:cNvSpPr/>
            <p:nvPr/>
          </p:nvSpPr>
          <p:spPr>
            <a:xfrm>
              <a:off x="7170599" y="5220101"/>
              <a:ext cx="288846" cy="360998"/>
            </a:xfrm>
            <a:prstGeom prst="rect">
              <a:avLst/>
            </a:prstGeom>
            <a:noFill/>
            <a:ln/>
          </p:spPr>
          <p:txBody>
            <a:bodyPr wrap="none" lIns="0" tIns="0" rIns="0" bIns="0" rtlCol="0" anchor="t"/>
            <a:lstStyle/>
            <a:p>
              <a:pPr marL="0" indent="0" algn="ctr">
                <a:lnSpc>
                  <a:spcPts val="2250"/>
                </a:lnSpc>
                <a:buNone/>
              </a:pPr>
              <a:r>
                <a:rPr lang="en-US" sz="2250" dirty="0">
                  <a:solidFill>
                    <a:srgbClr val="FFFF00"/>
                  </a:solidFill>
                  <a:latin typeface="Times New Roman" panose="02020603050405020304" pitchFamily="18" charset="0"/>
                  <a:ea typeface="Sora Semi Bold" pitchFamily="34" charset="-122"/>
                  <a:cs typeface="Times New Roman" panose="02020603050405020304" pitchFamily="18" charset="0"/>
                </a:rPr>
                <a:t>4</a:t>
              </a:r>
              <a:endParaRPr lang="en-US" sz="2250" dirty="0">
                <a:solidFill>
                  <a:srgbClr val="FFFF00"/>
                </a:solidFill>
                <a:latin typeface="Times New Roman" panose="02020603050405020304" pitchFamily="18" charset="0"/>
                <a:cs typeface="Times New Roman" panose="02020603050405020304" pitchFamily="18" charset="0"/>
              </a:endParaRPr>
            </a:p>
          </p:txBody>
        </p:sp>
        <p:sp>
          <p:nvSpPr>
            <p:cNvPr id="23" name="Text 21"/>
            <p:cNvSpPr/>
            <p:nvPr/>
          </p:nvSpPr>
          <p:spPr>
            <a:xfrm>
              <a:off x="8229838" y="5205770"/>
              <a:ext cx="2407206" cy="300871"/>
            </a:xfrm>
            <a:prstGeom prst="rect">
              <a:avLst/>
            </a:prstGeom>
            <a:noFill/>
            <a:ln/>
          </p:spPr>
          <p:txBody>
            <a:bodyPr wrap="none" lIns="0" tIns="0" rIns="0" bIns="0" rtlCol="0" anchor="t"/>
            <a:lstStyle/>
            <a:p>
              <a:pPr marL="0" indent="0" algn="l">
                <a:lnSpc>
                  <a:spcPts val="2350"/>
                </a:lnSpc>
                <a:buNone/>
              </a:pPr>
              <a:r>
                <a:rPr lang="en-US" sz="1850" dirty="0">
                  <a:solidFill>
                    <a:srgbClr val="3B3535"/>
                  </a:solidFill>
                  <a:latin typeface="Times New Roman" panose="02020603050405020304" pitchFamily="18" charset="0"/>
                  <a:ea typeface="Sora Semi Bold" pitchFamily="34" charset="-122"/>
                  <a:cs typeface="Times New Roman" panose="02020603050405020304" pitchFamily="18" charset="0"/>
                </a:rPr>
                <a:t>1930</a:t>
              </a:r>
              <a:endParaRPr lang="en-US" sz="1850" dirty="0">
                <a:latin typeface="Times New Roman" panose="02020603050405020304" pitchFamily="18" charset="0"/>
                <a:cs typeface="Times New Roman" panose="02020603050405020304" pitchFamily="18" charset="0"/>
              </a:endParaRPr>
            </a:p>
          </p:txBody>
        </p:sp>
        <p:sp>
          <p:nvSpPr>
            <p:cNvPr id="24" name="Text 22"/>
            <p:cNvSpPr/>
            <p:nvPr/>
          </p:nvSpPr>
          <p:spPr>
            <a:xfrm>
              <a:off x="8229838" y="5599271"/>
              <a:ext cx="5729288" cy="269915"/>
            </a:xfrm>
            <a:prstGeom prst="rect">
              <a:avLst/>
            </a:prstGeom>
            <a:noFill/>
            <a:ln/>
          </p:spPr>
          <p:txBody>
            <a:bodyPr wrap="none" lIns="0" tIns="0" rIns="0" bIns="0" rtlCol="0" anchor="t"/>
            <a:lstStyle/>
            <a:p>
              <a:pPr marL="0" indent="0" algn="l">
                <a:lnSpc>
                  <a:spcPts val="2100"/>
                </a:lnSpc>
                <a:buNone/>
              </a:pPr>
              <a:r>
                <a:rPr lang="en-US" sz="1400" dirty="0">
                  <a:solidFill>
                    <a:srgbClr val="3B3535"/>
                  </a:solidFill>
                  <a:latin typeface="Times New Roman" panose="02020603050405020304" pitchFamily="18" charset="0"/>
                  <a:ea typeface="Sora Light" pitchFamily="34" charset="-122"/>
                  <a:cs typeface="Times New Roman" panose="02020603050405020304" pitchFamily="18" charset="0"/>
                </a:rPr>
                <a:t>Sáng lập Đảng Cộng sản Việt Nam</a:t>
              </a:r>
              <a:endParaRPr lang="en-US" sz="1400" dirty="0">
                <a:latin typeface="Times New Roman" panose="02020603050405020304" pitchFamily="18" charset="0"/>
                <a:cs typeface="Times New Roman" panose="02020603050405020304" pitchFamily="18" charset="0"/>
              </a:endParaRPr>
            </a:p>
          </p:txBody>
        </p:sp>
        <p:sp>
          <p:nvSpPr>
            <p:cNvPr id="25" name="Shape 23"/>
            <p:cNvSpPr/>
            <p:nvPr/>
          </p:nvSpPr>
          <p:spPr>
            <a:xfrm>
              <a:off x="6583382" y="6254948"/>
              <a:ext cx="548759" cy="22860"/>
            </a:xfrm>
            <a:prstGeom prst="roundRect">
              <a:avLst>
                <a:gd name="adj" fmla="val 336132"/>
              </a:avLst>
            </a:prstGeom>
            <a:solidFill>
              <a:srgbClr val="DFB8BC"/>
            </a:solidFill>
            <a:ln/>
          </p:spPr>
        </p:sp>
        <p:sp>
          <p:nvSpPr>
            <p:cNvPr id="26" name="Shape 24"/>
            <p:cNvSpPr/>
            <p:nvPr/>
          </p:nvSpPr>
          <p:spPr>
            <a:xfrm>
              <a:off x="7109281" y="6060638"/>
              <a:ext cx="411599" cy="411599"/>
            </a:xfrm>
            <a:prstGeom prst="roundRect">
              <a:avLst>
                <a:gd name="adj" fmla="val 18669"/>
              </a:avLst>
            </a:prstGeom>
            <a:solidFill>
              <a:srgbClr val="FF0000"/>
            </a:solidFill>
            <a:ln w="7620">
              <a:solidFill>
                <a:srgbClr val="DFB8BC"/>
              </a:solidFill>
              <a:prstDash val="solid"/>
            </a:ln>
          </p:spPr>
        </p:sp>
        <p:sp>
          <p:nvSpPr>
            <p:cNvPr id="27" name="Text 25"/>
            <p:cNvSpPr/>
            <p:nvPr/>
          </p:nvSpPr>
          <p:spPr>
            <a:xfrm>
              <a:off x="7170599" y="6137835"/>
              <a:ext cx="288846" cy="360998"/>
            </a:xfrm>
            <a:prstGeom prst="rect">
              <a:avLst/>
            </a:prstGeom>
            <a:noFill/>
            <a:ln/>
          </p:spPr>
          <p:txBody>
            <a:bodyPr wrap="none" lIns="0" tIns="0" rIns="0" bIns="0" rtlCol="0" anchor="t"/>
            <a:lstStyle/>
            <a:p>
              <a:pPr marL="0" indent="0" algn="ctr">
                <a:lnSpc>
                  <a:spcPts val="2250"/>
                </a:lnSpc>
                <a:buNone/>
              </a:pPr>
              <a:r>
                <a:rPr lang="en-US" sz="2250" dirty="0">
                  <a:solidFill>
                    <a:srgbClr val="FFFF00"/>
                  </a:solidFill>
                  <a:latin typeface="Times New Roman" panose="02020603050405020304" pitchFamily="18" charset="0"/>
                  <a:ea typeface="Sora Semi Bold" pitchFamily="34" charset="-122"/>
                  <a:cs typeface="Times New Roman" panose="02020603050405020304" pitchFamily="18" charset="0"/>
                </a:rPr>
                <a:t>5</a:t>
              </a:r>
              <a:endParaRPr lang="en-US" sz="2250" dirty="0">
                <a:solidFill>
                  <a:srgbClr val="FFFF00"/>
                </a:solidFill>
                <a:latin typeface="Times New Roman" panose="02020603050405020304" pitchFamily="18" charset="0"/>
                <a:cs typeface="Times New Roman" panose="02020603050405020304" pitchFamily="18" charset="0"/>
              </a:endParaRPr>
            </a:p>
          </p:txBody>
        </p:sp>
        <p:sp>
          <p:nvSpPr>
            <p:cNvPr id="28" name="Text 26"/>
            <p:cNvSpPr/>
            <p:nvPr/>
          </p:nvSpPr>
          <p:spPr>
            <a:xfrm>
              <a:off x="3993118" y="6123503"/>
              <a:ext cx="2407206" cy="300871"/>
            </a:xfrm>
            <a:prstGeom prst="rect">
              <a:avLst/>
            </a:prstGeom>
            <a:noFill/>
            <a:ln/>
          </p:spPr>
          <p:txBody>
            <a:bodyPr wrap="none" lIns="0" tIns="0" rIns="0" bIns="0" rtlCol="0" anchor="t"/>
            <a:lstStyle/>
            <a:p>
              <a:pPr marL="0" indent="0" algn="r">
                <a:lnSpc>
                  <a:spcPts val="2350"/>
                </a:lnSpc>
                <a:buNone/>
              </a:pPr>
              <a:r>
                <a:rPr lang="en-US" sz="1850">
                  <a:solidFill>
                    <a:srgbClr val="3B3535"/>
                  </a:solidFill>
                  <a:latin typeface="Times New Roman" panose="02020603050405020304" pitchFamily="18" charset="0"/>
                  <a:ea typeface="Sora Semi Bold" pitchFamily="34" charset="-122"/>
                  <a:cs typeface="Times New Roman" panose="02020603050405020304" pitchFamily="18" charset="0"/>
                </a:rPr>
                <a:t>02/09/1945</a:t>
              </a:r>
              <a:endParaRPr lang="en-US" sz="1850" dirty="0">
                <a:latin typeface="Times New Roman" panose="02020603050405020304" pitchFamily="18" charset="0"/>
                <a:cs typeface="Times New Roman" panose="02020603050405020304" pitchFamily="18" charset="0"/>
              </a:endParaRPr>
            </a:p>
          </p:txBody>
        </p:sp>
        <p:sp>
          <p:nvSpPr>
            <p:cNvPr id="29" name="Text 27"/>
            <p:cNvSpPr/>
            <p:nvPr/>
          </p:nvSpPr>
          <p:spPr>
            <a:xfrm>
              <a:off x="671155" y="6517005"/>
              <a:ext cx="5729168" cy="269915"/>
            </a:xfrm>
            <a:prstGeom prst="rect">
              <a:avLst/>
            </a:prstGeom>
            <a:noFill/>
            <a:ln/>
          </p:spPr>
          <p:txBody>
            <a:bodyPr wrap="none" lIns="0" tIns="0" rIns="0" bIns="0" rtlCol="0" anchor="t"/>
            <a:lstStyle/>
            <a:p>
              <a:pPr algn="r">
                <a:lnSpc>
                  <a:spcPts val="2100"/>
                </a:lnSpc>
              </a:pPr>
              <a:r>
                <a:rPr lang="vi-VN" sz="1400">
                  <a:latin typeface="+mj-lt"/>
                </a:rPr>
                <a:t>Đọc bản Tuyên ngôn Độc lập tại quảng trường Ba Đình, </a:t>
              </a:r>
              <a:br>
                <a:rPr lang="en-US" sz="1400">
                  <a:latin typeface="+mj-lt"/>
                </a:rPr>
              </a:br>
              <a:r>
                <a:rPr lang="vi-VN" sz="1400">
                  <a:latin typeface="+mj-lt"/>
                </a:rPr>
                <a:t>khai sinh nước Việt Nam Dân chủ Cộng hòa.</a:t>
              </a:r>
              <a:endParaRPr lang="en-US" sz="1400" dirty="0">
                <a:latin typeface="+mj-lt"/>
                <a:cs typeface="Times New Roman" panose="02020603050405020304" pitchFamily="18" charset="0"/>
              </a:endParaRPr>
            </a:p>
          </p:txBody>
        </p:sp>
      </p:grpSp>
      <p:sp>
        <p:nvSpPr>
          <p:cNvPr id="34" name="Rectangle 33">
            <a:extLst>
              <a:ext uri="{FF2B5EF4-FFF2-40B4-BE49-F238E27FC236}">
                <a16:creationId xmlns:a16="http://schemas.microsoft.com/office/drawing/2014/main" id="{B0BD9E99-C1C4-2B16-61E2-619709452EE5}"/>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218" name="Picture 2" descr="Chủ tịch Hồ Chí Minh với tinh thần tự học-Nhân kỷ niệm 133 năm ngày sinh  Chủ tịch Hồ Chí Minh (19/5/1890 - 19/5/2023)">
            <a:extLst>
              <a:ext uri="{FF2B5EF4-FFF2-40B4-BE49-F238E27FC236}">
                <a16:creationId xmlns:a16="http://schemas.microsoft.com/office/drawing/2014/main" id="{F2D17466-96FC-3D88-990A-FF45597AF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6194" y="3171416"/>
            <a:ext cx="3709824" cy="26298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47499" y="483513"/>
            <a:ext cx="9041368" cy="576858"/>
          </a:xfrm>
          <a:prstGeom prst="rect">
            <a:avLst/>
          </a:prstGeom>
          <a:noFill/>
          <a:ln/>
        </p:spPr>
        <p:txBody>
          <a:bodyPr wrap="none" lIns="0" tIns="0" rIns="0" bIns="0" rtlCol="0" anchor="t"/>
          <a:lstStyle/>
          <a:p>
            <a:pPr marL="0" indent="0" algn="l">
              <a:lnSpc>
                <a:spcPts val="4500"/>
              </a:lnSpc>
              <a:buNone/>
            </a:pPr>
            <a:r>
              <a:rPr lang="en-US" sz="3600" dirty="0">
                <a:solidFill>
                  <a:srgbClr val="1F1E1E"/>
                </a:solidFill>
                <a:latin typeface="Times New Roman" panose="02020603050405020304" pitchFamily="18" charset="0"/>
                <a:ea typeface="Sora Semi Bold" pitchFamily="34" charset="-122"/>
                <a:cs typeface="Times New Roman" panose="02020603050405020304" pitchFamily="18" charset="0"/>
              </a:rPr>
              <a:t>Thanh Niên Và Trách Nhiệm Tự Học 4.0</a:t>
            </a:r>
            <a:endParaRPr lang="en-US" sz="36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947499" y="1432679"/>
            <a:ext cx="6153864" cy="6153864"/>
          </a:xfrm>
          <a:prstGeom prst="rect">
            <a:avLst/>
          </a:prstGeom>
        </p:spPr>
      </p:pic>
      <p:sp>
        <p:nvSpPr>
          <p:cNvPr id="4" name="Text 1"/>
          <p:cNvSpPr/>
          <p:nvPr/>
        </p:nvSpPr>
        <p:spPr>
          <a:xfrm>
            <a:off x="7536656" y="2142165"/>
            <a:ext cx="3220283" cy="345996"/>
          </a:xfrm>
          <a:prstGeom prst="rect">
            <a:avLst/>
          </a:prstGeom>
          <a:noFill/>
          <a:ln/>
        </p:spPr>
        <p:txBody>
          <a:bodyPr wrap="none" lIns="0" tIns="0" rIns="0" bIns="0" rtlCol="0" anchor="t"/>
          <a:lstStyle/>
          <a:p>
            <a:pPr marL="0" indent="0" algn="l">
              <a:lnSpc>
                <a:spcPts val="2700"/>
              </a:lnSpc>
              <a:buNone/>
            </a:pPr>
            <a:r>
              <a:rPr lang="en-US" sz="3600" dirty="0">
                <a:solidFill>
                  <a:srgbClr val="1F1E1E"/>
                </a:solidFill>
                <a:latin typeface="Times New Roman" panose="02020603050405020304" pitchFamily="18" charset="0"/>
                <a:ea typeface="Sora Semi Bold" pitchFamily="34" charset="-122"/>
                <a:cs typeface="Times New Roman" panose="02020603050405020304" pitchFamily="18" charset="0"/>
              </a:rPr>
              <a:t>Học tập không giới hạn</a:t>
            </a:r>
            <a:endParaRPr lang="en-US" sz="3600" dirty="0">
              <a:latin typeface="Times New Roman" panose="02020603050405020304" pitchFamily="18" charset="0"/>
              <a:cs typeface="Times New Roman" panose="02020603050405020304" pitchFamily="18" charset="0"/>
            </a:endParaRPr>
          </a:p>
        </p:txBody>
      </p:sp>
      <p:sp>
        <p:nvSpPr>
          <p:cNvPr id="5" name="Text 2"/>
          <p:cNvSpPr/>
          <p:nvPr/>
        </p:nvSpPr>
        <p:spPr>
          <a:xfrm>
            <a:off x="7529037" y="2878783"/>
            <a:ext cx="6153864" cy="507683"/>
          </a:xfrm>
          <a:prstGeom prst="rect">
            <a:avLst/>
          </a:prstGeom>
          <a:noFill/>
          <a:ln/>
        </p:spPr>
        <p:txBody>
          <a:bodyPr wrap="square" lIns="0" tIns="0" rIns="0" bIns="0" rtlCol="0" anchor="t"/>
          <a:lstStyle/>
          <a:p>
            <a:pPr marL="0" indent="0" algn="l">
              <a:lnSpc>
                <a:spcPts val="1950"/>
              </a:lnSpc>
              <a:buNone/>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Trong kỷ nguyên số, thanh niên Việt Nam cần phát huy tinh thần </a:t>
            </a:r>
            <a:r>
              <a:rPr lang="en-US">
                <a:solidFill>
                  <a:srgbClr val="3B3535"/>
                </a:solidFill>
                <a:latin typeface="Times New Roman" panose="02020603050405020304" pitchFamily="18" charset="0"/>
                <a:ea typeface="Sora Light" pitchFamily="34" charset="-122"/>
                <a:cs typeface="Times New Roman" panose="02020603050405020304" pitchFamily="18" charset="0"/>
              </a:rPr>
              <a:t>tự học, </a:t>
            </a: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không chỉ học ở trường lớp mà còn:</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7529037" y="3514100"/>
            <a:ext cx="6153864" cy="1268993"/>
          </a:xfrm>
          <a:prstGeom prst="rect">
            <a:avLst/>
          </a:prstGeom>
          <a:noFill/>
          <a:ln/>
        </p:spPr>
        <p:txBody>
          <a:bodyPr wrap="square" lIns="0" tIns="0" rIns="0" bIns="0" rtlCol="0" anchor="t"/>
          <a:lstStyle/>
          <a:p>
            <a:pPr marL="342900" indent="-342900" algn="l">
              <a:lnSpc>
                <a:spcPts val="1950"/>
              </a:lnSpc>
              <a:buSzPct val="100000"/>
              <a:buChar char="•"/>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Khai thác tri thức từ Internet và công nghệ số</a:t>
            </a:r>
            <a:endParaRPr lang="en-US"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Ứng dụng AI, công nghệ mới vào học tập</a:t>
            </a:r>
            <a:endParaRPr lang="en-US"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Học ngoại ngữ để hội nhập quốc tế</a:t>
            </a:r>
            <a:endParaRPr lang="en-US"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Cập nhật kiến thức liên tục, học suốt đời</a:t>
            </a:r>
            <a:endParaRPr lang="en-US"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Xây dựng kỹ năng tư duy sáng tạo</a:t>
            </a:r>
            <a:endParaRPr lang="en-US"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6E29D6B7-88C7-90BB-B09D-529B5A984852}"/>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758309" y="1177528"/>
            <a:ext cx="5772269"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Học Đi Đôi Với Hành</a:t>
            </a:r>
            <a:endParaRPr lang="en-US" sz="4450"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3"/>
          <a:stretch>
            <a:fillRect/>
          </a:stretch>
        </p:blipFill>
        <p:spPr>
          <a:xfrm>
            <a:off x="758309" y="2215158"/>
            <a:ext cx="1083231" cy="1299924"/>
          </a:xfrm>
          <a:prstGeom prst="rect">
            <a:avLst/>
          </a:prstGeom>
        </p:spPr>
      </p:pic>
      <p:sp>
        <p:nvSpPr>
          <p:cNvPr id="5" name="Text 1"/>
          <p:cNvSpPr/>
          <p:nvPr/>
        </p:nvSpPr>
        <p:spPr>
          <a:xfrm>
            <a:off x="2058114" y="2431733"/>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Học để biết</a:t>
            </a:r>
            <a:endParaRPr lang="en-US" sz="2200" dirty="0">
              <a:latin typeface="Times New Roman" panose="02020603050405020304" pitchFamily="18" charset="0"/>
              <a:cs typeface="Times New Roman" panose="02020603050405020304" pitchFamily="18" charset="0"/>
            </a:endParaRPr>
          </a:p>
        </p:txBody>
      </p:sp>
      <p:sp>
        <p:nvSpPr>
          <p:cNvPr id="6" name="Text 2"/>
          <p:cNvSpPr/>
          <p:nvPr/>
        </p:nvSpPr>
        <p:spPr>
          <a:xfrm>
            <a:off x="2058114" y="2917865"/>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Tích lũy kiến thức từ nhiều nguồn</a:t>
            </a:r>
            <a:endParaRPr lang="en-US" sz="1700" dirty="0">
              <a:latin typeface="Times New Roman" panose="02020603050405020304" pitchFamily="18" charset="0"/>
              <a:cs typeface="Times New Roman" panose="02020603050405020304" pitchFamily="18" charset="0"/>
            </a:endParaRPr>
          </a:p>
        </p:txBody>
      </p:sp>
      <p:pic>
        <p:nvPicPr>
          <p:cNvPr id="7" name="Image 2" descr="preencoded.png"/>
          <p:cNvPicPr>
            <a:picLocks noChangeAspect="1"/>
          </p:cNvPicPr>
          <p:nvPr/>
        </p:nvPicPr>
        <p:blipFill>
          <a:blip r:embed="rId4"/>
          <a:stretch>
            <a:fillRect/>
          </a:stretch>
        </p:blipFill>
        <p:spPr>
          <a:xfrm>
            <a:off x="758309" y="3515082"/>
            <a:ext cx="1083231" cy="1299924"/>
          </a:xfrm>
          <a:prstGeom prst="rect">
            <a:avLst/>
          </a:prstGeom>
        </p:spPr>
      </p:pic>
      <p:sp>
        <p:nvSpPr>
          <p:cNvPr id="8" name="Text 3"/>
          <p:cNvSpPr/>
          <p:nvPr/>
        </p:nvSpPr>
        <p:spPr>
          <a:xfrm>
            <a:off x="2058114" y="3731657"/>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Hành để hiểu</a:t>
            </a:r>
            <a:endParaRPr lang="en-US" sz="2200" dirty="0">
              <a:latin typeface="Times New Roman" panose="02020603050405020304" pitchFamily="18" charset="0"/>
              <a:cs typeface="Times New Roman" panose="02020603050405020304" pitchFamily="18" charset="0"/>
            </a:endParaRPr>
          </a:p>
        </p:txBody>
      </p:sp>
      <p:sp>
        <p:nvSpPr>
          <p:cNvPr id="9" name="Text 4"/>
          <p:cNvSpPr/>
          <p:nvPr/>
        </p:nvSpPr>
        <p:spPr>
          <a:xfrm>
            <a:off x="2058114" y="4217789"/>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Vận dụng vào thực tiễn cuộc sống</a:t>
            </a:r>
            <a:endParaRPr lang="en-US" sz="1700" dirty="0">
              <a:latin typeface="Times New Roman" panose="02020603050405020304" pitchFamily="18" charset="0"/>
              <a:cs typeface="Times New Roman" panose="02020603050405020304" pitchFamily="18" charset="0"/>
            </a:endParaRPr>
          </a:p>
        </p:txBody>
      </p:sp>
      <p:pic>
        <p:nvPicPr>
          <p:cNvPr id="10" name="Image 3" descr="preencoded.png"/>
          <p:cNvPicPr>
            <a:picLocks noChangeAspect="1"/>
          </p:cNvPicPr>
          <p:nvPr/>
        </p:nvPicPr>
        <p:blipFill>
          <a:blip r:embed="rId5"/>
          <a:stretch>
            <a:fillRect/>
          </a:stretch>
        </p:blipFill>
        <p:spPr>
          <a:xfrm>
            <a:off x="758309" y="4815007"/>
            <a:ext cx="1083231" cy="1299924"/>
          </a:xfrm>
          <a:prstGeom prst="rect">
            <a:avLst/>
          </a:prstGeom>
        </p:spPr>
      </p:pic>
      <p:sp>
        <p:nvSpPr>
          <p:cNvPr id="11" name="Text 5"/>
          <p:cNvSpPr/>
          <p:nvPr/>
        </p:nvSpPr>
        <p:spPr>
          <a:xfrm>
            <a:off x="2058114" y="5031581"/>
            <a:ext cx="2850713"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Hiểu để thành công</a:t>
            </a:r>
            <a:endParaRPr lang="en-US" sz="2200" dirty="0">
              <a:latin typeface="Times New Roman" panose="02020603050405020304" pitchFamily="18" charset="0"/>
              <a:cs typeface="Times New Roman" panose="02020603050405020304" pitchFamily="18" charset="0"/>
            </a:endParaRPr>
          </a:p>
        </p:txBody>
      </p:sp>
      <p:sp>
        <p:nvSpPr>
          <p:cNvPr id="12" name="Text 6"/>
          <p:cNvSpPr/>
          <p:nvPr/>
        </p:nvSpPr>
        <p:spPr>
          <a:xfrm>
            <a:off x="2058114" y="5517713"/>
            <a:ext cx="6327577"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Cống hiến cho đất nước, phục vụ nhân dân</a:t>
            </a:r>
            <a:endParaRPr lang="en-US" sz="1700" dirty="0">
              <a:latin typeface="Times New Roman" panose="02020603050405020304" pitchFamily="18" charset="0"/>
              <a:cs typeface="Times New Roman" panose="02020603050405020304" pitchFamily="18" charset="0"/>
            </a:endParaRPr>
          </a:p>
        </p:txBody>
      </p:sp>
      <p:sp>
        <p:nvSpPr>
          <p:cNvPr id="13" name="Text 7"/>
          <p:cNvSpPr/>
          <p:nvPr/>
        </p:nvSpPr>
        <p:spPr>
          <a:xfrm>
            <a:off x="758309" y="6358652"/>
            <a:ext cx="762738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Lý tưởng không nằm trên giấy tờ, lý tưởng được thể hiện qua hành động cụ thể, qua việc vận dụng kiến thức vào thực tiễn xây dựng đất nước.</a:t>
            </a:r>
            <a:endParaRPr lang="en-US" sz="1700" dirty="0">
              <a:latin typeface="Times New Roman" panose="02020603050405020304" pitchFamily="18" charset="0"/>
              <a:cs typeface="Times New Roman" panose="02020603050405020304" pitchFamily="18" charset="0"/>
            </a:endParaRPr>
          </a:p>
        </p:txBody>
      </p:sp>
      <p:pic>
        <p:nvPicPr>
          <p:cNvPr id="4098" name="Picture 2" descr="Dạy học thông qua hoạt động thực hành “Làm thiệp chúc Tết gửi cho người  thân”">
            <a:extLst>
              <a:ext uri="{FF2B5EF4-FFF2-40B4-BE49-F238E27FC236}">
                <a16:creationId xmlns:a16="http://schemas.microsoft.com/office/drawing/2014/main" id="{D0C6C7A8-2BDA-D8AE-1CA9-2845226066D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93634" y="1302577"/>
            <a:ext cx="4424416" cy="5749495"/>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a:extLst>
              <a:ext uri="{FF2B5EF4-FFF2-40B4-BE49-F238E27FC236}">
                <a16:creationId xmlns:a16="http://schemas.microsoft.com/office/drawing/2014/main" id="{B824DA92-1484-188A-54AB-100245E9CF85}"/>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A163E62-2E50-DC7E-E8B5-834C0EDAC3A5}"/>
              </a:ext>
            </a:extLst>
          </p:cNvPr>
          <p:cNvSpPr/>
          <p:nvPr/>
        </p:nvSpPr>
        <p:spPr>
          <a:xfrm>
            <a:off x="12864163" y="79196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71751" y="854154"/>
            <a:ext cx="10050542" cy="631388"/>
          </a:xfrm>
          <a:prstGeom prst="rect">
            <a:avLst/>
          </a:prstGeom>
          <a:noFill/>
          <a:ln/>
        </p:spPr>
        <p:txBody>
          <a:bodyPr wrap="none" lIns="0" tIns="0" rIns="0" bIns="0" rtlCol="0" anchor="t"/>
          <a:lstStyle/>
          <a:p>
            <a:pPr marL="0" indent="0" algn="l">
              <a:lnSpc>
                <a:spcPts val="4950"/>
              </a:lnSpc>
              <a:buNone/>
            </a:pPr>
            <a:r>
              <a:rPr lang="en-US" sz="3950" dirty="0">
                <a:solidFill>
                  <a:srgbClr val="1F1E1E"/>
                </a:solidFill>
                <a:latin typeface="Times New Roman" panose="02020603050405020304" pitchFamily="18" charset="0"/>
                <a:ea typeface="Sora Semi Bold" pitchFamily="34" charset="-122"/>
                <a:cs typeface="Times New Roman" panose="02020603050405020304" pitchFamily="18" charset="0"/>
              </a:rPr>
              <a:t>Vượt Qua "Vùng An Toàn" Của Bản Thân</a:t>
            </a:r>
            <a:endParaRPr lang="en-US" sz="3950" dirty="0">
              <a:latin typeface="Times New Roman" panose="02020603050405020304" pitchFamily="18" charset="0"/>
              <a:cs typeface="Times New Roman" panose="02020603050405020304" pitchFamily="18" charset="0"/>
            </a:endParaRPr>
          </a:p>
        </p:txBody>
      </p:sp>
      <p:sp>
        <p:nvSpPr>
          <p:cNvPr id="3" name="Text 1"/>
          <p:cNvSpPr/>
          <p:nvPr/>
        </p:nvSpPr>
        <p:spPr>
          <a:xfrm>
            <a:off x="671751" y="2168246"/>
            <a:ext cx="5292566" cy="378857"/>
          </a:xfrm>
          <a:prstGeom prst="rect">
            <a:avLst/>
          </a:prstGeom>
          <a:noFill/>
          <a:ln/>
        </p:spPr>
        <p:txBody>
          <a:bodyPr wrap="none" lIns="0" tIns="0" rIns="0" bIns="0" rtlCol="0" anchor="t"/>
          <a:lstStyle/>
          <a:p>
            <a:pPr marL="0" indent="0" algn="l">
              <a:lnSpc>
                <a:spcPts val="2950"/>
              </a:lnSpc>
              <a:buNone/>
            </a:pPr>
            <a:r>
              <a:rPr lang="en-US" sz="2350" b="1" dirty="0">
                <a:solidFill>
                  <a:srgbClr val="1F1E1E"/>
                </a:solidFill>
                <a:latin typeface="Times New Roman" panose="02020603050405020304" pitchFamily="18" charset="0"/>
                <a:ea typeface="Sora Semi Bold" pitchFamily="34" charset="-122"/>
                <a:cs typeface="Times New Roman" panose="02020603050405020304" pitchFamily="18" charset="0"/>
              </a:rPr>
              <a:t>Tinh thần bất khuất của thanh niên</a:t>
            </a:r>
            <a:endParaRPr lang="en-US" sz="2350" b="1" dirty="0">
              <a:latin typeface="Times New Roman" panose="02020603050405020304" pitchFamily="18" charset="0"/>
              <a:cs typeface="Times New Roman" panose="02020603050405020304" pitchFamily="18" charset="0"/>
            </a:endParaRPr>
          </a:p>
        </p:txBody>
      </p:sp>
      <p:sp>
        <p:nvSpPr>
          <p:cNvPr id="5" name="Shape 3"/>
          <p:cNvSpPr/>
          <p:nvPr/>
        </p:nvSpPr>
        <p:spPr>
          <a:xfrm>
            <a:off x="671751" y="3229808"/>
            <a:ext cx="7784783" cy="1204793"/>
          </a:xfrm>
          <a:prstGeom prst="roundRect">
            <a:avLst>
              <a:gd name="adj" fmla="val 9108"/>
            </a:avLst>
          </a:prstGeom>
          <a:solidFill>
            <a:srgbClr val="FFFF00"/>
          </a:solidFill>
          <a:ln w="22860">
            <a:solidFill>
              <a:srgbClr val="DFB8BC"/>
            </a:solidFill>
            <a:prstDash val="solid"/>
          </a:ln>
        </p:spPr>
        <p:txBody>
          <a:bodyPr/>
          <a:lstStyle/>
          <a:p>
            <a:endParaRPr lang="en-US"/>
          </a:p>
        </p:txBody>
      </p:sp>
      <p:sp>
        <p:nvSpPr>
          <p:cNvPr id="6" name="Shape 4"/>
          <p:cNvSpPr/>
          <p:nvPr/>
        </p:nvSpPr>
        <p:spPr>
          <a:xfrm>
            <a:off x="648891" y="3229808"/>
            <a:ext cx="91440" cy="1204793"/>
          </a:xfrm>
          <a:prstGeom prst="roundRect">
            <a:avLst>
              <a:gd name="adj" fmla="val 88169"/>
            </a:avLst>
          </a:prstGeom>
          <a:solidFill>
            <a:srgbClr val="DA1B2E"/>
          </a:solidFill>
          <a:ln/>
        </p:spPr>
      </p:sp>
      <p:sp>
        <p:nvSpPr>
          <p:cNvPr id="7" name="Text 5"/>
          <p:cNvSpPr/>
          <p:nvPr/>
        </p:nvSpPr>
        <p:spPr>
          <a:xfrm>
            <a:off x="955119" y="3444597"/>
            <a:ext cx="3309461" cy="315635"/>
          </a:xfrm>
          <a:prstGeom prst="rect">
            <a:avLst/>
          </a:prstGeom>
          <a:noFill/>
          <a:ln/>
        </p:spPr>
        <p:txBody>
          <a:bodyPr wrap="none" lIns="0" tIns="0" rIns="0" bIns="0" rtlCol="0" anchor="t"/>
          <a:lstStyle/>
          <a:p>
            <a:pPr marL="0" indent="0" algn="l">
              <a:lnSpc>
                <a:spcPts val="2450"/>
              </a:lnSpc>
              <a:buNone/>
            </a:pPr>
            <a:r>
              <a:rPr lang="en-US" sz="1950" b="1" dirty="0">
                <a:solidFill>
                  <a:srgbClr val="3B3535"/>
                </a:solidFill>
                <a:latin typeface="Times New Roman" panose="02020603050405020304" pitchFamily="18" charset="0"/>
                <a:ea typeface="Sora Semi Bold" pitchFamily="34" charset="-122"/>
                <a:cs typeface="Times New Roman" panose="02020603050405020304" pitchFamily="18" charset="0"/>
              </a:rPr>
              <a:t>Dám đương đầu thử thách</a:t>
            </a:r>
            <a:endParaRPr lang="en-US" sz="1950" b="1" dirty="0">
              <a:latin typeface="Times New Roman" panose="02020603050405020304" pitchFamily="18" charset="0"/>
              <a:cs typeface="Times New Roman" panose="02020603050405020304" pitchFamily="18" charset="0"/>
            </a:endParaRPr>
          </a:p>
        </p:txBody>
      </p:sp>
      <p:sp>
        <p:nvSpPr>
          <p:cNvPr id="8" name="Text 6"/>
          <p:cNvSpPr/>
          <p:nvPr/>
        </p:nvSpPr>
        <p:spPr>
          <a:xfrm>
            <a:off x="955119" y="3930253"/>
            <a:ext cx="7286625" cy="289560"/>
          </a:xfrm>
          <a:prstGeom prst="rect">
            <a:avLst/>
          </a:prstGeom>
          <a:noFill/>
          <a:ln/>
        </p:spPr>
        <p:txBody>
          <a:bodyPr wrap="none" lIns="0" tIns="0" rIns="0" bIns="0" rtlCol="0" anchor="t"/>
          <a:lstStyle/>
          <a:p>
            <a:pPr marL="0" indent="0" algn="l">
              <a:lnSpc>
                <a:spcPts val="2250"/>
              </a:lnSpc>
              <a:buNone/>
            </a:pPr>
            <a:r>
              <a:rPr lang="en-US" sz="1500" dirty="0">
                <a:solidFill>
                  <a:srgbClr val="3B3535"/>
                </a:solidFill>
                <a:latin typeface="Times New Roman" panose="02020603050405020304" pitchFamily="18" charset="0"/>
                <a:ea typeface="Sora Light" pitchFamily="34" charset="-122"/>
                <a:cs typeface="Times New Roman" panose="02020603050405020304" pitchFamily="18" charset="0"/>
              </a:rPr>
              <a:t>Sẵn sàng tiếp nhận những điều mới mẻ, những lĩnh vực chưa từng khám phá</a:t>
            </a:r>
            <a:endParaRPr lang="en-US" sz="1500" dirty="0">
              <a:latin typeface="Times New Roman" panose="02020603050405020304" pitchFamily="18" charset="0"/>
              <a:cs typeface="Times New Roman" panose="02020603050405020304" pitchFamily="18" charset="0"/>
            </a:endParaRPr>
          </a:p>
        </p:txBody>
      </p:sp>
      <p:sp>
        <p:nvSpPr>
          <p:cNvPr id="9" name="Shape 7"/>
          <p:cNvSpPr/>
          <p:nvPr/>
        </p:nvSpPr>
        <p:spPr>
          <a:xfrm>
            <a:off x="671751" y="4604623"/>
            <a:ext cx="7784783" cy="1204793"/>
          </a:xfrm>
          <a:prstGeom prst="roundRect">
            <a:avLst>
              <a:gd name="adj" fmla="val 9108"/>
            </a:avLst>
          </a:prstGeom>
          <a:solidFill>
            <a:srgbClr val="FFFF00"/>
          </a:solidFill>
          <a:ln w="22860">
            <a:solidFill>
              <a:srgbClr val="DFB8BC"/>
            </a:solidFill>
            <a:prstDash val="solid"/>
          </a:ln>
        </p:spPr>
      </p:sp>
      <p:sp>
        <p:nvSpPr>
          <p:cNvPr id="10" name="Shape 8"/>
          <p:cNvSpPr/>
          <p:nvPr/>
        </p:nvSpPr>
        <p:spPr>
          <a:xfrm>
            <a:off x="648891" y="4604623"/>
            <a:ext cx="91440" cy="1204793"/>
          </a:xfrm>
          <a:prstGeom prst="roundRect">
            <a:avLst>
              <a:gd name="adj" fmla="val 88169"/>
            </a:avLst>
          </a:prstGeom>
          <a:solidFill>
            <a:srgbClr val="DA1B2E"/>
          </a:solidFill>
          <a:ln/>
        </p:spPr>
      </p:sp>
      <p:sp>
        <p:nvSpPr>
          <p:cNvPr id="11" name="Text 9"/>
          <p:cNvSpPr/>
          <p:nvPr/>
        </p:nvSpPr>
        <p:spPr>
          <a:xfrm>
            <a:off x="955119" y="4819412"/>
            <a:ext cx="2698552" cy="315635"/>
          </a:xfrm>
          <a:prstGeom prst="rect">
            <a:avLst/>
          </a:prstGeom>
          <a:noFill/>
          <a:ln/>
        </p:spPr>
        <p:txBody>
          <a:bodyPr wrap="none" lIns="0" tIns="0" rIns="0" bIns="0" rtlCol="0" anchor="t"/>
          <a:lstStyle/>
          <a:p>
            <a:pPr marL="0" indent="0" algn="l">
              <a:lnSpc>
                <a:spcPts val="2450"/>
              </a:lnSpc>
              <a:buNone/>
            </a:pPr>
            <a:r>
              <a:rPr lang="en-US" sz="1950" b="1" dirty="0">
                <a:solidFill>
                  <a:srgbClr val="3B3535"/>
                </a:solidFill>
                <a:latin typeface="Times New Roman" panose="02020603050405020304" pitchFamily="18" charset="0"/>
                <a:ea typeface="Sora Semi Bold" pitchFamily="34" charset="-122"/>
                <a:cs typeface="Times New Roman" panose="02020603050405020304" pitchFamily="18" charset="0"/>
              </a:rPr>
              <a:t>Không ngại khó khăn</a:t>
            </a:r>
            <a:endParaRPr lang="en-US" sz="1950" b="1" dirty="0">
              <a:latin typeface="Times New Roman" panose="02020603050405020304" pitchFamily="18" charset="0"/>
              <a:cs typeface="Times New Roman" panose="02020603050405020304" pitchFamily="18" charset="0"/>
            </a:endParaRPr>
          </a:p>
        </p:txBody>
      </p:sp>
      <p:sp>
        <p:nvSpPr>
          <p:cNvPr id="12" name="Text 10"/>
          <p:cNvSpPr/>
          <p:nvPr/>
        </p:nvSpPr>
        <p:spPr>
          <a:xfrm>
            <a:off x="955119" y="5305068"/>
            <a:ext cx="7286625" cy="289560"/>
          </a:xfrm>
          <a:prstGeom prst="rect">
            <a:avLst/>
          </a:prstGeom>
          <a:noFill/>
          <a:ln/>
        </p:spPr>
        <p:txBody>
          <a:bodyPr wrap="none" lIns="0" tIns="0" rIns="0" bIns="0" rtlCol="0" anchor="t"/>
          <a:lstStyle/>
          <a:p>
            <a:pPr marL="0" indent="0" algn="l">
              <a:lnSpc>
                <a:spcPts val="2250"/>
              </a:lnSpc>
              <a:buNone/>
            </a:pPr>
            <a:r>
              <a:rPr lang="en-US" sz="1500" dirty="0">
                <a:solidFill>
                  <a:srgbClr val="3B3535"/>
                </a:solidFill>
                <a:latin typeface="Times New Roman" panose="02020603050405020304" pitchFamily="18" charset="0"/>
                <a:ea typeface="Sora Light" pitchFamily="34" charset="-122"/>
                <a:cs typeface="Times New Roman" panose="02020603050405020304" pitchFamily="18" charset="0"/>
              </a:rPr>
              <a:t>Kiên trì vượt qua trở ngại trong học tập và nghiên cứu khoa học</a:t>
            </a:r>
            <a:endParaRPr lang="en-US" sz="1500" dirty="0">
              <a:latin typeface="Times New Roman" panose="02020603050405020304" pitchFamily="18" charset="0"/>
              <a:cs typeface="Times New Roman" panose="02020603050405020304" pitchFamily="18" charset="0"/>
            </a:endParaRPr>
          </a:p>
        </p:txBody>
      </p:sp>
      <p:sp>
        <p:nvSpPr>
          <p:cNvPr id="13" name="Shape 11"/>
          <p:cNvSpPr/>
          <p:nvPr/>
        </p:nvSpPr>
        <p:spPr>
          <a:xfrm>
            <a:off x="671751" y="5979438"/>
            <a:ext cx="7784783" cy="1204793"/>
          </a:xfrm>
          <a:prstGeom prst="roundRect">
            <a:avLst>
              <a:gd name="adj" fmla="val 9108"/>
            </a:avLst>
          </a:prstGeom>
          <a:solidFill>
            <a:srgbClr val="FFFF00"/>
          </a:solidFill>
          <a:ln w="22860">
            <a:solidFill>
              <a:srgbClr val="DFB8BC"/>
            </a:solidFill>
            <a:prstDash val="solid"/>
          </a:ln>
        </p:spPr>
      </p:sp>
      <p:sp>
        <p:nvSpPr>
          <p:cNvPr id="14" name="Shape 12"/>
          <p:cNvSpPr/>
          <p:nvPr/>
        </p:nvSpPr>
        <p:spPr>
          <a:xfrm>
            <a:off x="648891" y="5979438"/>
            <a:ext cx="91440" cy="1204793"/>
          </a:xfrm>
          <a:prstGeom prst="roundRect">
            <a:avLst>
              <a:gd name="adj" fmla="val 88169"/>
            </a:avLst>
          </a:prstGeom>
          <a:solidFill>
            <a:srgbClr val="DA1B2E"/>
          </a:solidFill>
          <a:ln/>
        </p:spPr>
      </p:sp>
      <p:sp>
        <p:nvSpPr>
          <p:cNvPr id="15" name="Text 13"/>
          <p:cNvSpPr/>
          <p:nvPr/>
        </p:nvSpPr>
        <p:spPr>
          <a:xfrm>
            <a:off x="955119" y="6194227"/>
            <a:ext cx="2525673" cy="315635"/>
          </a:xfrm>
          <a:prstGeom prst="rect">
            <a:avLst/>
          </a:prstGeom>
          <a:noFill/>
          <a:ln/>
        </p:spPr>
        <p:txBody>
          <a:bodyPr wrap="none" lIns="0" tIns="0" rIns="0" bIns="0" rtlCol="0" anchor="t"/>
          <a:lstStyle/>
          <a:p>
            <a:pPr marL="0" indent="0" algn="l">
              <a:lnSpc>
                <a:spcPts val="2450"/>
              </a:lnSpc>
              <a:buNone/>
            </a:pPr>
            <a:r>
              <a:rPr lang="en-US" sz="1950" b="1" dirty="0">
                <a:solidFill>
                  <a:srgbClr val="3B3535"/>
                </a:solidFill>
                <a:latin typeface="Times New Roman" panose="02020603050405020304" pitchFamily="18" charset="0"/>
                <a:ea typeface="Sora Semi Bold" pitchFamily="34" charset="-122"/>
                <a:cs typeface="Times New Roman" panose="02020603050405020304" pitchFamily="18" charset="0"/>
              </a:rPr>
              <a:t>Tinh thần đột phá</a:t>
            </a:r>
            <a:endParaRPr lang="en-US" sz="1950" b="1" dirty="0">
              <a:latin typeface="Times New Roman" panose="02020603050405020304" pitchFamily="18" charset="0"/>
              <a:cs typeface="Times New Roman" panose="02020603050405020304" pitchFamily="18" charset="0"/>
            </a:endParaRPr>
          </a:p>
        </p:txBody>
      </p:sp>
      <p:sp>
        <p:nvSpPr>
          <p:cNvPr id="16" name="Text 14"/>
          <p:cNvSpPr/>
          <p:nvPr/>
        </p:nvSpPr>
        <p:spPr>
          <a:xfrm>
            <a:off x="955119" y="6679883"/>
            <a:ext cx="7286625" cy="289560"/>
          </a:xfrm>
          <a:prstGeom prst="rect">
            <a:avLst/>
          </a:prstGeom>
          <a:noFill/>
          <a:ln/>
        </p:spPr>
        <p:txBody>
          <a:bodyPr wrap="none" lIns="0" tIns="0" rIns="0" bIns="0" rtlCol="0" anchor="t"/>
          <a:lstStyle/>
          <a:p>
            <a:pPr marL="0" indent="0" algn="l">
              <a:lnSpc>
                <a:spcPts val="2250"/>
              </a:lnSpc>
              <a:buNone/>
            </a:pPr>
            <a:r>
              <a:rPr lang="en-US" sz="1500" dirty="0">
                <a:solidFill>
                  <a:srgbClr val="3B3535"/>
                </a:solidFill>
                <a:latin typeface="Times New Roman" panose="02020603050405020304" pitchFamily="18" charset="0"/>
                <a:ea typeface="Sora Light" pitchFamily="34" charset="-122"/>
                <a:cs typeface="Times New Roman" panose="02020603050405020304" pitchFamily="18" charset="0"/>
              </a:rPr>
              <a:t>Thoát khỏi khuôn mẫu cũ để sáng tạo, đổi mới phục vụ đất nước</a:t>
            </a:r>
            <a:endParaRPr lang="en-US" sz="1500" dirty="0">
              <a:latin typeface="Times New Roman" panose="02020603050405020304" pitchFamily="18" charset="0"/>
              <a:cs typeface="Times New Roman" panose="02020603050405020304" pitchFamily="18" charset="0"/>
            </a:endParaRPr>
          </a:p>
        </p:txBody>
      </p:sp>
      <p:pic>
        <p:nvPicPr>
          <p:cNvPr id="17" name="Image 0" descr="preencoded.png"/>
          <p:cNvPicPr>
            <a:picLocks noChangeAspect="1"/>
          </p:cNvPicPr>
          <p:nvPr/>
        </p:nvPicPr>
        <p:blipFill>
          <a:blip r:embed="rId3"/>
          <a:stretch>
            <a:fillRect/>
          </a:stretch>
        </p:blipFill>
        <p:spPr>
          <a:xfrm>
            <a:off x="8932307" y="1931789"/>
            <a:ext cx="5033843" cy="5033843"/>
          </a:xfrm>
          <a:prstGeom prst="rect">
            <a:avLst/>
          </a:prstGeom>
        </p:spPr>
      </p:pic>
      <p:sp>
        <p:nvSpPr>
          <p:cNvPr id="18" name="Rectangle 17">
            <a:extLst>
              <a:ext uri="{FF2B5EF4-FFF2-40B4-BE49-F238E27FC236}">
                <a16:creationId xmlns:a16="http://schemas.microsoft.com/office/drawing/2014/main" id="{4AE929C6-1A4A-729E-871E-0E77E6B016F9}"/>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58309" y="1062395"/>
            <a:ext cx="11530370"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Tinh Thần Trách Nhiệm Trong Công Việc</a:t>
            </a:r>
            <a:endParaRPr lang="en-US" sz="4450" dirty="0">
              <a:latin typeface="Times New Roman" panose="02020603050405020304" pitchFamily="18" charset="0"/>
              <a:cs typeface="Times New Roman" panose="02020603050405020304" pitchFamily="18" charset="0"/>
            </a:endParaRPr>
          </a:p>
        </p:txBody>
      </p:sp>
      <p:sp>
        <p:nvSpPr>
          <p:cNvPr id="3" name="Text 1"/>
          <p:cNvSpPr/>
          <p:nvPr/>
        </p:nvSpPr>
        <p:spPr>
          <a:xfrm>
            <a:off x="1083231" y="2452092"/>
            <a:ext cx="12788860" cy="346710"/>
          </a:xfrm>
          <a:prstGeom prst="rect">
            <a:avLst/>
          </a:prstGeom>
          <a:noFill/>
          <a:ln/>
        </p:spPr>
        <p:txBody>
          <a:bodyPr wrap="none" lIns="0" tIns="0" rIns="0" bIns="0" rtlCol="0" anchor="t"/>
          <a:lstStyle/>
          <a:p>
            <a:pPr marL="0" indent="0" algn="l">
              <a:lnSpc>
                <a:spcPts val="2700"/>
              </a:lnSpc>
              <a:buNone/>
            </a:pPr>
            <a:r>
              <a:rPr lang="en-US" sz="1700" i="1" dirty="0">
                <a:solidFill>
                  <a:srgbClr val="3B3535"/>
                </a:solidFill>
                <a:latin typeface="Times New Roman" panose="02020603050405020304" pitchFamily="18" charset="0"/>
                <a:ea typeface="Sora Light" pitchFamily="34" charset="-122"/>
                <a:cs typeface="Times New Roman" panose="02020603050405020304" pitchFamily="18" charset="0"/>
              </a:rPr>
              <a:t>"Đâu cần thanh niên có, việc gì khó có thanh niên"</a:t>
            </a:r>
            <a:endParaRPr lang="en-US" sz="1700" dirty="0">
              <a:latin typeface="Times New Roman" panose="02020603050405020304" pitchFamily="18" charset="0"/>
              <a:cs typeface="Times New Roman" panose="02020603050405020304" pitchFamily="18" charset="0"/>
            </a:endParaRPr>
          </a:p>
        </p:txBody>
      </p:sp>
      <p:sp>
        <p:nvSpPr>
          <p:cNvPr id="4" name="Shape 2"/>
          <p:cNvSpPr/>
          <p:nvPr/>
        </p:nvSpPr>
        <p:spPr>
          <a:xfrm>
            <a:off x="758309" y="2208371"/>
            <a:ext cx="30480" cy="834152"/>
          </a:xfrm>
          <a:prstGeom prst="rect">
            <a:avLst/>
          </a:prstGeom>
          <a:solidFill>
            <a:srgbClr val="DA1B2E"/>
          </a:solidFill>
          <a:ln/>
        </p:spPr>
      </p:sp>
      <p:pic>
        <p:nvPicPr>
          <p:cNvPr id="5" name="Image 0" descr="preencoded.png"/>
          <p:cNvPicPr>
            <a:picLocks noChangeAspect="1"/>
          </p:cNvPicPr>
          <p:nvPr/>
        </p:nvPicPr>
        <p:blipFill>
          <a:blip r:embed="rId3"/>
          <a:stretch>
            <a:fillRect/>
          </a:stretch>
        </p:blipFill>
        <p:spPr>
          <a:xfrm>
            <a:off x="758309" y="3286244"/>
            <a:ext cx="2430542" cy="2430542"/>
          </a:xfrm>
          <a:prstGeom prst="rect">
            <a:avLst/>
          </a:prstGeom>
          <a:effectLst>
            <a:outerShdw blurRad="50800" dist="38100" algn="l" rotWithShape="0">
              <a:prstClr val="black">
                <a:alpha val="40000"/>
              </a:prstClr>
            </a:outerShdw>
          </a:effectLst>
          <a:scene3d>
            <a:camera prst="obliqueTopRight"/>
            <a:lightRig rig="threePt" dir="t"/>
          </a:scene3d>
        </p:spPr>
      </p:pic>
      <p:sp>
        <p:nvSpPr>
          <p:cNvPr id="6" name="Text 3"/>
          <p:cNvSpPr/>
          <p:nvPr/>
        </p:nvSpPr>
        <p:spPr>
          <a:xfrm>
            <a:off x="758309" y="598753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Tinh thần xung kích</a:t>
            </a:r>
            <a:endParaRPr lang="en-US" sz="2200" b="1" dirty="0">
              <a:latin typeface="Times New Roman" panose="02020603050405020304" pitchFamily="18" charset="0"/>
              <a:cs typeface="Times New Roman" panose="02020603050405020304" pitchFamily="18" charset="0"/>
            </a:endParaRPr>
          </a:p>
        </p:txBody>
      </p:sp>
      <p:sp>
        <p:nvSpPr>
          <p:cNvPr id="7" name="Text 4"/>
          <p:cNvSpPr/>
          <p:nvPr/>
        </p:nvSpPr>
        <p:spPr>
          <a:xfrm>
            <a:off x="758309" y="6473666"/>
            <a:ext cx="419076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Xông pha đi đầu trong mọi công việc khó khăn, gian khổ vì lợi ích chung</a:t>
            </a:r>
            <a:endParaRPr lang="en-US" sz="1700" dirty="0">
              <a:latin typeface="Times New Roman" panose="02020603050405020304" pitchFamily="18" charset="0"/>
              <a:cs typeface="Times New Roman" panose="02020603050405020304" pitchFamily="18" charset="0"/>
            </a:endParaRPr>
          </a:p>
        </p:txBody>
      </p:sp>
      <p:pic>
        <p:nvPicPr>
          <p:cNvPr id="8" name="Image 1" descr="preencoded.png"/>
          <p:cNvPicPr>
            <a:picLocks noChangeAspect="1"/>
          </p:cNvPicPr>
          <p:nvPr/>
        </p:nvPicPr>
        <p:blipFill>
          <a:blip r:embed="rId4"/>
          <a:stretch>
            <a:fillRect/>
          </a:stretch>
        </p:blipFill>
        <p:spPr>
          <a:xfrm>
            <a:off x="5219819" y="3286244"/>
            <a:ext cx="2430542" cy="2430542"/>
          </a:xfrm>
          <a:prstGeom prst="rect">
            <a:avLst/>
          </a:prstGeom>
          <a:effectLst>
            <a:outerShdw blurRad="50800" dist="38100" algn="l" rotWithShape="0">
              <a:prstClr val="black">
                <a:alpha val="40000"/>
              </a:prstClr>
            </a:outerShdw>
          </a:effectLst>
          <a:scene3d>
            <a:camera prst="obliqueTopRight"/>
            <a:lightRig rig="threePt" dir="t"/>
          </a:scene3d>
        </p:spPr>
      </p:pic>
      <p:sp>
        <p:nvSpPr>
          <p:cNvPr id="9" name="Text 5"/>
          <p:cNvSpPr/>
          <p:nvPr/>
        </p:nvSpPr>
        <p:spPr>
          <a:xfrm>
            <a:off x="5219819" y="598753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Ý thức trách nhiệm</a:t>
            </a:r>
            <a:endParaRPr lang="en-US" sz="2200" b="1" dirty="0">
              <a:latin typeface="Times New Roman" panose="02020603050405020304" pitchFamily="18" charset="0"/>
              <a:cs typeface="Times New Roman" panose="02020603050405020304" pitchFamily="18" charset="0"/>
            </a:endParaRPr>
          </a:p>
        </p:txBody>
      </p:sp>
      <p:sp>
        <p:nvSpPr>
          <p:cNvPr id="10" name="Text 6"/>
          <p:cNvSpPr/>
          <p:nvPr/>
        </p:nvSpPr>
        <p:spPr>
          <a:xfrm>
            <a:off x="5219819" y="6473666"/>
            <a:ext cx="419076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Làm việc vì cộng đồng, vì sự phát triển bền vững của đất nước</a:t>
            </a:r>
            <a:endParaRPr lang="en-US" sz="1700" dirty="0">
              <a:latin typeface="Times New Roman" panose="02020603050405020304" pitchFamily="18" charset="0"/>
              <a:cs typeface="Times New Roman" panose="02020603050405020304" pitchFamily="18" charset="0"/>
            </a:endParaRPr>
          </a:p>
        </p:txBody>
      </p:sp>
      <p:pic>
        <p:nvPicPr>
          <p:cNvPr id="11" name="Image 2" descr="preencoded.png"/>
          <p:cNvPicPr>
            <a:picLocks noChangeAspect="1"/>
          </p:cNvPicPr>
          <p:nvPr/>
        </p:nvPicPr>
        <p:blipFill>
          <a:blip r:embed="rId5"/>
          <a:stretch>
            <a:fillRect/>
          </a:stretch>
        </p:blipFill>
        <p:spPr>
          <a:xfrm>
            <a:off x="9681329" y="3286244"/>
            <a:ext cx="2430542" cy="2430542"/>
          </a:xfrm>
          <a:prstGeom prst="rect">
            <a:avLst/>
          </a:prstGeom>
          <a:effectLst>
            <a:outerShdw blurRad="50800" dist="38100" algn="l" rotWithShape="0">
              <a:prstClr val="black">
                <a:alpha val="40000"/>
              </a:prstClr>
            </a:outerShdw>
          </a:effectLst>
          <a:scene3d>
            <a:camera prst="obliqueTopRight"/>
            <a:lightRig rig="threePt" dir="t"/>
          </a:scene3d>
        </p:spPr>
      </p:pic>
      <p:sp>
        <p:nvSpPr>
          <p:cNvPr id="12" name="Text 7"/>
          <p:cNvSpPr/>
          <p:nvPr/>
        </p:nvSpPr>
        <p:spPr>
          <a:xfrm>
            <a:off x="9681329" y="5987534"/>
            <a:ext cx="2850713" cy="356235"/>
          </a:xfrm>
          <a:prstGeom prst="rect">
            <a:avLst/>
          </a:prstGeom>
          <a:noFill/>
          <a:ln/>
        </p:spPr>
        <p:txBody>
          <a:bodyPr wrap="none" lIns="0" tIns="0" rIns="0" bIns="0" rtlCol="0" anchor="t"/>
          <a:lstStyle/>
          <a:p>
            <a:pPr marL="0" indent="0" algn="l">
              <a:lnSpc>
                <a:spcPts val="280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Cống hiến hết mình</a:t>
            </a:r>
            <a:endParaRPr lang="en-US" sz="2200" b="1" dirty="0">
              <a:latin typeface="Times New Roman" panose="02020603050405020304" pitchFamily="18" charset="0"/>
              <a:cs typeface="Times New Roman" panose="02020603050405020304" pitchFamily="18" charset="0"/>
            </a:endParaRPr>
          </a:p>
        </p:txBody>
      </p:sp>
      <p:sp>
        <p:nvSpPr>
          <p:cNvPr id="13" name="Text 8"/>
          <p:cNvSpPr/>
          <p:nvPr/>
        </p:nvSpPr>
        <p:spPr>
          <a:xfrm>
            <a:off x="9681329" y="6473666"/>
            <a:ext cx="4190762" cy="69342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Không ngại gian khổ, hy sinh vì mục tiêu chung của tập thể và dân tộc</a:t>
            </a:r>
            <a:endParaRPr lang="en-US" sz="1700" dirty="0">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7ABF936E-2E28-523A-263B-C879BA212A65}"/>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58309" y="922734"/>
            <a:ext cx="5812512"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Sáng Tạo Và Đổi Mới</a:t>
            </a:r>
            <a:endParaRPr lang="en-US" sz="4450" dirty="0">
              <a:latin typeface="Times New Roman" panose="02020603050405020304" pitchFamily="18" charset="0"/>
              <a:cs typeface="Times New Roman" panose="02020603050405020304" pitchFamily="18" charset="0"/>
            </a:endParaRPr>
          </a:p>
        </p:txBody>
      </p:sp>
      <p:sp>
        <p:nvSpPr>
          <p:cNvPr id="3" name="Text 1"/>
          <p:cNvSpPr/>
          <p:nvPr/>
        </p:nvSpPr>
        <p:spPr>
          <a:xfrm>
            <a:off x="758309" y="2176939"/>
            <a:ext cx="4967407" cy="427553"/>
          </a:xfrm>
          <a:prstGeom prst="rect">
            <a:avLst/>
          </a:prstGeom>
          <a:noFill/>
          <a:ln/>
        </p:spPr>
        <p:txBody>
          <a:bodyPr wrap="none" lIns="0" tIns="0" rIns="0" bIns="0" rtlCol="0" anchor="t"/>
          <a:lstStyle/>
          <a:p>
            <a:pPr marL="0" indent="0" algn="l">
              <a:lnSpc>
                <a:spcPts val="3350"/>
              </a:lnSpc>
              <a:buNone/>
            </a:pPr>
            <a:r>
              <a:rPr lang="en-US" sz="2650" dirty="0">
                <a:solidFill>
                  <a:srgbClr val="1F1E1E"/>
                </a:solidFill>
                <a:latin typeface="Times New Roman" panose="02020603050405020304" pitchFamily="18" charset="0"/>
                <a:ea typeface="Sora Semi Bold" pitchFamily="34" charset="-122"/>
                <a:cs typeface="Times New Roman" panose="02020603050405020304" pitchFamily="18" charset="0"/>
              </a:rPr>
              <a:t>Tinh thần đổi mới của Bác Hồ</a:t>
            </a:r>
            <a:endParaRPr lang="en-US" sz="2650" dirty="0">
              <a:latin typeface="Times New Roman" panose="02020603050405020304" pitchFamily="18" charset="0"/>
              <a:cs typeface="Times New Roman" panose="02020603050405020304" pitchFamily="18" charset="0"/>
            </a:endParaRPr>
          </a:p>
        </p:txBody>
      </p:sp>
      <p:sp>
        <p:nvSpPr>
          <p:cNvPr id="4" name="Text 2"/>
          <p:cNvSpPr/>
          <p:nvPr/>
        </p:nvSpPr>
        <p:spPr>
          <a:xfrm>
            <a:off x="758309" y="2821067"/>
            <a:ext cx="6292572" cy="138684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Chủ tịch Hồ Chí Minh luôn khẳng định tinh thần đổi mới, sáng tạo trong mọi hoàn cảnh. Người dạy: phải biết vận dụng linh hoạt, sáng tạo để phù hợp với từng thời kỳ cách mạng.</a:t>
            </a:r>
            <a:endParaRPr lang="en-US" sz="1700" dirty="0">
              <a:latin typeface="Times New Roman" panose="02020603050405020304" pitchFamily="18" charset="0"/>
              <a:cs typeface="Times New Roman" panose="02020603050405020304" pitchFamily="18" charset="0"/>
            </a:endParaRPr>
          </a:p>
        </p:txBody>
      </p:sp>
      <p:sp>
        <p:nvSpPr>
          <p:cNvPr id="5" name="Text 3"/>
          <p:cNvSpPr/>
          <p:nvPr/>
        </p:nvSpPr>
        <p:spPr>
          <a:xfrm>
            <a:off x="758309" y="4402812"/>
            <a:ext cx="6292572" cy="346710"/>
          </a:xfrm>
          <a:prstGeom prst="rect">
            <a:avLst/>
          </a:prstGeom>
          <a:noFill/>
          <a:ln/>
        </p:spPr>
        <p:txBody>
          <a:bodyPr wrap="non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Thanh niên Việt Nam ngày nay cần phát huy tinh thần ấy:</a:t>
            </a:r>
            <a:endParaRPr lang="en-US" sz="1700" dirty="0">
              <a:latin typeface="Times New Roman" panose="02020603050405020304" pitchFamily="18" charset="0"/>
              <a:cs typeface="Times New Roman" panose="02020603050405020304" pitchFamily="18" charset="0"/>
            </a:endParaRPr>
          </a:p>
        </p:txBody>
      </p:sp>
      <p:sp>
        <p:nvSpPr>
          <p:cNvPr id="6" name="Text 4"/>
          <p:cNvSpPr/>
          <p:nvPr/>
        </p:nvSpPr>
        <p:spPr>
          <a:xfrm>
            <a:off x="758309" y="4944428"/>
            <a:ext cx="6292572" cy="1733299"/>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Sáng tạo trong học tập và nghiên cứu khoa học</a:t>
            </a:r>
            <a:endParaRPr lang="en-US" sz="1700" dirty="0">
              <a:latin typeface="Times New Roman" panose="02020603050405020304" pitchFamily="18" charset="0"/>
              <a:cs typeface="Times New Roman" panose="02020603050405020304" pitchFamily="18" charset="0"/>
            </a:endParaRPr>
          </a:p>
          <a:p>
            <a:pPr marL="342900" indent="-342900" algn="l">
              <a:lnSpc>
                <a:spcPts val="2700"/>
              </a:lnSpc>
              <a:buSzPct val="100000"/>
              <a:buChar char="•"/>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Ứng dụng công nghệ số vào sản xuất, kinh doanh</a:t>
            </a:r>
            <a:endParaRPr lang="en-US" sz="1700" dirty="0">
              <a:latin typeface="Times New Roman" panose="02020603050405020304" pitchFamily="18" charset="0"/>
              <a:cs typeface="Times New Roman" panose="02020603050405020304" pitchFamily="18" charset="0"/>
            </a:endParaRPr>
          </a:p>
          <a:p>
            <a:pPr marL="342900" indent="-342900" algn="l">
              <a:lnSpc>
                <a:spcPts val="2700"/>
              </a:lnSpc>
              <a:buSzPct val="100000"/>
              <a:buChar char="•"/>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Đổi mới phương thức làm việc, nâng cao năng suất lao động</a:t>
            </a:r>
            <a:endParaRPr lang="en-US" sz="1700" dirty="0">
              <a:latin typeface="Times New Roman" panose="02020603050405020304" pitchFamily="18" charset="0"/>
              <a:cs typeface="Times New Roman" panose="02020603050405020304" pitchFamily="18" charset="0"/>
            </a:endParaRPr>
          </a:p>
          <a:p>
            <a:pPr marL="342900" indent="-342900" algn="l">
              <a:lnSpc>
                <a:spcPts val="2700"/>
              </a:lnSpc>
              <a:buSzPct val="100000"/>
              <a:buChar char="•"/>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Khởi nghiệp, lập nghiệp vì sự phát triển của đất nước</a:t>
            </a:r>
            <a:endParaRPr lang="en-US" sz="1700" dirty="0">
              <a:latin typeface="Times New Roman" panose="02020603050405020304" pitchFamily="18" charset="0"/>
              <a:cs typeface="Times New Roman" panose="02020603050405020304" pitchFamily="18" charset="0"/>
            </a:endParaRPr>
          </a:p>
        </p:txBody>
      </p:sp>
      <p:pic>
        <p:nvPicPr>
          <p:cNvPr id="7" name="Image 0" descr="preencoded.png"/>
          <p:cNvPicPr>
            <a:picLocks noChangeAspect="1"/>
          </p:cNvPicPr>
          <p:nvPr/>
        </p:nvPicPr>
        <p:blipFill>
          <a:blip r:embed="rId3"/>
          <a:stretch>
            <a:fillRect/>
          </a:stretch>
        </p:blipFill>
        <p:spPr>
          <a:xfrm>
            <a:off x="7680365" y="2204085"/>
            <a:ext cx="6106120" cy="3624024"/>
          </a:xfrm>
          <a:prstGeom prst="rect">
            <a:avLst/>
          </a:prstGeom>
        </p:spPr>
      </p:pic>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393444" y="3089857"/>
            <a:ext cx="519812" cy="519812"/>
          </a:xfrm>
          <a:prstGeom prst="rect">
            <a:avLst/>
          </a:prstGeom>
        </p:spPr>
      </p:pic>
      <p:sp>
        <p:nvSpPr>
          <p:cNvPr id="9" name="Text 5"/>
          <p:cNvSpPr/>
          <p:nvPr/>
        </p:nvSpPr>
        <p:spPr>
          <a:xfrm>
            <a:off x="11930324" y="4979699"/>
            <a:ext cx="1517852" cy="307826"/>
          </a:xfrm>
          <a:prstGeom prst="rect">
            <a:avLst/>
          </a:prstGeom>
          <a:noFill/>
          <a:ln/>
        </p:spPr>
        <p:txBody>
          <a:bodyPr wrap="none" lIns="0" tIns="0" rIns="0" bIns="0" rtlCol="0" anchor="t"/>
          <a:lstStyle/>
          <a:p>
            <a:pPr marL="0" indent="0" algn="ctr">
              <a:lnSpc>
                <a:spcPts val="1750"/>
              </a:lnSpc>
              <a:buNone/>
            </a:pPr>
            <a:r>
              <a:rPr lang="en-US" sz="1400" dirty="0">
                <a:solidFill>
                  <a:srgbClr val="3B3535"/>
                </a:solidFill>
                <a:latin typeface="Times New Roman" panose="02020603050405020304" pitchFamily="18" charset="0"/>
                <a:ea typeface="Sora Semi Bold" pitchFamily="34" charset="-122"/>
                <a:cs typeface="Times New Roman" panose="02020603050405020304" pitchFamily="18" charset="0"/>
              </a:rPr>
              <a:t>Cống hiến</a:t>
            </a:r>
            <a:endParaRPr lang="en-US" sz="1400" dirty="0">
              <a:latin typeface="Times New Roman" panose="02020603050405020304" pitchFamily="18" charset="0"/>
              <a:cs typeface="Times New Roman" panose="02020603050405020304" pitchFamily="18" charset="0"/>
            </a:endParaRPr>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90444" y="3090832"/>
            <a:ext cx="519812" cy="519812"/>
          </a:xfrm>
          <a:prstGeom prst="rect">
            <a:avLst/>
          </a:prstGeom>
        </p:spPr>
      </p:pic>
      <p:sp>
        <p:nvSpPr>
          <p:cNvPr id="11" name="Text 6"/>
          <p:cNvSpPr/>
          <p:nvPr/>
        </p:nvSpPr>
        <p:spPr>
          <a:xfrm>
            <a:off x="10017415" y="4979699"/>
            <a:ext cx="1517852" cy="307826"/>
          </a:xfrm>
          <a:prstGeom prst="rect">
            <a:avLst/>
          </a:prstGeom>
          <a:noFill/>
          <a:ln/>
        </p:spPr>
        <p:txBody>
          <a:bodyPr wrap="none" lIns="0" tIns="0" rIns="0" bIns="0" rtlCol="0" anchor="t"/>
          <a:lstStyle/>
          <a:p>
            <a:pPr marL="0" indent="0" algn="ctr">
              <a:lnSpc>
                <a:spcPts val="1750"/>
              </a:lnSpc>
              <a:buNone/>
            </a:pPr>
            <a:r>
              <a:rPr lang="en-US" sz="1400" dirty="0">
                <a:solidFill>
                  <a:srgbClr val="3B3535"/>
                </a:solidFill>
                <a:latin typeface="Times New Roman" panose="02020603050405020304" pitchFamily="18" charset="0"/>
                <a:ea typeface="Sora Semi Bold" pitchFamily="34" charset="-122"/>
                <a:cs typeface="Times New Roman" panose="02020603050405020304" pitchFamily="18" charset="0"/>
              </a:rPr>
              <a:t>Vận dụng</a:t>
            </a:r>
            <a:endParaRPr lang="en-US" sz="1400" dirty="0">
              <a:latin typeface="Times New Roman" panose="02020603050405020304" pitchFamily="18" charset="0"/>
              <a:cs typeface="Times New Roman" panose="02020603050405020304" pitchFamily="18" charset="0"/>
            </a:endParaRPr>
          </a:p>
        </p:txBody>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77535" y="3090832"/>
            <a:ext cx="519812" cy="519812"/>
          </a:xfrm>
          <a:prstGeom prst="rect">
            <a:avLst/>
          </a:prstGeom>
        </p:spPr>
      </p:pic>
      <p:sp>
        <p:nvSpPr>
          <p:cNvPr id="13" name="Text 7"/>
          <p:cNvSpPr/>
          <p:nvPr/>
        </p:nvSpPr>
        <p:spPr>
          <a:xfrm>
            <a:off x="8073317" y="4979699"/>
            <a:ext cx="1517852" cy="307826"/>
          </a:xfrm>
          <a:prstGeom prst="rect">
            <a:avLst/>
          </a:prstGeom>
          <a:noFill/>
          <a:ln/>
        </p:spPr>
        <p:txBody>
          <a:bodyPr wrap="none" lIns="0" tIns="0" rIns="0" bIns="0" rtlCol="0" anchor="t"/>
          <a:lstStyle/>
          <a:p>
            <a:pPr marL="0" indent="0" algn="ctr">
              <a:lnSpc>
                <a:spcPts val="1750"/>
              </a:lnSpc>
              <a:buNone/>
            </a:pPr>
            <a:r>
              <a:rPr lang="en-US" sz="1400" dirty="0">
                <a:solidFill>
                  <a:srgbClr val="3B3535"/>
                </a:solidFill>
                <a:latin typeface="Times New Roman" panose="02020603050405020304" pitchFamily="18" charset="0"/>
                <a:ea typeface="Sora Semi Bold" pitchFamily="34" charset="-122"/>
                <a:cs typeface="Times New Roman" panose="02020603050405020304" pitchFamily="18" charset="0"/>
              </a:rPr>
              <a:t>Học hỏi</a:t>
            </a:r>
            <a:endParaRPr lang="en-US" sz="1400" dirty="0">
              <a:latin typeface="Times New Roman" panose="02020603050405020304" pitchFamily="18" charset="0"/>
              <a:cs typeface="Times New Roman" panose="02020603050405020304" pitchFamily="18" charset="0"/>
            </a:endParaRPr>
          </a:p>
        </p:txBody>
      </p:sp>
      <p:sp>
        <p:nvSpPr>
          <p:cNvPr id="14" name="Text 8"/>
          <p:cNvSpPr/>
          <p:nvPr/>
        </p:nvSpPr>
        <p:spPr>
          <a:xfrm>
            <a:off x="7587139" y="6071830"/>
            <a:ext cx="6292572" cy="104013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Lý tưởng của thế hệ trẻ hôm nay là tiếp nối sự nghiệp vẻ vang của cha ông, xây dựng Việt Nam ngày càng giàu mạnh, văn minh.</a:t>
            </a:r>
            <a:endParaRPr lang="en-US" sz="1700" dirty="0">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2B5490F-49AD-8FFF-04D5-47A238B85F9B}"/>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5452" y="596622"/>
            <a:ext cx="9370933" cy="709970"/>
          </a:xfrm>
          <a:prstGeom prst="rect">
            <a:avLst/>
          </a:prstGeom>
          <a:noFill/>
          <a:ln/>
        </p:spPr>
        <p:txBody>
          <a:bodyPr wrap="none" lIns="0" tIns="0" rIns="0" bIns="0" rtlCol="0" anchor="t"/>
          <a:lstStyle/>
          <a:p>
            <a:pPr marL="0" indent="0" algn="l">
              <a:lnSpc>
                <a:spcPts val="555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Đạo Đức Công Vụ và Tính Kỷ Luật</a:t>
            </a:r>
            <a:endParaRPr lang="en-US" sz="4450" dirty="0">
              <a:latin typeface="Times New Roman" panose="02020603050405020304" pitchFamily="18" charset="0"/>
              <a:cs typeface="Times New Roman" panose="02020603050405020304" pitchFamily="18" charset="0"/>
            </a:endParaRPr>
          </a:p>
        </p:txBody>
      </p:sp>
      <p:sp>
        <p:nvSpPr>
          <p:cNvPr id="6" name="Text 4"/>
          <p:cNvSpPr/>
          <p:nvPr/>
        </p:nvSpPr>
        <p:spPr>
          <a:xfrm>
            <a:off x="755452" y="1886307"/>
            <a:ext cx="215860" cy="269796"/>
          </a:xfrm>
          <a:prstGeom prst="rect">
            <a:avLst/>
          </a:prstGeom>
          <a:noFill/>
          <a:ln/>
        </p:spPr>
        <p:txBody>
          <a:bodyPr wrap="none" lIns="0" tIns="0" rIns="0" bIns="0" rtlCol="0" anchor="t"/>
          <a:lstStyle/>
          <a:p>
            <a:pPr marL="0" indent="0" algn="l">
              <a:lnSpc>
                <a:spcPts val="2700"/>
              </a:lnSpc>
              <a:buNone/>
            </a:pPr>
            <a:r>
              <a:rPr lang="en-US" sz="2000" b="1" dirty="0">
                <a:solidFill>
                  <a:srgbClr val="3B3535"/>
                </a:solidFill>
                <a:latin typeface="Times New Roman" panose="02020603050405020304" pitchFamily="18" charset="0"/>
                <a:ea typeface="Sora Light" pitchFamily="34" charset="-122"/>
                <a:cs typeface="Times New Roman" panose="02020603050405020304" pitchFamily="18" charset="0"/>
              </a:rPr>
              <a:t>01</a:t>
            </a:r>
            <a:endParaRPr lang="en-US" sz="2000" b="1" dirty="0">
              <a:latin typeface="Times New Roman" panose="02020603050405020304" pitchFamily="18" charset="0"/>
              <a:cs typeface="Times New Roman" panose="02020603050405020304" pitchFamily="18" charset="0"/>
            </a:endParaRPr>
          </a:p>
        </p:txBody>
      </p:sp>
      <p:sp>
        <p:nvSpPr>
          <p:cNvPr id="7" name="Shape 5"/>
          <p:cNvSpPr/>
          <p:nvPr/>
        </p:nvSpPr>
        <p:spPr>
          <a:xfrm>
            <a:off x="755452" y="2222659"/>
            <a:ext cx="6978729" cy="30480"/>
          </a:xfrm>
          <a:prstGeom prst="rect">
            <a:avLst/>
          </a:prstGeom>
          <a:solidFill>
            <a:srgbClr val="DA1B2E"/>
          </a:solidFill>
          <a:ln/>
        </p:spPr>
      </p:sp>
      <p:sp>
        <p:nvSpPr>
          <p:cNvPr id="8" name="Text 6"/>
          <p:cNvSpPr/>
          <p:nvPr/>
        </p:nvSpPr>
        <p:spPr>
          <a:xfrm>
            <a:off x="755452" y="2391489"/>
            <a:ext cx="2840236" cy="355044"/>
          </a:xfrm>
          <a:prstGeom prst="rect">
            <a:avLst/>
          </a:prstGeom>
          <a:noFill/>
          <a:ln/>
        </p:spPr>
        <p:txBody>
          <a:bodyPr wrap="none" lIns="0" tIns="0" rIns="0" bIns="0" rtlCol="0" anchor="t"/>
          <a:lstStyle/>
          <a:p>
            <a:pPr marL="0" indent="0" algn="l">
              <a:lnSpc>
                <a:spcPts val="275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Đúng Giờ</a:t>
            </a:r>
            <a:endParaRPr lang="en-US" sz="2200" b="1" dirty="0">
              <a:latin typeface="Times New Roman" panose="02020603050405020304" pitchFamily="18" charset="0"/>
              <a:cs typeface="Times New Roman" panose="02020603050405020304" pitchFamily="18" charset="0"/>
            </a:endParaRPr>
          </a:p>
        </p:txBody>
      </p:sp>
      <p:sp>
        <p:nvSpPr>
          <p:cNvPr id="9" name="Text 7"/>
          <p:cNvSpPr/>
          <p:nvPr/>
        </p:nvSpPr>
        <p:spPr>
          <a:xfrm>
            <a:off x="755452" y="2961561"/>
            <a:ext cx="6978729" cy="689372"/>
          </a:xfrm>
          <a:prstGeom prst="rect">
            <a:avLst/>
          </a:prstGeom>
          <a:noFill/>
          <a:ln/>
        </p:spPr>
        <p:txBody>
          <a:bodyPr wrap="square" lIns="0" tIns="0" rIns="0" bIns="0" rtlCol="0" anchor="t"/>
          <a:lstStyle/>
          <a:p>
            <a:pPr marL="0" indent="0" algn="l">
              <a:lnSpc>
                <a:spcPts val="2700"/>
              </a:lnSpc>
              <a:buNone/>
            </a:pPr>
            <a:r>
              <a:rPr lang="en-US" sz="1650" dirty="0">
                <a:solidFill>
                  <a:srgbClr val="3B3535"/>
                </a:solidFill>
                <a:latin typeface="Times New Roman" panose="02020603050405020304" pitchFamily="18" charset="0"/>
                <a:ea typeface="Sora Light" pitchFamily="34" charset="-122"/>
                <a:cs typeface="Times New Roman" panose="02020603050405020304" pitchFamily="18" charset="0"/>
              </a:rPr>
              <a:t>Tôn trọng thời gian của bản thân và người khác, thể hiện sự nghiêm túc trong mọi cam kết</a:t>
            </a:r>
            <a:endParaRPr lang="en-US" sz="1650" dirty="0">
              <a:latin typeface="Times New Roman" panose="02020603050405020304" pitchFamily="18" charset="0"/>
              <a:cs typeface="Times New Roman" panose="02020603050405020304" pitchFamily="18" charset="0"/>
            </a:endParaRPr>
          </a:p>
        </p:txBody>
      </p:sp>
      <p:sp>
        <p:nvSpPr>
          <p:cNvPr id="10" name="Text 8"/>
          <p:cNvSpPr/>
          <p:nvPr/>
        </p:nvSpPr>
        <p:spPr>
          <a:xfrm>
            <a:off x="755452" y="4027765"/>
            <a:ext cx="215860" cy="269796"/>
          </a:xfrm>
          <a:prstGeom prst="rect">
            <a:avLst/>
          </a:prstGeom>
          <a:noFill/>
          <a:ln/>
        </p:spPr>
        <p:txBody>
          <a:bodyPr wrap="none" lIns="0" tIns="0" rIns="0" bIns="0" rtlCol="0" anchor="t"/>
          <a:lstStyle/>
          <a:p>
            <a:pPr marL="0" indent="0" algn="l">
              <a:lnSpc>
                <a:spcPts val="2700"/>
              </a:lnSpc>
              <a:buNone/>
            </a:pPr>
            <a:r>
              <a:rPr lang="en-US" sz="2000" b="1" dirty="0">
                <a:solidFill>
                  <a:srgbClr val="3B3535"/>
                </a:solidFill>
                <a:latin typeface="Times New Roman" panose="02020603050405020304" pitchFamily="18" charset="0"/>
                <a:ea typeface="Sora Light" pitchFamily="34" charset="-122"/>
                <a:cs typeface="Times New Roman" panose="02020603050405020304" pitchFamily="18" charset="0"/>
              </a:rPr>
              <a:t>02</a:t>
            </a:r>
            <a:endParaRPr lang="en-US" sz="2000" b="1" dirty="0">
              <a:latin typeface="Times New Roman" panose="02020603050405020304" pitchFamily="18" charset="0"/>
              <a:cs typeface="Times New Roman" panose="02020603050405020304" pitchFamily="18" charset="0"/>
            </a:endParaRPr>
          </a:p>
        </p:txBody>
      </p:sp>
      <p:sp>
        <p:nvSpPr>
          <p:cNvPr id="11" name="Shape 9"/>
          <p:cNvSpPr/>
          <p:nvPr/>
        </p:nvSpPr>
        <p:spPr>
          <a:xfrm>
            <a:off x="755452" y="4364117"/>
            <a:ext cx="6978729" cy="30480"/>
          </a:xfrm>
          <a:prstGeom prst="rect">
            <a:avLst/>
          </a:prstGeom>
          <a:solidFill>
            <a:srgbClr val="DA1B2E"/>
          </a:solidFill>
          <a:ln/>
        </p:spPr>
      </p:sp>
      <p:sp>
        <p:nvSpPr>
          <p:cNvPr id="12" name="Text 10"/>
          <p:cNvSpPr/>
          <p:nvPr/>
        </p:nvSpPr>
        <p:spPr>
          <a:xfrm>
            <a:off x="755452" y="4532948"/>
            <a:ext cx="2840236" cy="355044"/>
          </a:xfrm>
          <a:prstGeom prst="rect">
            <a:avLst/>
          </a:prstGeom>
          <a:noFill/>
          <a:ln/>
        </p:spPr>
        <p:txBody>
          <a:bodyPr wrap="none" lIns="0" tIns="0" rIns="0" bIns="0" rtlCol="0" anchor="t"/>
          <a:lstStyle/>
          <a:p>
            <a:pPr marL="0" indent="0" algn="l">
              <a:lnSpc>
                <a:spcPts val="275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Trung Thực</a:t>
            </a:r>
            <a:endParaRPr lang="en-US" sz="2200" b="1" dirty="0">
              <a:latin typeface="Times New Roman" panose="02020603050405020304" pitchFamily="18" charset="0"/>
              <a:cs typeface="Times New Roman" panose="02020603050405020304" pitchFamily="18" charset="0"/>
            </a:endParaRPr>
          </a:p>
        </p:txBody>
      </p:sp>
      <p:sp>
        <p:nvSpPr>
          <p:cNvPr id="13" name="Text 11"/>
          <p:cNvSpPr/>
          <p:nvPr/>
        </p:nvSpPr>
        <p:spPr>
          <a:xfrm>
            <a:off x="755452" y="5103019"/>
            <a:ext cx="6978729" cy="344686"/>
          </a:xfrm>
          <a:prstGeom prst="rect">
            <a:avLst/>
          </a:prstGeom>
          <a:noFill/>
          <a:ln/>
        </p:spPr>
        <p:txBody>
          <a:bodyPr wrap="none" lIns="0" tIns="0" rIns="0" bIns="0" rtlCol="0" anchor="t"/>
          <a:lstStyle/>
          <a:p>
            <a:pPr marL="0" indent="0" algn="l">
              <a:lnSpc>
                <a:spcPts val="2700"/>
              </a:lnSpc>
              <a:buNone/>
            </a:pPr>
            <a:r>
              <a:rPr lang="en-US" sz="1650" dirty="0">
                <a:solidFill>
                  <a:srgbClr val="3B3535"/>
                </a:solidFill>
                <a:latin typeface="Times New Roman" panose="02020603050405020304" pitchFamily="18" charset="0"/>
                <a:ea typeface="Sora Light" pitchFamily="34" charset="-122"/>
                <a:cs typeface="Times New Roman" panose="02020603050405020304" pitchFamily="18" charset="0"/>
              </a:rPr>
              <a:t>Nói đi đôi với làm, giữ chữ tín trong mọi hoàn cảnh</a:t>
            </a:r>
            <a:endParaRPr lang="en-US" sz="1650" dirty="0">
              <a:latin typeface="Times New Roman" panose="02020603050405020304" pitchFamily="18" charset="0"/>
              <a:cs typeface="Times New Roman" panose="02020603050405020304" pitchFamily="18" charset="0"/>
            </a:endParaRPr>
          </a:p>
        </p:txBody>
      </p:sp>
      <p:sp>
        <p:nvSpPr>
          <p:cNvPr id="14" name="Text 12"/>
          <p:cNvSpPr/>
          <p:nvPr/>
        </p:nvSpPr>
        <p:spPr>
          <a:xfrm>
            <a:off x="755452" y="5824538"/>
            <a:ext cx="215860" cy="269796"/>
          </a:xfrm>
          <a:prstGeom prst="rect">
            <a:avLst/>
          </a:prstGeom>
          <a:noFill/>
          <a:ln/>
        </p:spPr>
        <p:txBody>
          <a:bodyPr wrap="none" lIns="0" tIns="0" rIns="0" bIns="0" rtlCol="0" anchor="t"/>
          <a:lstStyle/>
          <a:p>
            <a:pPr marL="0" indent="0" algn="l">
              <a:lnSpc>
                <a:spcPts val="2700"/>
              </a:lnSpc>
              <a:buNone/>
            </a:pPr>
            <a:r>
              <a:rPr lang="en-US" sz="2000" b="1" dirty="0">
                <a:solidFill>
                  <a:srgbClr val="3B3535"/>
                </a:solidFill>
                <a:latin typeface="Times New Roman" panose="02020603050405020304" pitchFamily="18" charset="0"/>
                <a:ea typeface="Sora Light" pitchFamily="34" charset="-122"/>
                <a:cs typeface="Times New Roman" panose="02020603050405020304" pitchFamily="18" charset="0"/>
              </a:rPr>
              <a:t>03</a:t>
            </a:r>
            <a:endParaRPr lang="en-US" sz="2000" b="1" dirty="0">
              <a:latin typeface="Times New Roman" panose="02020603050405020304" pitchFamily="18" charset="0"/>
              <a:cs typeface="Times New Roman" panose="02020603050405020304" pitchFamily="18" charset="0"/>
            </a:endParaRPr>
          </a:p>
        </p:txBody>
      </p:sp>
      <p:sp>
        <p:nvSpPr>
          <p:cNvPr id="15" name="Shape 13"/>
          <p:cNvSpPr/>
          <p:nvPr/>
        </p:nvSpPr>
        <p:spPr>
          <a:xfrm>
            <a:off x="755452" y="6160889"/>
            <a:ext cx="6978729" cy="30480"/>
          </a:xfrm>
          <a:prstGeom prst="rect">
            <a:avLst/>
          </a:prstGeom>
          <a:solidFill>
            <a:srgbClr val="DA1B2E"/>
          </a:solidFill>
          <a:ln/>
        </p:spPr>
      </p:sp>
      <p:sp>
        <p:nvSpPr>
          <p:cNvPr id="16" name="Text 14"/>
          <p:cNvSpPr/>
          <p:nvPr/>
        </p:nvSpPr>
        <p:spPr>
          <a:xfrm>
            <a:off x="755452" y="6329720"/>
            <a:ext cx="2840236" cy="355044"/>
          </a:xfrm>
          <a:prstGeom prst="rect">
            <a:avLst/>
          </a:prstGeom>
          <a:noFill/>
          <a:ln/>
        </p:spPr>
        <p:txBody>
          <a:bodyPr wrap="none" lIns="0" tIns="0" rIns="0" bIns="0" rtlCol="0" anchor="t"/>
          <a:lstStyle/>
          <a:p>
            <a:pPr marL="0" indent="0" algn="l">
              <a:lnSpc>
                <a:spcPts val="2750"/>
              </a:lnSpc>
              <a:buNone/>
            </a:pPr>
            <a:r>
              <a:rPr lang="en-US" sz="2200" b="1" dirty="0">
                <a:solidFill>
                  <a:srgbClr val="3B3535"/>
                </a:solidFill>
                <a:latin typeface="Times New Roman" panose="02020603050405020304" pitchFamily="18" charset="0"/>
                <a:ea typeface="Sora Semi Bold" pitchFamily="34" charset="-122"/>
                <a:cs typeface="Times New Roman" panose="02020603050405020304" pitchFamily="18" charset="0"/>
              </a:rPr>
              <a:t>Trách Nhiệm</a:t>
            </a:r>
            <a:endParaRPr lang="en-US" sz="2200" b="1" dirty="0">
              <a:latin typeface="Times New Roman" panose="02020603050405020304" pitchFamily="18" charset="0"/>
              <a:cs typeface="Times New Roman" panose="02020603050405020304" pitchFamily="18" charset="0"/>
            </a:endParaRPr>
          </a:p>
        </p:txBody>
      </p:sp>
      <p:sp>
        <p:nvSpPr>
          <p:cNvPr id="17" name="Text 15"/>
          <p:cNvSpPr/>
          <p:nvPr/>
        </p:nvSpPr>
        <p:spPr>
          <a:xfrm>
            <a:off x="755452" y="6899791"/>
            <a:ext cx="6978729" cy="344686"/>
          </a:xfrm>
          <a:prstGeom prst="rect">
            <a:avLst/>
          </a:prstGeom>
          <a:noFill/>
          <a:ln/>
        </p:spPr>
        <p:txBody>
          <a:bodyPr wrap="none" lIns="0" tIns="0" rIns="0" bIns="0" rtlCol="0" anchor="t"/>
          <a:lstStyle/>
          <a:p>
            <a:pPr marL="0" indent="0" algn="l">
              <a:lnSpc>
                <a:spcPts val="2700"/>
              </a:lnSpc>
              <a:buNone/>
            </a:pPr>
            <a:r>
              <a:rPr lang="en-US" sz="1650" dirty="0">
                <a:solidFill>
                  <a:srgbClr val="3B3535"/>
                </a:solidFill>
                <a:latin typeface="Times New Roman" panose="02020603050405020304" pitchFamily="18" charset="0"/>
                <a:ea typeface="Sora Light" pitchFamily="34" charset="-122"/>
                <a:cs typeface="Times New Roman" panose="02020603050405020304" pitchFamily="18" charset="0"/>
              </a:rPr>
              <a:t>Hoàn thành xuất sắc nhiệm vụ được giao, không ngại khó khăn</a:t>
            </a:r>
            <a:endParaRPr lang="en-US" sz="1650" dirty="0">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ED20BD55-4FB8-E0D6-E2A1-977769BD27FA}"/>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9462" name="Picture 6" descr="Đồng hồ treo tường hình tròn S74">
            <a:extLst>
              <a:ext uri="{FF2B5EF4-FFF2-40B4-BE49-F238E27FC236}">
                <a16:creationId xmlns:a16="http://schemas.microsoft.com/office/drawing/2014/main" id="{22D3581F-88F4-29AB-EFFE-C5914559D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8588" y="2421612"/>
            <a:ext cx="3945969" cy="39459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516392" y="1892379"/>
            <a:ext cx="7597616" cy="712708"/>
          </a:xfrm>
          <a:prstGeom prst="rect">
            <a:avLst/>
          </a:prstGeom>
          <a:noFill/>
          <a:ln/>
        </p:spPr>
        <p:txBody>
          <a:bodyPr wrap="none" lIns="0" tIns="0" rIns="0" bIns="0" rtlCol="0" anchor="t"/>
          <a:lstStyle/>
          <a:p>
            <a:pPr marL="0" indent="0" algn="ctr">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Khởi Nghiệp và Cống Hiến</a:t>
            </a:r>
            <a:endParaRPr lang="en-US" sz="4450" dirty="0">
              <a:latin typeface="Times New Roman" panose="02020603050405020304" pitchFamily="18" charset="0"/>
              <a:cs typeface="Times New Roman" panose="02020603050405020304" pitchFamily="18" charset="0"/>
            </a:endParaRPr>
          </a:p>
        </p:txBody>
      </p:sp>
      <p:sp>
        <p:nvSpPr>
          <p:cNvPr id="4" name="Shape 1"/>
          <p:cNvSpPr/>
          <p:nvPr/>
        </p:nvSpPr>
        <p:spPr>
          <a:xfrm>
            <a:off x="3516392" y="2930009"/>
            <a:ext cx="3705344" cy="3407212"/>
          </a:xfrm>
          <a:prstGeom prst="roundRect">
            <a:avLst>
              <a:gd name="adj" fmla="val 4294"/>
            </a:avLst>
          </a:prstGeom>
          <a:solidFill>
            <a:srgbClr val="FFFFFF"/>
          </a:solidFill>
          <a:ln w="30480">
            <a:solidFill>
              <a:srgbClr val="DFB8BC"/>
            </a:solidFill>
            <a:prstDash val="solid"/>
          </a:ln>
        </p:spPr>
      </p:sp>
      <p:sp>
        <p:nvSpPr>
          <p:cNvPr id="5" name="Shape 2"/>
          <p:cNvSpPr/>
          <p:nvPr/>
        </p:nvSpPr>
        <p:spPr>
          <a:xfrm>
            <a:off x="3485912" y="2930009"/>
            <a:ext cx="121920" cy="3407212"/>
          </a:xfrm>
          <a:prstGeom prst="roundRect">
            <a:avLst>
              <a:gd name="adj" fmla="val 74638"/>
            </a:avLst>
          </a:prstGeom>
          <a:solidFill>
            <a:srgbClr val="DA1B2E"/>
          </a:solidFill>
          <a:ln/>
        </p:spPr>
      </p:sp>
      <p:sp>
        <p:nvSpPr>
          <p:cNvPr id="6" name="Text 3"/>
          <p:cNvSpPr/>
          <p:nvPr/>
        </p:nvSpPr>
        <p:spPr>
          <a:xfrm>
            <a:off x="3854887" y="3177064"/>
            <a:ext cx="3113484"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Làm Giàu Chính Đáng</a:t>
            </a:r>
            <a:endParaRPr lang="en-US" sz="2200" dirty="0">
              <a:latin typeface="Times New Roman" panose="02020603050405020304" pitchFamily="18" charset="0"/>
              <a:cs typeface="Times New Roman" panose="02020603050405020304" pitchFamily="18" charset="0"/>
            </a:endParaRPr>
          </a:p>
        </p:txBody>
      </p:sp>
      <p:sp>
        <p:nvSpPr>
          <p:cNvPr id="7" name="Text 4"/>
          <p:cNvSpPr/>
          <p:nvPr/>
        </p:nvSpPr>
        <p:spPr>
          <a:xfrm>
            <a:off x="3854887" y="3663196"/>
            <a:ext cx="3119795" cy="242697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Khởi nghiệp không chỉ là tạo ra của cải cá nhân, mà còn là đóng góp vào sự phát triển chung của đất nước. Mỗi doanh nghiệp thành công là một mắt xích vững chắc trong chuỗi giá trị quốc gia.</a:t>
            </a:r>
            <a:endParaRPr lang="en-US" sz="1700" dirty="0">
              <a:latin typeface="Times New Roman" panose="02020603050405020304" pitchFamily="18" charset="0"/>
              <a:cs typeface="Times New Roman" panose="02020603050405020304" pitchFamily="18" charset="0"/>
            </a:endParaRPr>
          </a:p>
        </p:txBody>
      </p:sp>
      <p:sp>
        <p:nvSpPr>
          <p:cNvPr id="8" name="Shape 5"/>
          <p:cNvSpPr/>
          <p:nvPr/>
        </p:nvSpPr>
        <p:spPr>
          <a:xfrm>
            <a:off x="7438311" y="2930009"/>
            <a:ext cx="3705463" cy="3407212"/>
          </a:xfrm>
          <a:prstGeom prst="roundRect">
            <a:avLst>
              <a:gd name="adj" fmla="val 4294"/>
            </a:avLst>
          </a:prstGeom>
          <a:solidFill>
            <a:srgbClr val="FFFFFF"/>
          </a:solidFill>
          <a:ln w="30480">
            <a:solidFill>
              <a:srgbClr val="DFB8BC"/>
            </a:solidFill>
            <a:prstDash val="solid"/>
          </a:ln>
        </p:spPr>
      </p:sp>
      <p:sp>
        <p:nvSpPr>
          <p:cNvPr id="9" name="Shape 6"/>
          <p:cNvSpPr/>
          <p:nvPr/>
        </p:nvSpPr>
        <p:spPr>
          <a:xfrm>
            <a:off x="7407831" y="2930009"/>
            <a:ext cx="121920" cy="3407212"/>
          </a:xfrm>
          <a:prstGeom prst="roundRect">
            <a:avLst>
              <a:gd name="adj" fmla="val 74638"/>
            </a:avLst>
          </a:prstGeom>
          <a:solidFill>
            <a:srgbClr val="DA1B2E"/>
          </a:solidFill>
          <a:ln/>
        </p:spPr>
      </p:sp>
      <p:sp>
        <p:nvSpPr>
          <p:cNvPr id="10" name="Text 7"/>
          <p:cNvSpPr/>
          <p:nvPr/>
        </p:nvSpPr>
        <p:spPr>
          <a:xfrm>
            <a:off x="7776806" y="3177064"/>
            <a:ext cx="3005495" cy="356235"/>
          </a:xfrm>
          <a:prstGeom prst="rect">
            <a:avLst/>
          </a:prstGeom>
          <a:noFill/>
          <a:ln/>
        </p:spPr>
        <p:txBody>
          <a:bodyPr wrap="non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Tinh Thần Cống Hiến</a:t>
            </a:r>
            <a:endParaRPr lang="en-US" sz="2200" dirty="0">
              <a:latin typeface="Times New Roman" panose="02020603050405020304" pitchFamily="18" charset="0"/>
              <a:cs typeface="Times New Roman" panose="02020603050405020304" pitchFamily="18" charset="0"/>
            </a:endParaRPr>
          </a:p>
        </p:txBody>
      </p:sp>
      <p:sp>
        <p:nvSpPr>
          <p:cNvPr id="11" name="Text 8"/>
          <p:cNvSpPr/>
          <p:nvPr/>
        </p:nvSpPr>
        <p:spPr>
          <a:xfrm>
            <a:off x="7776806" y="3663196"/>
            <a:ext cx="3119914" cy="2426970"/>
          </a:xfrm>
          <a:prstGeom prst="rect">
            <a:avLst/>
          </a:prstGeom>
          <a:noFill/>
          <a:ln/>
        </p:spPr>
        <p:txBody>
          <a:bodyPr wrap="square" lIns="0" tIns="0" rIns="0" bIns="0" rtlCol="0" anchor="t"/>
          <a:lstStyle/>
          <a:p>
            <a:pPr marL="0" indent="0" algn="l">
              <a:lnSpc>
                <a:spcPts val="2700"/>
              </a:lnSpc>
              <a:buNone/>
            </a:pPr>
            <a:r>
              <a:rPr lang="en-US" sz="1700">
                <a:solidFill>
                  <a:srgbClr val="3B3535"/>
                </a:solidFill>
                <a:latin typeface="Times New Roman" panose="02020603050405020304" pitchFamily="18" charset="0"/>
                <a:ea typeface="Sora Light" pitchFamily="34" charset="-122"/>
                <a:cs typeface="Times New Roman" panose="02020603050405020304" pitchFamily="18" charset="0"/>
              </a:rPr>
              <a:t>- Thành </a:t>
            </a: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công thực sự được đo bằng những giá trị mà chúng ta mang lại cho cộng đồng. Làm giàu cho bản thân chính là làm giàu cho Tổ quốc </a:t>
            </a:r>
            <a:r>
              <a:rPr lang="en-US" sz="1700">
                <a:solidFill>
                  <a:srgbClr val="3B3535"/>
                </a:solidFill>
                <a:latin typeface="Times New Roman" panose="02020603050405020304" pitchFamily="18" charset="0"/>
                <a:ea typeface="Sora Light" pitchFamily="34" charset="-122"/>
                <a:cs typeface="Times New Roman" panose="02020603050405020304" pitchFamily="18" charset="0"/>
              </a:rPr>
              <a:t>- Đó </a:t>
            </a: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là triết lý của người thanh niên thời đại mới.</a:t>
            </a:r>
            <a:endParaRPr lang="en-US" sz="17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3781D4C6-CA18-1232-E954-5155DF51BDA7}"/>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47499" y="841728"/>
            <a:ext cx="7041952" cy="576858"/>
          </a:xfrm>
          <a:prstGeom prst="rect">
            <a:avLst/>
          </a:prstGeom>
          <a:noFill/>
          <a:ln/>
        </p:spPr>
        <p:txBody>
          <a:bodyPr wrap="none" lIns="0" tIns="0" rIns="0" bIns="0" rtlCol="0" anchor="t"/>
          <a:lstStyle/>
          <a:p>
            <a:pPr marL="0" indent="0" algn="l">
              <a:lnSpc>
                <a:spcPts val="4500"/>
              </a:lnSpc>
              <a:buNone/>
            </a:pPr>
            <a:r>
              <a:rPr lang="en-US" sz="3600" b="1" dirty="0">
                <a:latin typeface="Times New Roman" panose="02020603050405020304" pitchFamily="18" charset="0"/>
                <a:ea typeface="Sora Semi Bold" pitchFamily="34" charset="-122"/>
                <a:cs typeface="Times New Roman" panose="02020603050405020304" pitchFamily="18" charset="0"/>
              </a:rPr>
              <a:t>Lối Sống Giản Dị và Khiêm Tốn</a:t>
            </a:r>
            <a:endParaRPr lang="en-US" sz="3600" b="1" dirty="0">
              <a:latin typeface="Times New Roman" panose="02020603050405020304" pitchFamily="18" charset="0"/>
              <a:cs typeface="Times New Roman" panose="02020603050405020304" pitchFamily="18" charset="0"/>
            </a:endParaRPr>
          </a:p>
        </p:txBody>
      </p:sp>
      <p:sp>
        <p:nvSpPr>
          <p:cNvPr id="4" name="Text 1"/>
          <p:cNvSpPr/>
          <p:nvPr/>
        </p:nvSpPr>
        <p:spPr>
          <a:xfrm>
            <a:off x="7536656" y="2791897"/>
            <a:ext cx="3359825" cy="345996"/>
          </a:xfrm>
          <a:prstGeom prst="rect">
            <a:avLst/>
          </a:prstGeom>
          <a:noFill/>
          <a:ln/>
        </p:spPr>
        <p:txBody>
          <a:bodyPr wrap="none" lIns="0" tIns="0" rIns="0" bIns="0" rtlCol="0" anchor="t"/>
          <a:lstStyle/>
          <a:p>
            <a:pPr marL="0" indent="0" algn="l">
              <a:lnSpc>
                <a:spcPts val="2700"/>
              </a:lnSpc>
              <a:buNone/>
            </a:pPr>
            <a:r>
              <a:rPr lang="en-US" sz="2400" b="1" dirty="0">
                <a:latin typeface="Times New Roman" panose="02020603050405020304" pitchFamily="18" charset="0"/>
                <a:ea typeface="Sora Semi Bold" pitchFamily="34" charset="-122"/>
                <a:cs typeface="Times New Roman" panose="02020603050405020304" pitchFamily="18" charset="0"/>
              </a:rPr>
              <a:t>Học Bác Cách Sống Đẹp</a:t>
            </a:r>
            <a:endParaRPr lang="en-US" sz="2400" b="1" dirty="0">
              <a:latin typeface="Times New Roman" panose="02020603050405020304" pitchFamily="18" charset="0"/>
              <a:cs typeface="Times New Roman" panose="02020603050405020304" pitchFamily="18" charset="0"/>
            </a:endParaRPr>
          </a:p>
        </p:txBody>
      </p:sp>
      <p:sp>
        <p:nvSpPr>
          <p:cNvPr id="5" name="Text 2"/>
          <p:cNvSpPr/>
          <p:nvPr/>
        </p:nvSpPr>
        <p:spPr>
          <a:xfrm>
            <a:off x="7536656" y="3279696"/>
            <a:ext cx="6153864" cy="761524"/>
          </a:xfrm>
          <a:prstGeom prst="rect">
            <a:avLst/>
          </a:prstGeom>
          <a:noFill/>
          <a:ln/>
        </p:spPr>
        <p:txBody>
          <a:bodyPr wrap="square" lIns="0" tIns="0" rIns="0" bIns="0" rtlCol="0" anchor="t"/>
          <a:lstStyle/>
          <a:p>
            <a:pPr marL="0" indent="0" algn="l">
              <a:lnSpc>
                <a:spcPts val="1950"/>
              </a:lnSpc>
              <a:buNone/>
            </a:pPr>
            <a:r>
              <a:rPr lang="en-US" sz="1600" b="1" dirty="0">
                <a:latin typeface="Times New Roman" panose="02020603050405020304" pitchFamily="18" charset="0"/>
                <a:ea typeface="Sora Light" pitchFamily="34" charset="-122"/>
                <a:cs typeface="Times New Roman" panose="02020603050405020304" pitchFamily="18" charset="0"/>
              </a:rPr>
              <a:t>Chủ tịch Hồ Chí Minh đã dạy chúng ta rằng sự giản dị không phải là nghèo nàn, mà là sự thanh cao trong tâm hồn. Lối sống giản dị giúp chúng ta:</a:t>
            </a:r>
            <a:endParaRPr lang="en-US" sz="1600" b="1" dirty="0">
              <a:latin typeface="Times New Roman" panose="02020603050405020304" pitchFamily="18" charset="0"/>
              <a:cs typeface="Times New Roman" panose="02020603050405020304" pitchFamily="18" charset="0"/>
            </a:endParaRPr>
          </a:p>
        </p:txBody>
      </p:sp>
      <p:sp>
        <p:nvSpPr>
          <p:cNvPr id="6" name="Text 3"/>
          <p:cNvSpPr/>
          <p:nvPr/>
        </p:nvSpPr>
        <p:spPr>
          <a:xfrm>
            <a:off x="7536656" y="4168855"/>
            <a:ext cx="6153864" cy="1015194"/>
          </a:xfrm>
          <a:prstGeom prst="rect">
            <a:avLst/>
          </a:prstGeom>
          <a:noFill/>
          <a:ln/>
        </p:spPr>
        <p:txBody>
          <a:bodyPr wrap="square" lIns="0" tIns="0" rIns="0" bIns="0" rtlCol="0" anchor="t"/>
          <a:lstStyle/>
          <a:p>
            <a:pPr marL="342900" indent="-342900" algn="l">
              <a:lnSpc>
                <a:spcPts val="1950"/>
              </a:lnSpc>
              <a:buSzPct val="100000"/>
              <a:buChar char="•"/>
            </a:pPr>
            <a:r>
              <a:rPr lang="en-US" sz="1600" b="1" dirty="0">
                <a:latin typeface="Times New Roman" panose="02020603050405020304" pitchFamily="18" charset="0"/>
                <a:ea typeface="Sora Light" pitchFamily="34" charset="-122"/>
                <a:cs typeface="Times New Roman" panose="02020603050405020304" pitchFamily="18" charset="0"/>
              </a:rPr>
              <a:t>Tiết kiệm tài nguyên quý báu của đất nước</a:t>
            </a:r>
            <a:endParaRPr lang="en-US" sz="1600" b="1"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sz="1600" b="1" dirty="0">
                <a:latin typeface="Times New Roman" panose="02020603050405020304" pitchFamily="18" charset="0"/>
                <a:ea typeface="Sora Light" pitchFamily="34" charset="-122"/>
                <a:cs typeface="Times New Roman" panose="02020603050405020304" pitchFamily="18" charset="0"/>
              </a:rPr>
              <a:t>Bảo vệ môi trường cho thế hệ tương lai</a:t>
            </a:r>
            <a:endParaRPr lang="en-US" sz="1600" b="1"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sz="1600" b="1" dirty="0">
                <a:latin typeface="Times New Roman" panose="02020603050405020304" pitchFamily="18" charset="0"/>
                <a:ea typeface="Sora Light" pitchFamily="34" charset="-122"/>
                <a:cs typeface="Times New Roman" panose="02020603050405020304" pitchFamily="18" charset="0"/>
              </a:rPr>
              <a:t>Sống có ý nghĩa hơn với những giá trị tinh thần</a:t>
            </a:r>
            <a:endParaRPr lang="en-US" sz="1600" b="1" dirty="0">
              <a:latin typeface="Times New Roman" panose="02020603050405020304" pitchFamily="18" charset="0"/>
              <a:cs typeface="Times New Roman" panose="02020603050405020304" pitchFamily="18" charset="0"/>
            </a:endParaRPr>
          </a:p>
          <a:p>
            <a:pPr marL="342900" indent="-342900" algn="l">
              <a:lnSpc>
                <a:spcPts val="1950"/>
              </a:lnSpc>
              <a:buSzPct val="100000"/>
              <a:buChar char="•"/>
            </a:pPr>
            <a:r>
              <a:rPr lang="en-US" sz="1600" b="1" dirty="0">
                <a:latin typeface="Times New Roman" panose="02020603050405020304" pitchFamily="18" charset="0"/>
                <a:ea typeface="Sora Light" pitchFamily="34" charset="-122"/>
                <a:cs typeface="Times New Roman" panose="02020603050405020304" pitchFamily="18" charset="0"/>
              </a:rPr>
              <a:t>Tập trung vào phát triển bản thân và cống hiến xã hội</a:t>
            </a:r>
            <a:endParaRPr lang="en-US" sz="1600" b="1"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8DF7BB86-0FF6-F9C6-9A67-79BC994BEB29}"/>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latin typeface="Times New Roman" panose="02020603050405020304" pitchFamily="18" charset="0"/>
              <a:cs typeface="Times New Roman" panose="02020603050405020304" pitchFamily="18" charset="0"/>
            </a:endParaRPr>
          </a:p>
        </p:txBody>
      </p:sp>
      <p:pic>
        <p:nvPicPr>
          <p:cNvPr id="17410" name="Picture 2" descr="Chùa Một Cột – Wikipedia tiếng Việt">
            <a:extLst>
              <a:ext uri="{FF2B5EF4-FFF2-40B4-BE49-F238E27FC236}">
                <a16:creationId xmlns:a16="http://schemas.microsoft.com/office/drawing/2014/main" id="{D1CCAB2B-4146-F28F-958B-1AD4E3300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9880" y="2088651"/>
            <a:ext cx="5961369" cy="501079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58309" y="1354574"/>
            <a:ext cx="8978265"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Lòng Yêu Nước Trong Thời Bình</a:t>
            </a:r>
            <a:endParaRPr lang="en-US" sz="4450" dirty="0">
              <a:latin typeface="Times New Roman" panose="02020603050405020304" pitchFamily="18" charset="0"/>
              <a:cs typeface="Times New Roman" panose="02020603050405020304" pitchFamily="18" charset="0"/>
            </a:endParaRPr>
          </a:p>
        </p:txBody>
      </p:sp>
      <p:sp>
        <p:nvSpPr>
          <p:cNvPr id="4" name="Text 1"/>
          <p:cNvSpPr/>
          <p:nvPr/>
        </p:nvSpPr>
        <p:spPr>
          <a:xfrm>
            <a:off x="532277" y="4992410"/>
            <a:ext cx="350603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Bảo Vệ Chủ Quyền Mạng</a:t>
            </a:r>
            <a:endParaRPr lang="en-US" sz="2200" dirty="0">
              <a:latin typeface="Times New Roman" panose="02020603050405020304" pitchFamily="18" charset="0"/>
              <a:cs typeface="Times New Roman" panose="02020603050405020304" pitchFamily="18" charset="0"/>
            </a:endParaRPr>
          </a:p>
        </p:txBody>
      </p:sp>
      <p:sp>
        <p:nvSpPr>
          <p:cNvPr id="5" name="Text 2"/>
          <p:cNvSpPr/>
          <p:nvPr/>
        </p:nvSpPr>
        <p:spPr>
          <a:xfrm>
            <a:off x="593925" y="5478542"/>
            <a:ext cx="4190762" cy="1040130"/>
          </a:xfrm>
          <a:prstGeom prst="rect">
            <a:avLst/>
          </a:prstGeom>
          <a:noFill/>
          <a:ln/>
        </p:spPr>
        <p:txBody>
          <a:bodyPr wrap="square" lIns="0" tIns="0" rIns="0" bIns="0" rtlCol="0" anchor="t"/>
          <a:lstStyle/>
          <a:p>
            <a:pPr marL="0" indent="0" algn="ctr">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Đấu tranh bảo vệ thông tin quốc gia trên không gian số, góp phần xây dựng hình ảnh đất nước tốt đẹp</a:t>
            </a:r>
            <a:endParaRPr lang="en-US" sz="1700" dirty="0">
              <a:latin typeface="Times New Roman" panose="02020603050405020304" pitchFamily="18" charset="0"/>
              <a:cs typeface="Times New Roman" panose="02020603050405020304" pitchFamily="18" charset="0"/>
            </a:endParaRPr>
          </a:p>
        </p:txBody>
      </p:sp>
      <p:sp>
        <p:nvSpPr>
          <p:cNvPr id="7" name="Text 3"/>
          <p:cNvSpPr/>
          <p:nvPr/>
        </p:nvSpPr>
        <p:spPr>
          <a:xfrm>
            <a:off x="5322559" y="4992410"/>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Quảng Bá Văn Hóa</a:t>
            </a:r>
            <a:endParaRPr lang="en-US" sz="2200" dirty="0">
              <a:latin typeface="Times New Roman" panose="02020603050405020304" pitchFamily="18" charset="0"/>
              <a:cs typeface="Times New Roman" panose="02020603050405020304" pitchFamily="18" charset="0"/>
            </a:endParaRPr>
          </a:p>
        </p:txBody>
      </p:sp>
      <p:sp>
        <p:nvSpPr>
          <p:cNvPr id="8" name="Text 4"/>
          <p:cNvSpPr/>
          <p:nvPr/>
        </p:nvSpPr>
        <p:spPr>
          <a:xfrm>
            <a:off x="5055435" y="5478542"/>
            <a:ext cx="4190762" cy="1040130"/>
          </a:xfrm>
          <a:prstGeom prst="rect">
            <a:avLst/>
          </a:prstGeom>
          <a:noFill/>
          <a:ln/>
        </p:spPr>
        <p:txBody>
          <a:bodyPr wrap="square" lIns="0" tIns="0" rIns="0" bIns="0" rtlCol="0" anchor="t"/>
          <a:lstStyle/>
          <a:p>
            <a:pPr marL="0" indent="0" algn="ctr">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Tự hào giới thiệu bản sắc văn hóa Việt Nam ra thế giới, là đại sứ văn hóa trên mọi mặt trận</a:t>
            </a:r>
            <a:endParaRPr lang="en-US" sz="1700" dirty="0">
              <a:latin typeface="Times New Roman" panose="02020603050405020304" pitchFamily="18" charset="0"/>
              <a:cs typeface="Times New Roman" panose="02020603050405020304" pitchFamily="18" charset="0"/>
            </a:endParaRPr>
          </a:p>
        </p:txBody>
      </p:sp>
      <p:sp>
        <p:nvSpPr>
          <p:cNvPr id="10" name="Text 5"/>
          <p:cNvSpPr/>
          <p:nvPr/>
        </p:nvSpPr>
        <p:spPr>
          <a:xfrm>
            <a:off x="10025747" y="4991580"/>
            <a:ext cx="2850713" cy="356235"/>
          </a:xfrm>
          <a:prstGeom prst="rect">
            <a:avLst/>
          </a:prstGeom>
          <a:noFill/>
          <a:ln/>
        </p:spPr>
        <p:txBody>
          <a:bodyPr wrap="none" lIns="0" tIns="0" rIns="0" bIns="0" rtlCol="0" anchor="t"/>
          <a:lstStyle/>
          <a:p>
            <a:pPr marL="0" indent="0" algn="ctr">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Hành Động Cụ Thể</a:t>
            </a:r>
            <a:endParaRPr lang="en-US" sz="2200" dirty="0">
              <a:latin typeface="Times New Roman" panose="02020603050405020304" pitchFamily="18" charset="0"/>
              <a:cs typeface="Times New Roman" panose="02020603050405020304" pitchFamily="18" charset="0"/>
            </a:endParaRPr>
          </a:p>
        </p:txBody>
      </p:sp>
      <p:sp>
        <p:nvSpPr>
          <p:cNvPr id="11" name="Text 6"/>
          <p:cNvSpPr/>
          <p:nvPr/>
        </p:nvSpPr>
        <p:spPr>
          <a:xfrm>
            <a:off x="9516945" y="5478542"/>
            <a:ext cx="4190762" cy="1040130"/>
          </a:xfrm>
          <a:prstGeom prst="rect">
            <a:avLst/>
          </a:prstGeom>
          <a:noFill/>
          <a:ln/>
        </p:spPr>
        <p:txBody>
          <a:bodyPr wrap="square" lIns="0" tIns="0" rIns="0" bIns="0" rtlCol="0" anchor="t"/>
          <a:lstStyle/>
          <a:p>
            <a:pPr marL="0" indent="0" algn="ctr">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Yêu nước không chỉ bằng lời nói mà bằng hành động thiết thực mỗi ngày, từ việc nhỏ đến lớn</a:t>
            </a:r>
            <a:endParaRPr lang="en-US" sz="1700" dirty="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10029E4F-34B9-43CF-9C66-90DD9AA36107}"/>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6386" name="Picture 2" descr="Hội Lim là di sản văn hóa phi vật thể quốc gia">
            <a:extLst>
              <a:ext uri="{FF2B5EF4-FFF2-40B4-BE49-F238E27FC236}">
                <a16:creationId xmlns:a16="http://schemas.microsoft.com/office/drawing/2014/main" id="{96BB5B95-7913-87CB-8E52-950CCD3A28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5947" y="2856905"/>
            <a:ext cx="2671602" cy="188284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ình ảnh Dinh Độc Lập - Một ký ức hào hùng của con người Việt Nam">
            <a:extLst>
              <a:ext uri="{FF2B5EF4-FFF2-40B4-BE49-F238E27FC236}">
                <a16:creationId xmlns:a16="http://schemas.microsoft.com/office/drawing/2014/main" id="{6E4DECFE-B480-A769-F7C5-7671CB9230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7573" y="2856905"/>
            <a:ext cx="2823638" cy="1882844"/>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Lăng Bác Hồ – Mega Story">
            <a:extLst>
              <a:ext uri="{FF2B5EF4-FFF2-40B4-BE49-F238E27FC236}">
                <a16:creationId xmlns:a16="http://schemas.microsoft.com/office/drawing/2014/main" id="{0C32CAFC-E9D6-DDF8-5099-F72579C0397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6295" y="2863588"/>
            <a:ext cx="2972034" cy="18761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7315200" y="1303853"/>
            <a:ext cx="5701546" cy="712708"/>
          </a:xfrm>
          <a:prstGeom prst="rect">
            <a:avLst/>
          </a:prstGeom>
          <a:noFill/>
          <a:ln/>
        </p:spPr>
        <p:txBody>
          <a:bodyPr wrap="none" lIns="0" tIns="0" rIns="0" bIns="0" rtlCol="0" anchor="t"/>
          <a:lstStyle/>
          <a:p>
            <a:pPr marL="0" indent="0" algn="l">
              <a:lnSpc>
                <a:spcPts val="5600"/>
              </a:lnSpc>
              <a:buNone/>
            </a:pPr>
            <a:r>
              <a:rPr lang="en-US" sz="4450" dirty="0">
                <a:solidFill>
                  <a:srgbClr val="1F1E1E"/>
                </a:solidFill>
                <a:latin typeface="Times New Roman" panose="02020603050405020304" pitchFamily="18" charset="0"/>
                <a:ea typeface="Sora Semi Bold" pitchFamily="34" charset="-122"/>
                <a:cs typeface="Times New Roman" panose="02020603050405020304" pitchFamily="18" charset="0"/>
              </a:rPr>
              <a:t>Tinh Thần Đoàn Kết</a:t>
            </a:r>
            <a:endParaRPr lang="en-US" sz="4450" dirty="0">
              <a:latin typeface="Times New Roman" panose="02020603050405020304" pitchFamily="18" charset="0"/>
              <a:cs typeface="Times New Roman" panose="02020603050405020304" pitchFamily="18" charset="0"/>
            </a:endParaRPr>
          </a:p>
        </p:txBody>
      </p:sp>
      <p:sp>
        <p:nvSpPr>
          <p:cNvPr id="4" name="Shape 1"/>
          <p:cNvSpPr/>
          <p:nvPr/>
        </p:nvSpPr>
        <p:spPr>
          <a:xfrm>
            <a:off x="6244709" y="2341483"/>
            <a:ext cx="2398038" cy="4584263"/>
          </a:xfrm>
          <a:prstGeom prst="roundRect">
            <a:avLst>
              <a:gd name="adj" fmla="val 3795"/>
            </a:avLst>
          </a:prstGeom>
          <a:solidFill>
            <a:srgbClr val="F9D2D6"/>
          </a:solidFill>
          <a:ln w="7620">
            <a:solidFill>
              <a:srgbClr val="DFB8BC"/>
            </a:solidFill>
            <a:prstDash val="solid"/>
          </a:ln>
        </p:spPr>
      </p:sp>
      <p:sp>
        <p:nvSpPr>
          <p:cNvPr id="5" name="Shape 2"/>
          <p:cNvSpPr/>
          <p:nvPr/>
        </p:nvSpPr>
        <p:spPr>
          <a:xfrm>
            <a:off x="6468904" y="2565678"/>
            <a:ext cx="649962" cy="649962"/>
          </a:xfrm>
          <a:prstGeom prst="roundRect">
            <a:avLst>
              <a:gd name="adj" fmla="val 14067108"/>
            </a:avLst>
          </a:prstGeom>
          <a:solidFill>
            <a:srgbClr val="DA1B2E"/>
          </a:solidFill>
          <a:ln/>
        </p:spPr>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47617" y="2744391"/>
            <a:ext cx="292418" cy="292418"/>
          </a:xfrm>
          <a:prstGeom prst="rect">
            <a:avLst/>
          </a:prstGeom>
        </p:spPr>
      </p:pic>
      <p:sp>
        <p:nvSpPr>
          <p:cNvPr id="7" name="Text 3"/>
          <p:cNvSpPr/>
          <p:nvPr/>
        </p:nvSpPr>
        <p:spPr>
          <a:xfrm>
            <a:off x="6468904" y="3432215"/>
            <a:ext cx="1949648" cy="712470"/>
          </a:xfrm>
          <a:prstGeom prst="rect">
            <a:avLst/>
          </a:prstGeom>
          <a:noFill/>
          <a:ln/>
        </p:spPr>
        <p:txBody>
          <a:bodyPr wrap="squar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Sức Mạnh Tập Thể</a:t>
            </a:r>
            <a:endParaRPr lang="en-US" sz="2200" dirty="0">
              <a:latin typeface="Times New Roman" panose="02020603050405020304" pitchFamily="18" charset="0"/>
              <a:cs typeface="Times New Roman" panose="02020603050405020304" pitchFamily="18" charset="0"/>
            </a:endParaRPr>
          </a:p>
        </p:txBody>
      </p:sp>
      <p:sp>
        <p:nvSpPr>
          <p:cNvPr id="8" name="Text 4"/>
          <p:cNvSpPr/>
          <p:nvPr/>
        </p:nvSpPr>
        <p:spPr>
          <a:xfrm>
            <a:off x="6468904" y="4274582"/>
            <a:ext cx="1949648" cy="242697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Kết nối với nhau để tạo ra sức mạnh vượt trội, một cây làm chẳng nên non, ba cây chụm lại nên hòn núi cao</a:t>
            </a:r>
            <a:endParaRPr lang="en-US" sz="1700" dirty="0">
              <a:latin typeface="Times New Roman" panose="02020603050405020304" pitchFamily="18" charset="0"/>
              <a:cs typeface="Times New Roman" panose="02020603050405020304" pitchFamily="18" charset="0"/>
            </a:endParaRPr>
          </a:p>
        </p:txBody>
      </p:sp>
      <p:sp>
        <p:nvSpPr>
          <p:cNvPr id="9" name="Shape 5"/>
          <p:cNvSpPr/>
          <p:nvPr/>
        </p:nvSpPr>
        <p:spPr>
          <a:xfrm>
            <a:off x="8859322" y="2341483"/>
            <a:ext cx="2398038" cy="4584263"/>
          </a:xfrm>
          <a:prstGeom prst="roundRect">
            <a:avLst>
              <a:gd name="adj" fmla="val 3795"/>
            </a:avLst>
          </a:prstGeom>
          <a:solidFill>
            <a:srgbClr val="F9D2D6"/>
          </a:solidFill>
          <a:ln w="7620">
            <a:solidFill>
              <a:srgbClr val="DFB8BC"/>
            </a:solidFill>
            <a:prstDash val="solid"/>
          </a:ln>
        </p:spPr>
      </p:sp>
      <p:sp>
        <p:nvSpPr>
          <p:cNvPr id="10" name="Shape 6"/>
          <p:cNvSpPr/>
          <p:nvPr/>
        </p:nvSpPr>
        <p:spPr>
          <a:xfrm>
            <a:off x="9083516" y="2565678"/>
            <a:ext cx="649962" cy="649962"/>
          </a:xfrm>
          <a:prstGeom prst="roundRect">
            <a:avLst>
              <a:gd name="adj" fmla="val 14067108"/>
            </a:avLst>
          </a:prstGeom>
          <a:solidFill>
            <a:srgbClr val="DA1B2E"/>
          </a:solidFill>
          <a:ln/>
        </p:spPr>
      </p:sp>
      <p:pic>
        <p:nvPicPr>
          <p:cNvPr id="11"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62229" y="2744391"/>
            <a:ext cx="292418" cy="292418"/>
          </a:xfrm>
          <a:prstGeom prst="rect">
            <a:avLst/>
          </a:prstGeom>
        </p:spPr>
      </p:pic>
      <p:sp>
        <p:nvSpPr>
          <p:cNvPr id="12" name="Text 7"/>
          <p:cNvSpPr/>
          <p:nvPr/>
        </p:nvSpPr>
        <p:spPr>
          <a:xfrm>
            <a:off x="9083516" y="3432215"/>
            <a:ext cx="1949648" cy="712470"/>
          </a:xfrm>
          <a:prstGeom prst="rect">
            <a:avLst/>
          </a:prstGeom>
          <a:noFill/>
          <a:ln/>
        </p:spPr>
        <p:txBody>
          <a:bodyPr wrap="squar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Giúp Đỡ Đồng Đội</a:t>
            </a:r>
            <a:endParaRPr lang="en-US" sz="2200" dirty="0">
              <a:latin typeface="Times New Roman" panose="02020603050405020304" pitchFamily="18" charset="0"/>
              <a:cs typeface="Times New Roman" panose="02020603050405020304" pitchFamily="18" charset="0"/>
            </a:endParaRPr>
          </a:p>
        </p:txBody>
      </p:sp>
      <p:sp>
        <p:nvSpPr>
          <p:cNvPr id="13" name="Text 8"/>
          <p:cNvSpPr/>
          <p:nvPr/>
        </p:nvSpPr>
        <p:spPr>
          <a:xfrm>
            <a:off x="9083516" y="4274582"/>
            <a:ext cx="1949648" cy="208026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Cùng nhau tiến bộ, không ai bị bỏ lại phía sau, mỗi người mạnh lên là cả tập thể mạnh lên</a:t>
            </a:r>
            <a:endParaRPr lang="en-US" sz="1700" dirty="0">
              <a:latin typeface="Times New Roman" panose="02020603050405020304" pitchFamily="18" charset="0"/>
              <a:cs typeface="Times New Roman" panose="02020603050405020304" pitchFamily="18" charset="0"/>
            </a:endParaRPr>
          </a:p>
        </p:txBody>
      </p:sp>
      <p:sp>
        <p:nvSpPr>
          <p:cNvPr id="14" name="Shape 9"/>
          <p:cNvSpPr/>
          <p:nvPr/>
        </p:nvSpPr>
        <p:spPr>
          <a:xfrm>
            <a:off x="11473934" y="2341483"/>
            <a:ext cx="2398038" cy="4584263"/>
          </a:xfrm>
          <a:prstGeom prst="roundRect">
            <a:avLst>
              <a:gd name="adj" fmla="val 3795"/>
            </a:avLst>
          </a:prstGeom>
          <a:solidFill>
            <a:srgbClr val="F9D2D6"/>
          </a:solidFill>
          <a:ln w="7620">
            <a:solidFill>
              <a:srgbClr val="DFB8BC"/>
            </a:solidFill>
            <a:prstDash val="solid"/>
          </a:ln>
        </p:spPr>
      </p:sp>
      <p:sp>
        <p:nvSpPr>
          <p:cNvPr id="15" name="Shape 10"/>
          <p:cNvSpPr/>
          <p:nvPr/>
        </p:nvSpPr>
        <p:spPr>
          <a:xfrm>
            <a:off x="11698129" y="2565678"/>
            <a:ext cx="649962" cy="649962"/>
          </a:xfrm>
          <a:prstGeom prst="roundRect">
            <a:avLst>
              <a:gd name="adj" fmla="val 14067108"/>
            </a:avLst>
          </a:prstGeom>
          <a:solidFill>
            <a:srgbClr val="DA1B2E"/>
          </a:solidFill>
          <a:ln/>
        </p:spPr>
      </p:sp>
      <p:pic>
        <p:nvPicPr>
          <p:cNvPr id="16"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876842" y="2744391"/>
            <a:ext cx="292418" cy="292418"/>
          </a:xfrm>
          <a:prstGeom prst="rect">
            <a:avLst/>
          </a:prstGeom>
        </p:spPr>
      </p:pic>
      <p:sp>
        <p:nvSpPr>
          <p:cNvPr id="17" name="Text 11"/>
          <p:cNvSpPr/>
          <p:nvPr/>
        </p:nvSpPr>
        <p:spPr>
          <a:xfrm>
            <a:off x="11698129" y="3432215"/>
            <a:ext cx="1949648" cy="712470"/>
          </a:xfrm>
          <a:prstGeom prst="rect">
            <a:avLst/>
          </a:prstGeom>
          <a:noFill/>
          <a:ln/>
        </p:spPr>
        <p:txBody>
          <a:bodyPr wrap="square" lIns="0" tIns="0" rIns="0" bIns="0" rtlCol="0" anchor="t"/>
          <a:lstStyle/>
          <a:p>
            <a:pPr marL="0" indent="0" algn="l">
              <a:lnSpc>
                <a:spcPts val="2800"/>
              </a:lnSpc>
              <a:buNone/>
            </a:pPr>
            <a:r>
              <a:rPr lang="en-US" sz="2200" dirty="0">
                <a:solidFill>
                  <a:srgbClr val="3B3535"/>
                </a:solidFill>
                <a:latin typeface="Times New Roman" panose="02020603050405020304" pitchFamily="18" charset="0"/>
                <a:ea typeface="Sora Semi Bold" pitchFamily="34" charset="-122"/>
                <a:cs typeface="Times New Roman" panose="02020603050405020304" pitchFamily="18" charset="0"/>
              </a:rPr>
              <a:t>Cùng Một Mục Tiêu</a:t>
            </a:r>
            <a:endParaRPr lang="en-US" sz="2200" dirty="0">
              <a:latin typeface="Times New Roman" panose="02020603050405020304" pitchFamily="18" charset="0"/>
              <a:cs typeface="Times New Roman" panose="02020603050405020304" pitchFamily="18" charset="0"/>
            </a:endParaRPr>
          </a:p>
        </p:txBody>
      </p:sp>
      <p:sp>
        <p:nvSpPr>
          <p:cNvPr id="18" name="Text 12"/>
          <p:cNvSpPr/>
          <p:nvPr/>
        </p:nvSpPr>
        <p:spPr>
          <a:xfrm>
            <a:off x="11698129" y="4274582"/>
            <a:ext cx="1949648" cy="2080260"/>
          </a:xfrm>
          <a:prstGeom prst="rect">
            <a:avLst/>
          </a:prstGeom>
          <a:noFill/>
          <a:ln/>
        </p:spPr>
        <p:txBody>
          <a:bodyPr wrap="square" lIns="0" tIns="0" rIns="0" bIns="0" rtlCol="0" anchor="t"/>
          <a:lstStyle/>
          <a:p>
            <a:pPr marL="0" indent="0" algn="l">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Hướng tới tương lai tươi sáng cho đất nước, với tinh thần đoàn kết làm nền tảng cho mọi thành công</a:t>
            </a:r>
            <a:endParaRPr lang="en-US" sz="1700" dirty="0">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EFD1F3CD-7278-725C-A9D9-19AC05EA9210}"/>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5364" name="Picture 4" descr="Học nhóm online – Giải pháp giúp con tự tin bứt phá thi cuối học kì I">
            <a:extLst>
              <a:ext uri="{FF2B5EF4-FFF2-40B4-BE49-F238E27FC236}">
                <a16:creationId xmlns:a16="http://schemas.microsoft.com/office/drawing/2014/main" id="{F7A9C1F3-F28B-CD6B-1E2A-542E3154372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1516" y="2884712"/>
            <a:ext cx="5828997" cy="349780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3778911" y="3933158"/>
            <a:ext cx="8264366" cy="983575"/>
          </a:xfrm>
          <a:prstGeom prst="rect">
            <a:avLst/>
          </a:prstGeom>
          <a:noFill/>
          <a:ln/>
        </p:spPr>
        <p:txBody>
          <a:bodyPr wrap="none" lIns="0" tIns="0" rIns="0" bIns="0" rtlCol="0" anchor="t"/>
          <a:lstStyle/>
          <a:p>
            <a:pPr marL="0" indent="0" algn="l">
              <a:lnSpc>
                <a:spcPts val="7700"/>
              </a:lnSpc>
              <a:buNone/>
            </a:pPr>
            <a:r>
              <a:rPr lang="en-US" sz="6150" dirty="0">
                <a:solidFill>
                  <a:srgbClr val="1F1E1E"/>
                </a:solidFill>
                <a:latin typeface="Times New Roman" panose="02020603050405020304" pitchFamily="18" charset="0"/>
                <a:ea typeface="Sora Semi Bold" pitchFamily="34" charset="-122"/>
                <a:cs typeface="Times New Roman" panose="02020603050405020304" pitchFamily="18" charset="0"/>
              </a:rPr>
              <a:t>Thông Điệp Gửi Gắm</a:t>
            </a:r>
            <a:endParaRPr lang="en-US" sz="6150" dirty="0">
              <a:latin typeface="Times New Roman" panose="02020603050405020304" pitchFamily="18" charset="0"/>
              <a:cs typeface="Times New Roman" panose="02020603050405020304" pitchFamily="18" charset="0"/>
            </a:endParaRPr>
          </a:p>
        </p:txBody>
      </p:sp>
      <p:sp>
        <p:nvSpPr>
          <p:cNvPr id="4" name="Text 1"/>
          <p:cNvSpPr/>
          <p:nvPr/>
        </p:nvSpPr>
        <p:spPr>
          <a:xfrm>
            <a:off x="3425739" y="5442668"/>
            <a:ext cx="12788860" cy="346710"/>
          </a:xfrm>
          <a:prstGeom prst="rect">
            <a:avLst/>
          </a:prstGeom>
          <a:noFill/>
          <a:ln/>
        </p:spPr>
        <p:txBody>
          <a:bodyPr wrap="none" lIns="0" tIns="0" rIns="0" bIns="0" rtlCol="0" anchor="t"/>
          <a:lstStyle/>
          <a:p>
            <a:pPr marL="0" indent="0" algn="l">
              <a:lnSpc>
                <a:spcPts val="2700"/>
              </a:lnSpc>
              <a:buNone/>
            </a:pPr>
            <a:r>
              <a:rPr lang="en-US" sz="1700" b="1" dirty="0">
                <a:solidFill>
                  <a:srgbClr val="3B3535"/>
                </a:solidFill>
                <a:latin typeface="Times New Roman" panose="02020603050405020304" pitchFamily="18" charset="0"/>
                <a:ea typeface="Sora Light" pitchFamily="34" charset="-122"/>
                <a:cs typeface="Times New Roman" panose="02020603050405020304" pitchFamily="18" charset="0"/>
              </a:rPr>
              <a:t>"Đừng hỏi Tổ quốc đã làm gì cho ta, mà hãy hỏi ta đã làm gì cho Tổ quốc hôm nay."</a:t>
            </a:r>
            <a:endParaRPr lang="en-US" sz="1700" dirty="0">
              <a:latin typeface="Times New Roman" panose="02020603050405020304" pitchFamily="18" charset="0"/>
              <a:cs typeface="Times New Roman" panose="02020603050405020304" pitchFamily="18" charset="0"/>
            </a:endParaRPr>
          </a:p>
        </p:txBody>
      </p:sp>
      <p:sp>
        <p:nvSpPr>
          <p:cNvPr id="6" name="Text 3"/>
          <p:cNvSpPr/>
          <p:nvPr/>
        </p:nvSpPr>
        <p:spPr>
          <a:xfrm>
            <a:off x="758309" y="6315313"/>
            <a:ext cx="13113782" cy="693420"/>
          </a:xfrm>
          <a:prstGeom prst="rect">
            <a:avLst/>
          </a:prstGeom>
          <a:noFill/>
          <a:ln/>
        </p:spPr>
        <p:txBody>
          <a:bodyPr wrap="square" lIns="0" tIns="0" rIns="0" bIns="0" rtlCol="0" anchor="t"/>
          <a:lstStyle/>
          <a:p>
            <a:pPr marL="0" indent="0" algn="ctr">
              <a:lnSpc>
                <a:spcPts val="2700"/>
              </a:lnSpc>
              <a:buNone/>
            </a:pPr>
            <a:r>
              <a:rPr lang="en-US" sz="1700" dirty="0">
                <a:solidFill>
                  <a:srgbClr val="3B3535"/>
                </a:solidFill>
                <a:latin typeface="Times New Roman" panose="02020603050405020304" pitchFamily="18" charset="0"/>
                <a:ea typeface="Sora Light" pitchFamily="34" charset="-122"/>
                <a:cs typeface="Times New Roman" panose="02020603050405020304" pitchFamily="18" charset="0"/>
              </a:rPr>
              <a:t>Mỗi chúng ta đều có thể và nên đóng góp một phần sức lực của mình vào sự nghiệp xây dựng đất nước. Hành động ngay hôm nay, đừng chờ đợi ngày mai.</a:t>
            </a:r>
            <a:endParaRPr lang="en-US" sz="1700" dirty="0">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1369ECC-CE0E-C7EA-38D7-DFE2D5566499}"/>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pic>
        <p:nvPicPr>
          <p:cNvPr id="12290" name="Picture 2" descr="Tả ảnh Bác Hồ (60 mẫu) - Tập làm văn lớp 2">
            <a:extLst>
              <a:ext uri="{FF2B5EF4-FFF2-40B4-BE49-F238E27FC236}">
                <a16:creationId xmlns:a16="http://schemas.microsoft.com/office/drawing/2014/main" id="{B73339AF-AC2C-3D70-3998-16A41F58D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1450" y="189547"/>
            <a:ext cx="6667500" cy="3495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892" y="517684"/>
            <a:ext cx="5947172" cy="619244"/>
          </a:xfrm>
          <a:prstGeom prst="rect">
            <a:avLst/>
          </a:prstGeom>
          <a:noFill/>
          <a:ln/>
        </p:spPr>
        <p:txBody>
          <a:bodyPr wrap="none" lIns="0" tIns="0" rIns="0" bIns="0" rtlCol="0" anchor="t"/>
          <a:lstStyle/>
          <a:p>
            <a:pPr marL="0" indent="0" algn="l">
              <a:lnSpc>
                <a:spcPts val="4850"/>
              </a:lnSpc>
              <a:buNone/>
            </a:pPr>
            <a:r>
              <a:rPr lang="en-US" sz="3900" dirty="0">
                <a:solidFill>
                  <a:srgbClr val="1F1E1E"/>
                </a:solidFill>
                <a:latin typeface="Times New Roman" panose="02020603050405020304" pitchFamily="18" charset="0"/>
                <a:ea typeface="Sora Semi Bold" pitchFamily="34" charset="-122"/>
                <a:cs typeface="Times New Roman" panose="02020603050405020304" pitchFamily="18" charset="0"/>
              </a:rPr>
              <a:t>Hành Động Từ Hôm Nay</a:t>
            </a:r>
            <a:endParaRPr lang="en-US" sz="3900" dirty="0">
              <a:latin typeface="Times New Roman" panose="02020603050405020304" pitchFamily="18" charset="0"/>
              <a:cs typeface="Times New Roman" panose="02020603050405020304" pitchFamily="18" charset="0"/>
            </a:endParaRPr>
          </a:p>
        </p:txBody>
      </p:sp>
      <p:pic>
        <p:nvPicPr>
          <p:cNvPr id="3" name="Image 0" descr="preencoded.png"/>
          <p:cNvPicPr>
            <a:picLocks noChangeAspect="1"/>
          </p:cNvPicPr>
          <p:nvPr/>
        </p:nvPicPr>
        <p:blipFill>
          <a:blip r:embed="rId3"/>
          <a:stretch>
            <a:fillRect/>
          </a:stretch>
        </p:blipFill>
        <p:spPr>
          <a:xfrm>
            <a:off x="658892" y="1463993"/>
            <a:ext cx="13312616" cy="5843826"/>
          </a:xfrm>
          <a:prstGeom prst="rect">
            <a:avLst/>
          </a:prstGeom>
        </p:spPr>
      </p:pic>
      <p:sp>
        <p:nvSpPr>
          <p:cNvPr id="4" name="Text 1"/>
          <p:cNvSpPr/>
          <p:nvPr/>
        </p:nvSpPr>
        <p:spPr>
          <a:xfrm>
            <a:off x="2917257" y="5645856"/>
            <a:ext cx="2333556" cy="379643"/>
          </a:xfrm>
          <a:prstGeom prst="rect">
            <a:avLst/>
          </a:prstGeom>
          <a:noFill/>
          <a:ln/>
        </p:spPr>
        <p:txBody>
          <a:bodyPr wrap="none" lIns="0" tIns="0" rIns="0" bIns="0" rtlCol="0" anchor="t"/>
          <a:lstStyle/>
          <a:p>
            <a:pPr marL="0" indent="0" algn="ctr">
              <a:buNone/>
            </a:pPr>
            <a:r>
              <a:rPr lang="en-US" b="1" dirty="0">
                <a:solidFill>
                  <a:srgbClr val="1F1E1E"/>
                </a:solidFill>
                <a:latin typeface="Times New Roman" panose="02020603050405020304" pitchFamily="18" charset="0"/>
                <a:ea typeface="Sora Semi Bold" pitchFamily="34" charset="-122"/>
                <a:cs typeface="Times New Roman" panose="02020603050405020304" pitchFamily="18" charset="0"/>
              </a:rPr>
              <a:t>Suy nghĩ</a:t>
            </a:r>
            <a:endParaRPr lang="en-US" b="1" dirty="0">
              <a:latin typeface="Times New Roman" panose="02020603050405020304" pitchFamily="18" charset="0"/>
              <a:cs typeface="Times New Roman" panose="02020603050405020304" pitchFamily="18" charset="0"/>
            </a:endParaRPr>
          </a:p>
        </p:txBody>
      </p:sp>
      <p:sp>
        <p:nvSpPr>
          <p:cNvPr id="5" name="Text 2"/>
          <p:cNvSpPr/>
          <p:nvPr/>
        </p:nvSpPr>
        <p:spPr>
          <a:xfrm>
            <a:off x="2917257" y="6128073"/>
            <a:ext cx="2333556" cy="538914"/>
          </a:xfrm>
          <a:prstGeom prst="rect">
            <a:avLst/>
          </a:prstGeom>
          <a:noFill/>
          <a:ln/>
        </p:spPr>
        <p:txBody>
          <a:bodyPr wrap="square" lIns="0" tIns="0" rIns="0" bIns="0" rtlCol="0" anchor="t"/>
          <a:lstStyle/>
          <a:p>
            <a:pPr marL="0" indent="0" algn="ctr">
              <a:buNone/>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Nhận trách nhiệm cá nhân</a:t>
            </a:r>
            <a:endParaRPr lang="en-US" dirty="0">
              <a:latin typeface="Times New Roman" panose="02020603050405020304" pitchFamily="18" charset="0"/>
              <a:cs typeface="Times New Roman" panose="02020603050405020304" pitchFamily="18" charset="0"/>
            </a:endParaRPr>
          </a:p>
        </p:txBody>
      </p:sp>
      <p:sp>
        <p:nvSpPr>
          <p:cNvPr id="6" name="Text 3"/>
          <p:cNvSpPr/>
          <p:nvPr/>
        </p:nvSpPr>
        <p:spPr>
          <a:xfrm>
            <a:off x="9469164" y="5556104"/>
            <a:ext cx="2333556" cy="379643"/>
          </a:xfrm>
          <a:prstGeom prst="rect">
            <a:avLst/>
          </a:prstGeom>
          <a:noFill/>
          <a:ln/>
        </p:spPr>
        <p:txBody>
          <a:bodyPr wrap="none" lIns="0" tIns="0" rIns="0" bIns="0" rtlCol="0" anchor="t"/>
          <a:lstStyle/>
          <a:p>
            <a:pPr marL="0" indent="0" algn="ctr">
              <a:buNone/>
            </a:pPr>
            <a:r>
              <a:rPr lang="en-US" b="1" dirty="0">
                <a:solidFill>
                  <a:srgbClr val="1F1E1E"/>
                </a:solidFill>
                <a:latin typeface="Times New Roman" panose="02020603050405020304" pitchFamily="18" charset="0"/>
                <a:ea typeface="Sora Semi Bold" pitchFamily="34" charset="-122"/>
                <a:cs typeface="Times New Roman" panose="02020603050405020304" pitchFamily="18" charset="0"/>
              </a:rPr>
              <a:t>Thực hiện</a:t>
            </a:r>
            <a:endParaRPr lang="en-US" b="1" dirty="0">
              <a:latin typeface="Times New Roman" panose="02020603050405020304" pitchFamily="18" charset="0"/>
              <a:cs typeface="Times New Roman" panose="02020603050405020304" pitchFamily="18" charset="0"/>
            </a:endParaRPr>
          </a:p>
        </p:txBody>
      </p:sp>
      <p:sp>
        <p:nvSpPr>
          <p:cNvPr id="7" name="Text 4"/>
          <p:cNvSpPr/>
          <p:nvPr/>
        </p:nvSpPr>
        <p:spPr>
          <a:xfrm>
            <a:off x="9469164" y="6038321"/>
            <a:ext cx="2333556" cy="538914"/>
          </a:xfrm>
          <a:prstGeom prst="rect">
            <a:avLst/>
          </a:prstGeom>
          <a:noFill/>
          <a:ln/>
        </p:spPr>
        <p:txBody>
          <a:bodyPr wrap="square" lIns="0" tIns="0" rIns="0" bIns="0" rtlCol="0" anchor="t"/>
          <a:lstStyle/>
          <a:p>
            <a:pPr marL="0" indent="0" algn="ctr">
              <a:buNone/>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Hành động đều đặn mỗi ngày</a:t>
            </a:r>
            <a:endParaRPr lang="en-US" dirty="0">
              <a:latin typeface="Times New Roman" panose="02020603050405020304" pitchFamily="18" charset="0"/>
              <a:cs typeface="Times New Roman" panose="02020603050405020304" pitchFamily="18" charset="0"/>
            </a:endParaRPr>
          </a:p>
        </p:txBody>
      </p:sp>
      <p:sp>
        <p:nvSpPr>
          <p:cNvPr id="8" name="Text 5"/>
          <p:cNvSpPr/>
          <p:nvPr/>
        </p:nvSpPr>
        <p:spPr>
          <a:xfrm>
            <a:off x="6212443" y="2076805"/>
            <a:ext cx="2333556" cy="379644"/>
          </a:xfrm>
          <a:prstGeom prst="rect">
            <a:avLst/>
          </a:prstGeom>
          <a:noFill/>
          <a:ln/>
        </p:spPr>
        <p:txBody>
          <a:bodyPr wrap="none" lIns="0" tIns="0" rIns="0" bIns="0" rtlCol="0" anchor="t"/>
          <a:lstStyle/>
          <a:p>
            <a:pPr marL="0" indent="0" algn="ctr">
              <a:buNone/>
            </a:pPr>
            <a:r>
              <a:rPr lang="en-US" b="1" dirty="0">
                <a:solidFill>
                  <a:srgbClr val="1F1E1E"/>
                </a:solidFill>
                <a:latin typeface="Times New Roman" panose="02020603050405020304" pitchFamily="18" charset="0"/>
                <a:ea typeface="Sora Semi Bold" pitchFamily="34" charset="-122"/>
                <a:cs typeface="Times New Roman" panose="02020603050405020304" pitchFamily="18" charset="0"/>
              </a:rPr>
              <a:t>Lập kế hoạch</a:t>
            </a:r>
            <a:endParaRPr lang="en-US" b="1" dirty="0">
              <a:latin typeface="Times New Roman" panose="02020603050405020304" pitchFamily="18" charset="0"/>
              <a:cs typeface="Times New Roman" panose="02020603050405020304" pitchFamily="18" charset="0"/>
            </a:endParaRPr>
          </a:p>
        </p:txBody>
      </p:sp>
      <p:sp>
        <p:nvSpPr>
          <p:cNvPr id="9" name="Text 6"/>
          <p:cNvSpPr/>
          <p:nvPr/>
        </p:nvSpPr>
        <p:spPr>
          <a:xfrm>
            <a:off x="6212443" y="2559022"/>
            <a:ext cx="2333556" cy="538914"/>
          </a:xfrm>
          <a:prstGeom prst="rect">
            <a:avLst/>
          </a:prstGeom>
          <a:noFill/>
          <a:ln/>
        </p:spPr>
        <p:txBody>
          <a:bodyPr wrap="square" lIns="0" tIns="0" rIns="0" bIns="0" rtlCol="0" anchor="t"/>
          <a:lstStyle/>
          <a:p>
            <a:pPr marL="0" indent="0" algn="ctr">
              <a:buNone/>
            </a:pPr>
            <a:r>
              <a:rPr lang="en-US" dirty="0">
                <a:solidFill>
                  <a:srgbClr val="3B3535"/>
                </a:solidFill>
                <a:latin typeface="Times New Roman" panose="02020603050405020304" pitchFamily="18" charset="0"/>
                <a:ea typeface="Sora Light" pitchFamily="34" charset="-122"/>
                <a:cs typeface="Times New Roman" panose="02020603050405020304" pitchFamily="18" charset="0"/>
              </a:rPr>
              <a:t>Đặt mục tiêu và bước cụ thể</a:t>
            </a:r>
            <a:endParaRPr lang="en-US" dirty="0">
              <a:latin typeface="Times New Roman" panose="02020603050405020304" pitchFamily="18" charset="0"/>
              <a:cs typeface="Times New Roman" panose="02020603050405020304" pitchFamily="18" charset="0"/>
            </a:endParaRPr>
          </a:p>
        </p:txBody>
      </p:sp>
      <p:sp>
        <p:nvSpPr>
          <p:cNvPr id="11" name="Rectangle 10">
            <a:extLst>
              <a:ext uri="{FF2B5EF4-FFF2-40B4-BE49-F238E27FC236}">
                <a16:creationId xmlns:a16="http://schemas.microsoft.com/office/drawing/2014/main" id="{5E58A413-B6CF-104E-933A-61D2B79B6361}"/>
              </a:ext>
            </a:extLst>
          </p:cNvPr>
          <p:cNvSpPr/>
          <p:nvPr/>
        </p:nvSpPr>
        <p:spPr>
          <a:xfrm>
            <a:off x="12711763" y="7767263"/>
            <a:ext cx="1918637" cy="346710"/>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AutoShape 10" descr="Những hình ảnh 'Cảm ơn đã lắng nghe' đẹp và ý nghĩa">
            <a:extLst>
              <a:ext uri="{FF2B5EF4-FFF2-40B4-BE49-F238E27FC236}">
                <a16:creationId xmlns:a16="http://schemas.microsoft.com/office/drawing/2014/main" id="{0AF5666B-B1AE-DC20-7137-0DE5F3CD3997}"/>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286" name="Picture 22" descr="Mẫu lời cảm ơn trong slide PowerPoint 2016, 2019, 2013, 2010, 2007">
            <a:extLst>
              <a:ext uri="{FF2B5EF4-FFF2-40B4-BE49-F238E27FC236}">
                <a16:creationId xmlns:a16="http://schemas.microsoft.com/office/drawing/2014/main" id="{826EF16C-F63C-5437-0048-8FD79B6E63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62" y="0"/>
            <a:ext cx="14805062" cy="97810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TotalTime>
  <Words>1300</Words>
  <Application>Microsoft Office PowerPoint</Application>
  <PresentationFormat>Custom</PresentationFormat>
  <Paragraphs>141</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nguyenducanh12a10@gmail.com</cp:lastModifiedBy>
  <cp:revision>4</cp:revision>
  <dcterms:created xsi:type="dcterms:W3CDTF">2026-01-29T14:09:44Z</dcterms:created>
  <dcterms:modified xsi:type="dcterms:W3CDTF">2026-01-29T14:38:28Z</dcterms:modified>
</cp:coreProperties>
</file>